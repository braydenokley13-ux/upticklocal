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creative lock for the Uptick Growth prospect film. 74 seconds, 16:9, no voiceover. Joe's Fuel &amp; Go is a demonstration business; every number is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Uptick Growth is the combination, not any one piece. Screens are a distribution and acquisition channel, not a prerequisite.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Creative thesis, not a tagline. The arc is 3 to 21: the same frame, the same position, two digits instead of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locked directions. Direction 1 is how Uptick thinks (warm editorial). Direction 2 is where Uptick acts (the Block). Mint is used in exactly eight moments; amber is always a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brand-level motion principles. One plane bezier cubic-bezier(.7,0,.2,1). One tempo, 76 bpm. Reused by film, scripted demo and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01 · THE GAP · 0:00–0:04 · 4s · DIRECTION 1 · GREEN
VISIBLE COPY: 3 · customers between 7 and 10 last Friday. · JOE'S FUEL &amp; GO · 118 MAIN ST · LAST FRIDAY · 07:00–10:00
ACTION: Empty canvas, mono header set. The numeral fades up from 0 over 600ms with no movement. The sentence typesets word by word (80ms per word). Hold 1.2s of silence. The 3 begins to shrink toward the top-right.
PURPOSE: A dead morning felt as one number, the owner's experience, not a chart. Mirrored exactly by scene 15.
SOUND: Room tone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02 · LOCAL REALITY · 0:04–0:09 · 5s · DIRECTION 2 (BLOCK) · YELLOW
TRANSITION IN (01→02): PERSISTS the 3; it shrinks to 30px mono and lands pinned to Joe's lot. TRANSFORMS the page into the ground: the canvas tilts to 58° and darkens to marine; the hairline rule becomes the street's far kerb. ENTERS: frontages draw in (stroke), interior light fades up inside the neighbours, doors open as warm marks, amber people walk in along the sidewalk. CAMERA: flat page to oblique site plan, single plane bezier, 900ms. SOUND: room tone widens to a street: two cars, a door. MEANING: the number is a place at a time.
VISIBLE COPY: Same street. Same morning. · MAIN ST · FRIDAY · 07:12 · CAFÉ 24 · PHARMACY 31 · HARDWARE 19 · JOE'S FUEL &amp; GO · 118 · 3
ACTION: People enter the café and pharmacy through their doors (2–3s path loops). Counts tick up as people cross a threshold. Joe's forecourt has one car mark and no interior light. Camera drifts 40px right across the shot, 6px parallax between plane and labels.
PURPOSE: Uneven demand on one street, felt as a place. Joe's is dark while the block is 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03 · INTENT · 0:09–0:13 · 4s · DIRECTION 1 · GREEN
TRANSITION IN (02→03): PERSISTS the label JOE'S FUEL &amp; GO · 118, which slides to the top-left mono slot and stays through scene 07. TRANSFORMS the plane back to flat and bright; frontages dissolve into the single hairline. EXITS people and counts (250ms). ENTERS the prompt WHAT DO YOU WANT TO IMPROVE? and a caret. CAMERA: the plane bezier reversed. SOUND: street cuts to interior quiet; one soft click as the caret lands. MEANING: the owner turns from the street to say what he sees.
VISIBLE COPY: Friday mornings are slow · WHAT DO YOU WANT TO IMPROVE? · THURSDAY · 6:41 PM · SAID IN THE OWNER'S OWN WORDS
ACTION: Caret alone, blinking twice (1.8s of stillness). Sentence types at ~70ms per character with two micro-pauses. Caret turns mint on the last character: the first mint in the film.
PURPOSE: The sentence is the interface. No field, no form, no campaign.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04 · INTERPRET · 0:13–0:19 · 6s · DIRECTION 1 · GREEN
TRANSITION IN (03→04): PERSISTS every glyph of the sentence; the words are re-set, never replaced. TRANSFORMS: Friday slides to the left column and a row of weeks draws to its right, every F filling mint (120ms stagger). mornings drops to the second row and a day ruler draws left→right (06:00–20:00); a mint bracket closes on 07–10. slow drops to the third row; amber visit ticks fall onto the ruler like sand, dense after 11:00, only three inside the bracket. The gap is left as negative space. are fades to 30%. CAMERA: static; the frame gains 60px of vertical scroll as rows arrive. SOUND: three pitched ticks, one per row, ascending; a dry patter as visit ticks land. MEANING: understanding made spatial. Time, interval, absence.
VISIBLE COPY: Friday → EVERY WEEK · mornings → 07:00–10:00 · slow → 3 VISITS · THE GAP · READING · NO FORM · NO CATEGORY · NO CAMPAIGN NAME
ACTION: Rows arrive top to bottom, 700ms apart. The bracket region dims to hatch once the ticks have landed. Hold 1.2s with the empty interval visible.
PURPOSE: Intelligence shown as reading, and the reading has a shape. The 3 visits are the same 3 from scene 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05 · CONTEXT · 0:19–0:22 · 3s · DIRECTION 1 · GREEN
TRANSITION IN (04→05): PERSISTS the 07–10 bracket, which shrinks into the header as a small ruler beside the sentence. TRANSFORMS the three interpretation rows into a 3×2 grid of business facts, each rising from the row it came from: people from mornings, economics and the fuel rule from slow, reach from Friday. Numbers count up on their baselines (700ms, integer snapping). CAMERA: static. SOUND: dry counter ticks, quieter than the row ticks; two held notes. MEANING: only the context this sentence needs comes forward.
VISIBLE COPY: 63 customers who tend to respond in the morning. · 41 worth bringing back. · $0.62 what a large coffee costs Joe. · 30 rewards, then it stops. · Fuel is never discounted. Joe's rule. · AVAILABLE REACH · Your customers · Your location · Nearby Uptick reach: 2 screens on this block / Not in this area yet
ACTION: Six pieces set; 500ms hold; pieces begin sliding to their plan rows.
PURPOSE: Uptick knows the business: who, what it costs, the owner's rule, and which channels genuinely exist. Nearby reach is a state, not an assumption (tweak on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06 · THE GROWTH PLAN · 0:22–0:28 · 6s · DIRECTION 1 · GREEN
TRANSITION IN (05→06): PERSISTS every number: 63 and 41 travel into AUDIENCE, 30 into LIMIT, Fuel into WHY, the reach ledger into REACH. TRANSFORMS $0.62 × 30 visibly into $18.60 in place. Rules slide into row positions; the grid becomes one sheet with a faint contact shadow, the only tactile object in Act I. ENTERS the title last, then the Approve block rising from the bottom margin. CAMERA: static. SOUND: paper-scale slides, one soft resolve chord when the title lands. MEANING: nothing new appears; the context becomes one decision.
VISIBLE COPY: Morning Coffee Drop · GOAL · OFFER · AUDIENCE · WINDOW · LIMIT · MAX REWARD COST $18.60 · REACH Your customers · Your location · Nearby Uptick reach · WHY · Approve plan · Change something
ACTION: Rows settle. Hold 2.5s so the sheet can be read. The Approve block compresses 4% for 120ms (no cursor), fills mint.
PURPOSE: One coherent recommendation. The owner did not build channels; he reads one plan. This is the GrowthPlan primitive the demo and app render verbatim.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07 · APPROVE · 0:28–0:30 · 2s · DIRECTION 1 · GREEN
TRANSITION IN (06→07): PERSISTS the Approve block, now the only object. TRANSFORMS: the camera pushes 3.4× onto the block as it fills mint; every row above it collapses down into it (scaleY→0, ease-in cubic, 500ms, staggered from the top) and stacks as thinning hairlines on its upper edge. EXITS the title and the sheet's shadow. CAMERA: fast push, ease-in-out 600ms. SOUND: one click. Then the mint pad begins. MEANING: one decision. The whole plan is now inside one object.
VISIBLE COPY: Approve plan · One action. · THURSDAY · 6:47 PM
ACTION: The block is held at full width for 800ms, then thins toward a 4px line as the frame darkens for scene 08.
PURPOSE: The only button in the film gets a whole shot. Scale variation for the middle act: from a sheet at reading distance to one object filling the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08 · DISTRIBUTE · 0:30–0:34 · 4s · DIRECTION 2 (BLOCK) · YELLOW
TRANSITION IN (07→08): PERSISTS the mint block, thinned to a 4px line. TRANSFORMS the canvas into the dusk block: darkens to marine, tilts to 58°; the line drops into Joe's lot along an SVG path (stroke-dashoffset, linear). It then branches only where a channel exists: dotted lines out past the block edge to amber points at home (customers, text); a short line to Joe's own pump and counter; where available, two lines to small mint surfaces set into the café and hardware frontages, which light up. ENTERS the reach ledger, flat and upright, left. CAMERA: flat page to oblique plan (plane bezier 900ms). SOUND: the held mint pad; street bed returns, dusk version. MEANING: a decision became a signal that entered the real world through every channel Joe actually has.
VISIBLE COPY: MORNING COFFEE DROP · ACTIVE · AVAILABLE REACH · YOUR CUSTOMERS 104 people who said yes to hearing from Joe's. TEXT · TONIGHT · YOUR LOCATION The code at the pump and the counter. · NEARBY UPTICK REACH Two counters on this block carry an Uptick screen. (alt: Not available in this area yet. THE PLAN RUNS WITHOUT IT) · THURSDAY · 6:48 PM
ACTION: Branches draw in sequence, 400ms each; ledger lines typeset as each completes. Camera begins a push toward one amber point at home.
PURPOSE: The plan moves through channels Joe has. Screens are drawn as an advantage, never a requirement; the no-screen state is a first-class version of this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09A · EXISTING RELATIONSHIP · 0:34–0:38 · 4s · FOCUSED DARK · GREEN
TRANSITION IN (08→09A): PERSISTS one amber point at home, off the block. TRANSFORMS: the camera pushes 1.6× on it; the point rises off the plane and springs upright into a message bubble (stiffness 140, damping 18); the block blurs to 14px at 22% behind it. ENTERS the faint device outline and MESSAGES header. SOUND: street to a kitchen at 6:48 PM; one ordinary text tone. MEANING: from many to one. A business reaches a person it already knows, at home, with a plain text.
VISIBLE COPY: JOE'S FUEL &amp; GO · Coffee's on us tomorrow morning. · $25+ fill-up · 7–10 AM · First 30 · Open offer · MESSAGES · THU 6:48 PM · EXISTING RELATIONSHIP · 1 OF 104 · REPLY STOP TO OPT OUT
ACTION: Body typesets in three beats. Hold 1.6s. The scene begins to slide left to make room for its twin.
PURPOSE: Path A: bring back. Small, specific, time-bound; a reason, not a discount.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09B · LOCAL ACQUISITION · 0:38–0:43 · 5s · DIRECTION 2 (BLOCK, STREET LEVEL) · YELLOW
TRANSITION IN (09A→09B): PERSISTS the block. TRANSFORMS: the camera drops from the oblique plan to street level and pushes into the café frontage: the plane's 58° tilt rotates to 0° and the lot's frontage line becomes the bottom edge of an elevation (awning, glass, door, counter silhouette, interior light). The small mint rectangle set into the frontage in scene 08 grows into an upright Uptick surface behind the counter, showing Joe's plan. ENTERS one amber person at the counter. CAMERA: 2.5D rotate + push, 900ms plane bezier. SOUND: café interior, a grinder, a cup. MEANING: the same plan, seen from inside a neighbour's business.
VISIBLE COPY: On screen: JOE'S FUEL &amp; GO · 2 DOORS DOWN · Coffee's on us Friday morning. · $25+ fill-up · 7–10 AM · First 30 · SCAN TO CLAIM · Frame: CAFÉ · 122 MAIN ST · UPTICK SCREEN · SOMEONE WHO HAS NEVER BEEN TO JOE'S · SCAN
ACTION: The person's point brightens; a thin mint scan line connects them to the code (300ms). The screen content lifts off the surface and collapses forward into the Offer slab (scene 10). Hold on the frontage 1.2s before the scan.
PURPOSE: Path B: create a new relationship. Anonymous nearby attention becomes a Joe's customer. The whole moment is five seconds and never becomes a signage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10 · CONNECT · 0:43–0:46 · 3s · FOCUSED DARK · GREEN
TRANSITION IN (09B→10): PERSISTS the words Coffee's on us (shared text element from both the text and the screen). TRANSFORMS: the screen content from 09B collapses forward from the right; the Open offer link from 09A expands from the left; both interpolate to the same bounds, radius and warm surface, arriving as ONE Offer slab in the centre. Two hairlines trail behind them and fade. EXITS the frontage and the thread. CAMERA: static; the objects do the scale change. SOUND: a soft paper unfold; the two arrival tones are the same note. MEANING: two ways in, one relationship. Text and screen are not two products.
VISIBLE COPY: JOE'S FUEL &amp; GO · 118 MAIN ST · Coffee's on us. · A free large coffee with any $25+ fill-up. · WHEN Friday · 7–10 AM · HOW MANY First 30 · FUEL Regular, premium, diesel · Save my pass · Hear from Joe's again? Yes · TEXT · EXISTING CUSTOMER · NEARBY SCREEN · NEW · NO APP · NO ACCOUNT
ACTION: Slab settles; facts typeset top to bottom; the permission line appears last and its Yes fills mint. Save my pass presses (4%).
PURPOSE: Claim + permission. For the new person, this is where anonymous attention becomes a permissioned relationship. For the existing customer, it is one tap. Both leave with the same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11 · CONVERSE · 0:46–0:49 · 3s · FOCUSED DARK · GREEN
TRANSITION IN (10→11): PERSISTS the phone outline and the blurred block. TRANSFORMS the Offer slab back down into the small history bubble at the top of a thread (layout spring 110/20); the surface drains from warm to thread-dark. ENTERS a typing indicator (600ms), then the customer's bubble from the right in italic serif. CAMERA: static. SOUND: a send swoosh at ordinary volume. Then nothing. MEANING: a relationship is two-way, and this is the moment the viewer expects the owner to be pulled in.
VISIBLE COPY: Does diesel count? · THURSDAY · 6:52 PM · JOE IS NOT ASKED.
ACTION: The question lands. 900ms of complete stillness: no indicator, no motion, no sound. The longest held silence of the middle act.
PURPOSE: Stillness before the signature shot. The customer's voice is the only serif in the film.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12 · PROVENANCE · 0:49–0:53 · 4s · FOCUSED DARK + DIRECTION 1 OBJECT · YELLOW (signature)
TRANSITION IN (11→12): PERSISTS the question bubble, the phone outline. TRANSFORMS: the Growth Plan sheet from scene 06 rises into the depth of the frame behind the thread, receded and turned 18° in perspective, at 35% opacity: the whole approved plan is visibly present. One row, FUEL · Regular · Premium · Diesel, lifts off the sheet to full opacity and scale, travels along a mint hairline toward the thread, and its words re-set into the answer bubble (shared glyphs: Regular, premium, diesel). The sheet sinks back. ENTERS the provenance line under the answer. CAMERA: a slow 1.08× drift toward the answer. SOUND: the mint tone, held soft, then the answer lands on a clean tick. MEANING: Uptick did not invent the answer. Automatic when grounded; human when uncertain.
VISIBLE COPY: Does diesel count? · FUEL Regular · Premium · Diesel · Yes — regular, premium, and diesel fill-ups qualify. · ANSWERED FROM JOE'S APPROVED OFFER DETAILS · NOT IN THE APPROVED DETAILS → GOES TO JOE
ACTION: Sheet rises (600ms), row lifts (400ms), travel (500ms), answer typesets in one motion, provenance line 300ms later. Hold 1.2s.
PURPOSE: The signature shot. Intelligence without the word, and the viewer sees where the answer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13 · VISIT / REDEEM · 0:53–0:56 · 3s · FOCUSED DARK + BLOCK (JOE'S COUNTER) · GREEN
TRANSITION IN (12→13): PERSISTS the slab (the Offer becomes the Pass: the Save my pass action travels to the top and becomes the ink status band). TRANSFORMS: the header clock carries the time jump, THU 6:52 PM → FRI 7:41 AM, no dissolve. Behind the phone, Joe's own frontage fades in at street level: canopy line, glass, counter silhouette, interior light on for the first time. Then a mint plane sweeps top→bottom (clip-path inset, 600ms) for redemption. CAMERA: static. SOUND: kitchen to forecourt: morning air, a nozzle click; redemption is one clean resolved tone, the clearest note in the film. MEANING: a digital state became a real action at a real counter.
VISIBLE COPY: Pass: Free large coffee · Show this screen to staff. · PASS JF·0417. Redeemed (shown): Redeemed. · One large coffee. Enjoy the morning. · PASS JF·0417 · CONFIRMED BY STAFF · FRIDAY · 7:42 AM · JOE'S COUNTER
ACTION: Pass 1.2s, sweep 600ms, redeemed hold 1s. The slab compresses toward a single mint point.
PURPOSE: An in-store action was recorded, at Joe's, in the morning that used to be empty. Staff-confirm is the plausible v1 mechanic.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14 · RETURN · 0:56–1:02 · 6s · DIRECTION 2 (BLOCK, MORNING) · YELLOW
TRANSITION IN (13→14): PERSISTS the mint: the slab compresses to a mint point, the redemption event. TRANSFORMS: the point drops back onto the plane and passes through Joe's door opening, turning amber on the threshold: the event becomes a person inside the building. Joe's frontage now carries interior light like its neighbours. The camera pulls back 1.6× to the full block, morning version (brighter marine, longer sidewalk highlights). ENTERS the running count on the left in the frame-01 position; +1 flashes mint at the door on each arrival. CAMERA: pull back, mirror of 08→09A. SOUND: tone decays into the street bed; a soft wooden tap per arrival; the pulse adds a third voice. MEANING: digital → physical, made as one dot crossing one threshold.
VISIBLE COPY: 9 (steps 1 · 4 · 9 · 14 · 21) · back so far. · +1 · MAIN ST · FRIDAY · 08:31 · MORNING COFFEE DROP · LIVE · FROM TEXT · FROM NEARBY SCREEN
ACTION: People walk in from both ends of the street and from the café side; each passes through the door. Count steps 1 → 4 → 9 → 14 → 21 at accelerating intervals (1.6s, 1.4s, 1.2s, 1.0s). Header clock advances 07:0x → 09:5x.
PURPOSE: People physically back in the building. Two small source marks keep the dual path honest without becoming a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15 · PROOF · 1:02–1:07 · 5s · DIRECTION 1 · GREEN
TRANSITION IN (14→15): PERSISTS the 21: it grows from 520px to 840px and moves into the exact position of the opening 3. TRANSFORMS the plane back to flat and bright; the ground becomes the page again, exact inverse of 01→02. Amber people fade last. EXITS block, labels, +1. ENTERS customers came back. word by word, then one quiet line. CAMERA: plane bezier, 1.4s. SOUND: forecourt fades under; the music resolves to the root chord and holds. MEANING: proof in the same frame the problem was stated.
VISIBLE COPY: 21 · customers came back. · 7 of them had never been to Joe's. · JOE'S FUEL &amp; GO · 118 MAIN ST · THIS FRIDAY · 07:00–10:00 · ILLUSTRATIVE · EXAMPLE BUSINESS
ACTION: 21 lands; sentence typesets; the second line fades in 800ms later. Hold 2.5s.
PURPOSE: Did it work? Yes: 21. The funnel (sent / claimed / redeemed) is gone from the film and lives in the interactive demo. The only secondary fact is the one that proves the second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16 · BURDEN REMOVED · 1:07–1:10 · 3s · DIRECTION 1 · GREEN
TRANSITION IN (15→16): PERSISTS header, hairline, canvas. TRANSFORMS: 21 exits upward through the top edge (clip); 38 enters from below on the same baseline at half size, like a counter drum. ENTERS conversations handled and 2 needed you. CAMERA: static. SOUND: one quiet drum tick; music down to a single voice. MEANING: the second proof: it did not cost the owner his time.
VISIBLE COPY: 38 customer questions answered. · 2 needed you. · THIS WEEK · MESSAGES · CAN I SWAP THE COFFEE FOR A RED BULL? → JOE: NO · 4 SECONDS
ACTION: 38 lands; 2 counts from 0 a beat later. Hold 1.6s. Everything fades to canvas except the hairline.
PURPOSE: Most routine questions handled from approved details; only exceptions reach Joe. If the film runs long, this frame becomes one line under scene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17 · RESOLVE · 1:10–1:14 · 4s · DIRECTION 1 · GREEN
TRANSITION IN (16→17): PERSISTS canvas and hairline; the hairline shortens to the 56px mint rule. TRANSFORMS: the final line types in with the same caret, speed and size class as the owner's sentence in scene 03; the caret ends as a mint dot. ENTERS Uptick Growth and the URL, small. CAMERA: static. Final hold 2s. SOUND: keystrokes, then the root note alone, decaying to room tone. End on silence, not a hit. MEANING: the interface was a sentence; the invitation is the same sentence, addressed to the viewer.
VISIBLE COPY: Tell Uptick what you want more of. · Uptick Growth · UPTICKLOCAL.COM/GROWTH · JOE'S FUEL &amp; GO IS A PRODUCT DEMONSTRATION. RESULTS SHOWN ARE ILLUSTRATIVE.
ACTION: Empty canvas with the short mint rule. Caret blinks once. Sentence types. Hold 2s. Cut to black, the only hard cut in the film.
PURPOSE: Broad enough for slow periods, win-back, new products, events, open appointments, local acquisition. Owner's language. It literally names the film: three became twenty-one.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Transitions are the product system. Every cut is a transformation of a persistent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II transitions: the street, two paths, the signature provenance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III transitions: return, count, resolve.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Uptick is not simply AI. Intelligence helps orchestrate a system of reach, connection, activation, conversation and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scripted now, what is real UI in the film, and the order in which things become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RED scenes. Two custom systems: the Block (one component, five prop states) and the provenance sequence (shared-element text from a receded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candidates generated against the finished movie. Top five ranked. One chosen. 'Tell Uptick what's slow' was retired because it defines the product too narrowly.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movie frame,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762000" y="571500"/>
            <a:ext cx="5476813" cy="335756"/>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17201F">
                    <a:alpha val="50000"/>
                  </a:srgbClr>
                </a:solidFill>
                <a:latin typeface="Courier New" pitchFamily="34" charset="0"/>
                <a:ea typeface="Courier New" pitchFamily="34" charset="-122"/>
                <a:cs typeface="Courier New" pitchFamily="34" charset="-120"/>
              </a:rPr>
              <a:t>FINAL CREATIVE LOCK · REVIEW DECK</a:t>
            </a:r>
            <a:endParaRPr lang="en-US" sz="1800" dirty="0"/>
          </a:p>
        </p:txBody>
      </p:sp>
      <p:sp>
        <p:nvSpPr>
          <p:cNvPr id="3" name="Text 1"/>
          <p:cNvSpPr/>
          <p:nvPr/>
        </p:nvSpPr>
        <p:spPr>
          <a:xfrm>
            <a:off x="12697953" y="571500"/>
            <a:ext cx="5310851" cy="335756"/>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17201F">
                    <a:alpha val="50000"/>
                  </a:srgbClr>
                </a:solidFill>
                <a:latin typeface="Courier New" pitchFamily="34" charset="0"/>
                <a:ea typeface="Courier New" pitchFamily="34" charset="-122"/>
                <a:cs typeface="Courier New" pitchFamily="34" charset="-120"/>
              </a:rPr>
              <a:t>74 SECONDS · 16:9 · NO VOICEOVER</a:t>
            </a:r>
            <a:endParaRPr lang="en-US" sz="1800" dirty="0"/>
          </a:p>
        </p:txBody>
      </p:sp>
      <p:sp>
        <p:nvSpPr>
          <p:cNvPr id="4" name="Shape 2"/>
          <p:cNvSpPr/>
          <p:nvPr/>
        </p:nvSpPr>
        <p:spPr>
          <a:xfrm>
            <a:off x="762000" y="1181075"/>
            <a:ext cx="16764000" cy="19038"/>
          </a:xfrm>
          <a:prstGeom prst="rect">
            <a:avLst/>
          </a:prstGeom>
          <a:solidFill>
            <a:srgbClr val="17201F">
              <a:alpha val="14000"/>
            </a:srgbClr>
          </a:solidFill>
          <a:ln/>
        </p:spPr>
      </p:sp>
      <p:sp>
        <p:nvSpPr>
          <p:cNvPr id="5" name="Text 3"/>
          <p:cNvSpPr/>
          <p:nvPr/>
        </p:nvSpPr>
        <p:spPr>
          <a:xfrm>
            <a:off x="685788" y="3619500"/>
            <a:ext cx="7300552" cy="952525"/>
          </a:xfrm>
          <a:prstGeom prst="rect">
            <a:avLst/>
          </a:prstGeom>
          <a:noFill/>
          <a:ln/>
        </p:spPr>
        <p:txBody>
          <a:bodyPr wrap="square" lIns="25400" tIns="25400" rIns="25400" bIns="25400" rtlCol="0" anchor="t">
            <a:normAutofit/>
          </a:bodyPr>
          <a:lstStyle/>
          <a:p>
            <a:pPr algn="l" indent="0" marL="0">
              <a:lnSpc>
                <a:spcPct val="86617"/>
              </a:lnSpc>
              <a:buNone/>
            </a:pPr>
            <a:r>
              <a:rPr lang="en-US" sz="7200" spc="-288" kern="0" dirty="0">
                <a:solidFill>
                  <a:srgbClr val="17201F"/>
                </a:solidFill>
                <a:latin typeface="Arial" pitchFamily="34" charset="0"/>
                <a:ea typeface="Arial" pitchFamily="34" charset="-122"/>
                <a:cs typeface="Arial" pitchFamily="34" charset="-120"/>
              </a:rPr>
              <a:t>Uptick Growth</a:t>
            </a:r>
            <a:endParaRPr lang="en-US" sz="7200" dirty="0"/>
          </a:p>
        </p:txBody>
      </p:sp>
      <p:sp>
        <p:nvSpPr>
          <p:cNvPr id="6" name="Text 4"/>
          <p:cNvSpPr/>
          <p:nvPr/>
        </p:nvSpPr>
        <p:spPr>
          <a:xfrm>
            <a:off x="685788" y="4800575"/>
            <a:ext cx="7300552" cy="952525"/>
          </a:xfrm>
          <a:prstGeom prst="rect">
            <a:avLst/>
          </a:prstGeom>
          <a:noFill/>
          <a:ln/>
        </p:spPr>
        <p:txBody>
          <a:bodyPr wrap="square" lIns="25400" tIns="25400" rIns="25400" bIns="25400" rtlCol="0" anchor="t">
            <a:normAutofit/>
          </a:bodyPr>
          <a:lstStyle/>
          <a:p>
            <a:pPr algn="l" indent="0" marL="0">
              <a:lnSpc>
                <a:spcPct val="86617"/>
              </a:lnSpc>
              <a:buNone/>
            </a:pPr>
            <a:r>
              <a:rPr lang="en-US" sz="7200" spc="-288" kern="0" dirty="0">
                <a:solidFill>
                  <a:srgbClr val="17201F">
                    <a:alpha val="55000"/>
                  </a:srgbClr>
                </a:solidFill>
                <a:latin typeface="Arial" pitchFamily="34" charset="0"/>
                <a:ea typeface="Arial" pitchFamily="34" charset="-122"/>
                <a:cs typeface="Arial" pitchFamily="34" charset="-120"/>
              </a:rPr>
              <a:t>Final film direction</a:t>
            </a:r>
            <a:endParaRPr lang="en-US" sz="7200" dirty="0"/>
          </a:p>
        </p:txBody>
      </p:sp>
      <p:sp>
        <p:nvSpPr>
          <p:cNvPr id="7" name="Shape 5"/>
          <p:cNvSpPr/>
          <p:nvPr/>
        </p:nvSpPr>
        <p:spPr>
          <a:xfrm>
            <a:off x="685788" y="6172150"/>
            <a:ext cx="533363" cy="38075"/>
          </a:xfrm>
          <a:prstGeom prst="rect">
            <a:avLst/>
          </a:prstGeom>
          <a:solidFill>
            <a:srgbClr val="5FD6BB"/>
          </a:solidFill>
          <a:ln/>
        </p:spPr>
      </p:sp>
      <p:sp>
        <p:nvSpPr>
          <p:cNvPr id="8" name="Text 6"/>
          <p:cNvSpPr/>
          <p:nvPr/>
        </p:nvSpPr>
        <p:spPr>
          <a:xfrm>
            <a:off x="762000" y="9289293"/>
            <a:ext cx="11562153"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17201F">
                    <a:alpha val="45000"/>
                  </a:srgbClr>
                </a:solidFill>
                <a:latin typeface="Courier New" pitchFamily="34" charset="0"/>
                <a:ea typeface="Courier New" pitchFamily="34" charset="-122"/>
                <a:cs typeface="Courier New" pitchFamily="34" charset="-120"/>
              </a:rPr>
              <a:t>JOE'S FUEL &amp; GO IS A DEMONSTRATION BUSINESS. ALL DATA SHOWN IS ILLUSTRATIVE.</a:t>
            </a: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762000" y="571500"/>
            <a:ext cx="3817193" cy="335756"/>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17201F">
                    <a:alpha val="50000"/>
                  </a:srgbClr>
                </a:solidFill>
                <a:latin typeface="Courier New" pitchFamily="34" charset="0"/>
                <a:ea typeface="Courier New" pitchFamily="34" charset="-122"/>
                <a:cs typeface="Courier New" pitchFamily="34" charset="-120"/>
              </a:rPr>
              <a:t>THE PRODUCT IN ONE VIEW</a:t>
            </a:r>
            <a:endParaRPr lang="en-US" sz="1800" dirty="0"/>
          </a:p>
        </p:txBody>
      </p:sp>
      <p:sp>
        <p:nvSpPr>
          <p:cNvPr id="3" name="Shape 1"/>
          <p:cNvSpPr/>
          <p:nvPr/>
        </p:nvSpPr>
        <p:spPr>
          <a:xfrm>
            <a:off x="762000" y="1181075"/>
            <a:ext cx="16764000" cy="19038"/>
          </a:xfrm>
          <a:prstGeom prst="rect">
            <a:avLst/>
          </a:prstGeom>
          <a:solidFill>
            <a:srgbClr val="17201F">
              <a:alpha val="14000"/>
            </a:srgbClr>
          </a:solidFill>
          <a:ln/>
        </p:spPr>
      </p:sp>
      <p:sp>
        <p:nvSpPr>
          <p:cNvPr id="4" name="Shape 2"/>
          <p:cNvSpPr/>
          <p:nvPr/>
        </p:nvSpPr>
        <p:spPr>
          <a:xfrm>
            <a:off x="762000" y="2762250"/>
            <a:ext cx="3048000" cy="15875"/>
          </a:xfrm>
          <a:prstGeom prst="rect">
            <a:avLst/>
          </a:prstGeom>
          <a:solidFill>
            <a:srgbClr val="5FD6BB"/>
          </a:solidFill>
          <a:ln/>
        </p:spPr>
      </p:sp>
      <p:sp>
        <p:nvSpPr>
          <p:cNvPr id="5" name="Text 3"/>
          <p:cNvSpPr/>
          <p:nvPr/>
        </p:nvSpPr>
        <p:spPr>
          <a:xfrm>
            <a:off x="762000" y="3063875"/>
            <a:ext cx="3352800" cy="647675"/>
          </a:xfrm>
          <a:prstGeom prst="rect">
            <a:avLst/>
          </a:prstGeom>
          <a:noFill/>
          <a:ln/>
        </p:spPr>
        <p:txBody>
          <a:bodyPr wrap="square" lIns="25400" tIns="25400" rIns="25400" bIns="25400" rtlCol="0" anchor="t">
            <a:normAutofit/>
          </a:bodyPr>
          <a:lstStyle/>
          <a:p>
            <a:pPr algn="l" indent="0" marL="0">
              <a:lnSpc>
                <a:spcPct val="86780"/>
              </a:lnSpc>
              <a:buNone/>
            </a:pPr>
            <a:r>
              <a:rPr lang="en-US" sz="4800" spc="-168" kern="0" dirty="0">
                <a:solidFill>
                  <a:srgbClr val="17201F"/>
                </a:solidFill>
                <a:latin typeface="Arial" pitchFamily="34" charset="0"/>
                <a:ea typeface="Arial" pitchFamily="34" charset="-122"/>
                <a:cs typeface="Arial" pitchFamily="34" charset="-120"/>
              </a:rPr>
              <a:t>Reach</a:t>
            </a:r>
            <a:endParaRPr lang="en-US" sz="4800" dirty="0"/>
          </a:p>
        </p:txBody>
      </p:sp>
      <p:sp>
        <p:nvSpPr>
          <p:cNvPr id="6" name="Text 4"/>
          <p:cNvSpPr/>
          <p:nvPr/>
        </p:nvSpPr>
        <p:spPr>
          <a:xfrm>
            <a:off x="762000" y="3844850"/>
            <a:ext cx="3139440" cy="1078223"/>
          </a:xfrm>
          <a:prstGeom prst="rect">
            <a:avLst/>
          </a:prstGeom>
          <a:noFill/>
          <a:ln/>
        </p:spPr>
        <p:txBody>
          <a:bodyPr wrap="square" lIns="25400" tIns="25400" rIns="25400" bIns="25400" rtlCol="0" anchor="t">
            <a:normAutofit/>
          </a:bodyPr>
          <a:lstStyle/>
          <a:p>
            <a:pPr algn="l" indent="0" marL="0">
              <a:lnSpc>
                <a:spcPct val="123042"/>
              </a:lnSpc>
              <a:buNone/>
            </a:pPr>
            <a:r>
              <a:rPr lang="en-US" sz="1950" dirty="0">
                <a:solidFill>
                  <a:srgbClr val="17201F">
                    <a:alpha val="70000"/>
                  </a:srgbClr>
                </a:solidFill>
                <a:latin typeface="Arial" pitchFamily="34" charset="0"/>
                <a:ea typeface="Arial" pitchFamily="34" charset="-122"/>
                <a:cs typeface="Arial" pitchFamily="34" charset="-120"/>
              </a:rPr>
              <a:t>Reach local people through the channels a business actually has.</a:t>
            </a:r>
            <a:endParaRPr lang="en-US" sz="1950" dirty="0"/>
          </a:p>
        </p:txBody>
      </p:sp>
      <p:sp>
        <p:nvSpPr>
          <p:cNvPr id="7" name="Shape 5"/>
          <p:cNvSpPr/>
          <p:nvPr/>
        </p:nvSpPr>
        <p:spPr>
          <a:xfrm>
            <a:off x="4191000" y="2762250"/>
            <a:ext cx="3048000" cy="15875"/>
          </a:xfrm>
          <a:prstGeom prst="rect">
            <a:avLst/>
          </a:prstGeom>
          <a:solidFill>
            <a:srgbClr val="5FD6BB"/>
          </a:solidFill>
          <a:ln/>
        </p:spPr>
      </p:sp>
      <p:sp>
        <p:nvSpPr>
          <p:cNvPr id="8" name="Text 6"/>
          <p:cNvSpPr/>
          <p:nvPr/>
        </p:nvSpPr>
        <p:spPr>
          <a:xfrm>
            <a:off x="4191000" y="3063875"/>
            <a:ext cx="3352800" cy="647675"/>
          </a:xfrm>
          <a:prstGeom prst="rect">
            <a:avLst/>
          </a:prstGeom>
          <a:noFill/>
          <a:ln/>
        </p:spPr>
        <p:txBody>
          <a:bodyPr wrap="square" lIns="25400" tIns="25400" rIns="25400" bIns="25400" rtlCol="0" anchor="t">
            <a:normAutofit/>
          </a:bodyPr>
          <a:lstStyle/>
          <a:p>
            <a:pPr algn="l" indent="0" marL="0">
              <a:lnSpc>
                <a:spcPct val="86780"/>
              </a:lnSpc>
              <a:buNone/>
            </a:pPr>
            <a:r>
              <a:rPr lang="en-US" sz="4800" spc="-168" kern="0" dirty="0">
                <a:solidFill>
                  <a:srgbClr val="17201F"/>
                </a:solidFill>
                <a:latin typeface="Arial" pitchFamily="34" charset="0"/>
                <a:ea typeface="Arial" pitchFamily="34" charset="-122"/>
                <a:cs typeface="Arial" pitchFamily="34" charset="-120"/>
              </a:rPr>
              <a:t>Connect</a:t>
            </a:r>
            <a:endParaRPr lang="en-US" sz="4800" dirty="0"/>
          </a:p>
        </p:txBody>
      </p:sp>
      <p:sp>
        <p:nvSpPr>
          <p:cNvPr id="9" name="Text 7"/>
          <p:cNvSpPr/>
          <p:nvPr/>
        </p:nvSpPr>
        <p:spPr>
          <a:xfrm>
            <a:off x="4191000" y="3844850"/>
            <a:ext cx="3139440" cy="731515"/>
          </a:xfrm>
          <a:prstGeom prst="rect">
            <a:avLst/>
          </a:prstGeom>
          <a:noFill/>
          <a:ln/>
        </p:spPr>
        <p:txBody>
          <a:bodyPr wrap="square" lIns="25400" tIns="25400" rIns="25400" bIns="25400" rtlCol="0" anchor="t">
            <a:normAutofit/>
          </a:bodyPr>
          <a:lstStyle/>
          <a:p>
            <a:pPr algn="l" indent="0" marL="0">
              <a:lnSpc>
                <a:spcPct val="123042"/>
              </a:lnSpc>
              <a:buNone/>
            </a:pPr>
            <a:r>
              <a:rPr lang="en-US" sz="1950" dirty="0">
                <a:solidFill>
                  <a:srgbClr val="17201F">
                    <a:alpha val="70000"/>
                  </a:srgbClr>
                </a:solidFill>
                <a:latin typeface="Arial" pitchFamily="34" charset="0"/>
                <a:ea typeface="Arial" pitchFamily="34" charset="-122"/>
                <a:cs typeface="Arial" pitchFamily="34" charset="-120"/>
              </a:rPr>
              <a:t>Turn attention into a permissioned relationship.</a:t>
            </a:r>
            <a:endParaRPr lang="en-US" sz="1950" dirty="0"/>
          </a:p>
        </p:txBody>
      </p:sp>
      <p:sp>
        <p:nvSpPr>
          <p:cNvPr id="10" name="Shape 8"/>
          <p:cNvSpPr/>
          <p:nvPr/>
        </p:nvSpPr>
        <p:spPr>
          <a:xfrm>
            <a:off x="7620000" y="2762250"/>
            <a:ext cx="3048000" cy="15875"/>
          </a:xfrm>
          <a:prstGeom prst="rect">
            <a:avLst/>
          </a:prstGeom>
          <a:solidFill>
            <a:srgbClr val="5FD6BB"/>
          </a:solidFill>
          <a:ln/>
        </p:spPr>
      </p:sp>
      <p:sp>
        <p:nvSpPr>
          <p:cNvPr id="11" name="Text 9"/>
          <p:cNvSpPr/>
          <p:nvPr/>
        </p:nvSpPr>
        <p:spPr>
          <a:xfrm>
            <a:off x="7620000" y="3063875"/>
            <a:ext cx="3352800" cy="647675"/>
          </a:xfrm>
          <a:prstGeom prst="rect">
            <a:avLst/>
          </a:prstGeom>
          <a:noFill/>
          <a:ln/>
        </p:spPr>
        <p:txBody>
          <a:bodyPr wrap="square" lIns="25400" tIns="25400" rIns="25400" bIns="25400" rtlCol="0" anchor="t">
            <a:normAutofit/>
          </a:bodyPr>
          <a:lstStyle/>
          <a:p>
            <a:pPr algn="l" indent="0" marL="0">
              <a:lnSpc>
                <a:spcPct val="86780"/>
              </a:lnSpc>
              <a:buNone/>
            </a:pPr>
            <a:r>
              <a:rPr lang="en-US" sz="4800" spc="-168" kern="0" dirty="0">
                <a:solidFill>
                  <a:srgbClr val="17201F"/>
                </a:solidFill>
                <a:latin typeface="Arial" pitchFamily="34" charset="0"/>
                <a:ea typeface="Arial" pitchFamily="34" charset="-122"/>
                <a:cs typeface="Arial" pitchFamily="34" charset="-120"/>
              </a:rPr>
              <a:t>Activate</a:t>
            </a:r>
            <a:endParaRPr lang="en-US" sz="4800" dirty="0"/>
          </a:p>
        </p:txBody>
      </p:sp>
      <p:sp>
        <p:nvSpPr>
          <p:cNvPr id="12" name="Text 10"/>
          <p:cNvSpPr/>
          <p:nvPr/>
        </p:nvSpPr>
        <p:spPr>
          <a:xfrm>
            <a:off x="7620000" y="3844850"/>
            <a:ext cx="3139440" cy="731515"/>
          </a:xfrm>
          <a:prstGeom prst="rect">
            <a:avLst/>
          </a:prstGeom>
          <a:noFill/>
          <a:ln/>
        </p:spPr>
        <p:txBody>
          <a:bodyPr wrap="square" lIns="25400" tIns="25400" rIns="25400" bIns="25400" rtlCol="0" anchor="t">
            <a:normAutofit/>
          </a:bodyPr>
          <a:lstStyle/>
          <a:p>
            <a:pPr algn="l" indent="0" marL="0">
              <a:lnSpc>
                <a:spcPct val="123042"/>
              </a:lnSpc>
              <a:buNone/>
            </a:pPr>
            <a:r>
              <a:rPr lang="en-US" sz="1950" dirty="0">
                <a:solidFill>
                  <a:srgbClr val="17201F">
                    <a:alpha val="70000"/>
                  </a:srgbClr>
                </a:solidFill>
                <a:latin typeface="Arial" pitchFamily="34" charset="0"/>
                <a:ea typeface="Arial" pitchFamily="34" charset="-122"/>
                <a:cs typeface="Arial" pitchFamily="34" charset="-120"/>
              </a:rPr>
              <a:t>Give someone a relevant reason to visit or return.</a:t>
            </a:r>
            <a:endParaRPr lang="en-US" sz="1950" dirty="0"/>
          </a:p>
        </p:txBody>
      </p:sp>
      <p:sp>
        <p:nvSpPr>
          <p:cNvPr id="13" name="Shape 11"/>
          <p:cNvSpPr/>
          <p:nvPr/>
        </p:nvSpPr>
        <p:spPr>
          <a:xfrm>
            <a:off x="11049000" y="2762250"/>
            <a:ext cx="3048000" cy="15875"/>
          </a:xfrm>
          <a:prstGeom prst="rect">
            <a:avLst/>
          </a:prstGeom>
          <a:solidFill>
            <a:srgbClr val="5FD6BB"/>
          </a:solidFill>
          <a:ln/>
        </p:spPr>
      </p:sp>
      <p:sp>
        <p:nvSpPr>
          <p:cNvPr id="14" name="Text 12"/>
          <p:cNvSpPr/>
          <p:nvPr/>
        </p:nvSpPr>
        <p:spPr>
          <a:xfrm>
            <a:off x="11049000" y="3063875"/>
            <a:ext cx="3352800" cy="647675"/>
          </a:xfrm>
          <a:prstGeom prst="rect">
            <a:avLst/>
          </a:prstGeom>
          <a:noFill/>
          <a:ln/>
        </p:spPr>
        <p:txBody>
          <a:bodyPr wrap="square" lIns="25400" tIns="25400" rIns="25400" bIns="25400" rtlCol="0" anchor="t">
            <a:normAutofit/>
          </a:bodyPr>
          <a:lstStyle/>
          <a:p>
            <a:pPr algn="l" indent="0" marL="0">
              <a:lnSpc>
                <a:spcPct val="86780"/>
              </a:lnSpc>
              <a:buNone/>
            </a:pPr>
            <a:r>
              <a:rPr lang="en-US" sz="4800" spc="-168" kern="0" dirty="0">
                <a:solidFill>
                  <a:srgbClr val="17201F"/>
                </a:solidFill>
                <a:latin typeface="Arial" pitchFamily="34" charset="0"/>
                <a:ea typeface="Arial" pitchFamily="34" charset="-122"/>
                <a:cs typeface="Arial" pitchFamily="34" charset="-120"/>
              </a:rPr>
              <a:t>Converse</a:t>
            </a:r>
            <a:endParaRPr lang="en-US" sz="4800" dirty="0"/>
          </a:p>
        </p:txBody>
      </p:sp>
      <p:sp>
        <p:nvSpPr>
          <p:cNvPr id="15" name="Text 13"/>
          <p:cNvSpPr/>
          <p:nvPr/>
        </p:nvSpPr>
        <p:spPr>
          <a:xfrm>
            <a:off x="11049000" y="3844850"/>
            <a:ext cx="3139440" cy="1078223"/>
          </a:xfrm>
          <a:prstGeom prst="rect">
            <a:avLst/>
          </a:prstGeom>
          <a:noFill/>
          <a:ln/>
        </p:spPr>
        <p:txBody>
          <a:bodyPr wrap="square" lIns="25400" tIns="25400" rIns="25400" bIns="25400" rtlCol="0" anchor="t">
            <a:normAutofit/>
          </a:bodyPr>
          <a:lstStyle/>
          <a:p>
            <a:pPr algn="l" indent="0" marL="0">
              <a:lnSpc>
                <a:spcPct val="123042"/>
              </a:lnSpc>
              <a:buNone/>
            </a:pPr>
            <a:r>
              <a:rPr lang="en-US" sz="1950" dirty="0">
                <a:solidFill>
                  <a:srgbClr val="17201F">
                    <a:alpha val="70000"/>
                  </a:srgbClr>
                </a:solidFill>
                <a:latin typeface="Arial" pitchFamily="34" charset="0"/>
                <a:ea typeface="Arial" pitchFamily="34" charset="-122"/>
                <a:cs typeface="Arial" pitchFamily="34" charset="-120"/>
              </a:rPr>
              <a:t>Keep the relationship useful and easy, both ways.</a:t>
            </a:r>
            <a:endParaRPr lang="en-US" sz="1950" dirty="0"/>
          </a:p>
        </p:txBody>
      </p:sp>
      <p:sp>
        <p:nvSpPr>
          <p:cNvPr id="16" name="Shape 14"/>
          <p:cNvSpPr/>
          <p:nvPr/>
        </p:nvSpPr>
        <p:spPr>
          <a:xfrm>
            <a:off x="14478000" y="2762250"/>
            <a:ext cx="3048000" cy="15875"/>
          </a:xfrm>
          <a:prstGeom prst="rect">
            <a:avLst/>
          </a:prstGeom>
          <a:solidFill>
            <a:srgbClr val="5FD6BB"/>
          </a:solidFill>
          <a:ln/>
        </p:spPr>
      </p:sp>
      <p:sp>
        <p:nvSpPr>
          <p:cNvPr id="17" name="Text 15"/>
          <p:cNvSpPr/>
          <p:nvPr/>
        </p:nvSpPr>
        <p:spPr>
          <a:xfrm>
            <a:off x="14478000" y="3063875"/>
            <a:ext cx="3352800" cy="647675"/>
          </a:xfrm>
          <a:prstGeom prst="rect">
            <a:avLst/>
          </a:prstGeom>
          <a:noFill/>
          <a:ln/>
        </p:spPr>
        <p:txBody>
          <a:bodyPr wrap="square" lIns="25400" tIns="25400" rIns="25400" bIns="25400" rtlCol="0" anchor="t">
            <a:normAutofit/>
          </a:bodyPr>
          <a:lstStyle/>
          <a:p>
            <a:pPr algn="l" indent="0" marL="0">
              <a:lnSpc>
                <a:spcPct val="86780"/>
              </a:lnSpc>
              <a:buNone/>
            </a:pPr>
            <a:r>
              <a:rPr lang="en-US" sz="4800" spc="-168" kern="0" dirty="0">
                <a:solidFill>
                  <a:srgbClr val="17201F"/>
                </a:solidFill>
                <a:latin typeface="Arial" pitchFamily="34" charset="0"/>
                <a:ea typeface="Arial" pitchFamily="34" charset="-122"/>
                <a:cs typeface="Arial" pitchFamily="34" charset="-120"/>
              </a:rPr>
              <a:t>Prove</a:t>
            </a:r>
            <a:endParaRPr lang="en-US" sz="4800" dirty="0"/>
          </a:p>
        </p:txBody>
      </p:sp>
      <p:sp>
        <p:nvSpPr>
          <p:cNvPr id="18" name="Text 16"/>
          <p:cNvSpPr/>
          <p:nvPr/>
        </p:nvSpPr>
        <p:spPr>
          <a:xfrm>
            <a:off x="14478000" y="3844850"/>
            <a:ext cx="3139440" cy="731515"/>
          </a:xfrm>
          <a:prstGeom prst="rect">
            <a:avLst/>
          </a:prstGeom>
          <a:noFill/>
          <a:ln/>
        </p:spPr>
        <p:txBody>
          <a:bodyPr wrap="square" lIns="25400" tIns="25400" rIns="25400" bIns="25400" rtlCol="0" anchor="t">
            <a:normAutofit/>
          </a:bodyPr>
          <a:lstStyle/>
          <a:p>
            <a:pPr algn="l" indent="0" marL="0">
              <a:lnSpc>
                <a:spcPct val="123042"/>
              </a:lnSpc>
              <a:buNone/>
            </a:pPr>
            <a:r>
              <a:rPr lang="en-US" sz="1950" dirty="0">
                <a:solidFill>
                  <a:srgbClr val="17201F">
                    <a:alpha val="70000"/>
                  </a:srgbClr>
                </a:solidFill>
                <a:latin typeface="Arial" pitchFamily="34" charset="0"/>
                <a:ea typeface="Arial" pitchFamily="34" charset="-122"/>
                <a:cs typeface="Arial" pitchFamily="34" charset="-120"/>
              </a:rPr>
              <a:t>Show what actually happened.</a:t>
            </a:r>
            <a:endParaRPr lang="en-US" sz="1950" dirty="0"/>
          </a:p>
        </p:txBody>
      </p:sp>
      <p:sp>
        <p:nvSpPr>
          <p:cNvPr id="19" name="Text 17"/>
          <p:cNvSpPr/>
          <p:nvPr/>
        </p:nvSpPr>
        <p:spPr>
          <a:xfrm>
            <a:off x="762000" y="6096000"/>
            <a:ext cx="15716250" cy="409550"/>
          </a:xfrm>
          <a:prstGeom prst="rect">
            <a:avLst/>
          </a:prstGeom>
          <a:noFill/>
          <a:ln/>
        </p:spPr>
        <p:txBody>
          <a:bodyPr wrap="square" lIns="25400" tIns="25400" rIns="25400" bIns="25400" rtlCol="0" anchor="t">
            <a:normAutofit/>
          </a:bodyPr>
          <a:lstStyle/>
          <a:p>
            <a:pPr algn="l" indent="0" marL="0">
              <a:lnSpc>
                <a:spcPct val="114146"/>
              </a:lnSpc>
              <a:buNone/>
            </a:pPr>
            <a:r>
              <a:rPr lang="en-US" sz="2250" dirty="0">
                <a:solidFill>
                  <a:srgbClr val="0F6F5C"/>
                </a:solidFill>
                <a:latin typeface="Arial" pitchFamily="34" charset="0"/>
                <a:ea typeface="Arial" pitchFamily="34" charset="-122"/>
                <a:cs typeface="Arial" pitchFamily="34" charset="-120"/>
              </a:rPr>
              <a:t>Intelligence runs through all five.</a:t>
            </a:r>
            <a:endParaRPr lang="en-US" sz="2250" dirty="0"/>
          </a:p>
        </p:txBody>
      </p:sp>
      <p:sp>
        <p:nvSpPr>
          <p:cNvPr id="20" name="Text 18"/>
          <p:cNvSpPr/>
          <p:nvPr/>
        </p:nvSpPr>
        <p:spPr>
          <a:xfrm>
            <a:off x="762000" y="6734101"/>
            <a:ext cx="14716125" cy="1127646"/>
          </a:xfrm>
          <a:prstGeom prst="rect">
            <a:avLst/>
          </a:prstGeom>
          <a:noFill/>
          <a:ln/>
        </p:spPr>
        <p:txBody>
          <a:bodyPr wrap="square" lIns="25400" tIns="25400" rIns="25400" bIns="25400" rtlCol="0" anchor="t">
            <a:normAutofit/>
          </a:bodyPr>
          <a:lstStyle/>
          <a:p>
            <a:pPr algn="l" indent="0" marL="0">
              <a:lnSpc>
                <a:spcPct val="113455"/>
              </a:lnSpc>
              <a:buNone/>
            </a:pPr>
            <a:r>
              <a:rPr lang="en-US" sz="3300" spc="-66" kern="0" dirty="0">
                <a:solidFill>
                  <a:srgbClr val="17201F"/>
                </a:solidFill>
                <a:latin typeface="Arial" pitchFamily="34" charset="0"/>
                <a:ea typeface="Arial" pitchFamily="34" charset="-122"/>
                <a:cs typeface="Arial" pitchFamily="34" charset="-120"/>
              </a:rPr>
              <a:t>Screens, phones, customer relationships, redemption, measurement and intelligence are one Growth system. The owner sees one plan.</a:t>
            </a:r>
            <a:endParaRPr lang="en-US" sz="3300" dirty="0"/>
          </a:p>
        </p:txBody>
      </p:sp>
      <p:sp>
        <p:nvSpPr>
          <p:cNvPr id="21" name="Text 19"/>
          <p:cNvSpPr/>
          <p:nvPr/>
        </p:nvSpPr>
        <p:spPr>
          <a:xfrm>
            <a:off x="762000" y="9289293"/>
            <a:ext cx="11562153"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17201F">
                    <a:alpha val="45000"/>
                  </a:srgbClr>
                </a:solidFill>
                <a:latin typeface="Courier New" pitchFamily="34" charset="0"/>
                <a:ea typeface="Courier New" pitchFamily="34" charset="-122"/>
                <a:cs typeface="Courier New" pitchFamily="34" charset="-120"/>
              </a:rPr>
              <a:t>NOT A CHATBOT · NOT AN SMS TOOL · NOT A COUPON MARKETPLACE · NOT A DASHBOARD</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762000" y="571500"/>
            <a:ext cx="1825650" cy="335756"/>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17201F">
                    <a:alpha val="50000"/>
                  </a:srgbClr>
                </a:solidFill>
                <a:latin typeface="Courier New" pitchFamily="34" charset="0"/>
                <a:ea typeface="Courier New" pitchFamily="34" charset="-122"/>
                <a:cs typeface="Courier New" pitchFamily="34" charset="-120"/>
              </a:rPr>
              <a:t>FILM THESIS</a:t>
            </a:r>
            <a:endParaRPr lang="en-US" sz="1800" dirty="0"/>
          </a:p>
        </p:txBody>
      </p:sp>
      <p:sp>
        <p:nvSpPr>
          <p:cNvPr id="3" name="Shape 1"/>
          <p:cNvSpPr/>
          <p:nvPr/>
        </p:nvSpPr>
        <p:spPr>
          <a:xfrm>
            <a:off x="762000" y="1181075"/>
            <a:ext cx="16764000" cy="19038"/>
          </a:xfrm>
          <a:prstGeom prst="rect">
            <a:avLst/>
          </a:prstGeom>
          <a:solidFill>
            <a:srgbClr val="17201F">
              <a:alpha val="14000"/>
            </a:srgbClr>
          </a:solidFill>
          <a:ln/>
        </p:spPr>
      </p:sp>
      <p:sp>
        <p:nvSpPr>
          <p:cNvPr id="4" name="Text 2"/>
          <p:cNvSpPr/>
          <p:nvPr/>
        </p:nvSpPr>
        <p:spPr>
          <a:xfrm>
            <a:off x="685788" y="1905000"/>
            <a:ext cx="12753975" cy="2095463"/>
          </a:xfrm>
          <a:prstGeom prst="rect">
            <a:avLst/>
          </a:prstGeom>
          <a:noFill/>
          <a:ln/>
        </p:spPr>
        <p:txBody>
          <a:bodyPr wrap="square" lIns="25400" tIns="25400" rIns="25400" bIns="25400" rtlCol="0" anchor="t">
            <a:normAutofit/>
          </a:bodyPr>
          <a:lstStyle/>
          <a:p>
            <a:pPr algn="l" indent="0" marL="0">
              <a:lnSpc>
                <a:spcPct val="104096"/>
              </a:lnSpc>
              <a:buNone/>
            </a:pPr>
            <a:r>
              <a:rPr lang="en-US" sz="4500" spc="-135" kern="0" dirty="0">
                <a:solidFill>
                  <a:srgbClr val="17201F"/>
                </a:solidFill>
                <a:latin typeface="Arial" pitchFamily="34" charset="0"/>
                <a:ea typeface="Arial" pitchFamily="34" charset="-122"/>
                <a:cs typeface="Arial" pitchFamily="34" charset="-120"/>
              </a:rPr>
              <a:t>One plain sentence from an owner travels through every channel he actually has, and comes back as people he can count at his own door.</a:t>
            </a:r>
            <a:endParaRPr lang="en-US" sz="4500" dirty="0"/>
          </a:p>
        </p:txBody>
      </p:sp>
      <p:sp>
        <p:nvSpPr>
          <p:cNvPr id="5" name="Text 3"/>
          <p:cNvSpPr/>
          <p:nvPr/>
        </p:nvSpPr>
        <p:spPr>
          <a:xfrm>
            <a:off x="495288" y="5991262"/>
            <a:ext cx="2391339" cy="3762338"/>
          </a:xfrm>
          <a:prstGeom prst="rect">
            <a:avLst/>
          </a:prstGeom>
          <a:noFill/>
          <a:ln/>
        </p:spPr>
        <p:txBody>
          <a:bodyPr wrap="square" lIns="25400" tIns="25400" rIns="25400" bIns="25400" rtlCol="0" anchor="t">
            <a:normAutofit/>
          </a:bodyPr>
          <a:lstStyle/>
          <a:p>
            <a:pPr algn="l" indent="0" marL="0">
              <a:lnSpc>
                <a:spcPct val="73948"/>
              </a:lnSpc>
              <a:buNone/>
            </a:pPr>
            <a:r>
              <a:rPr lang="en-US" sz="34500" spc="-2000" kern="0" dirty="0">
                <a:solidFill>
                  <a:srgbClr val="17201F"/>
                </a:solidFill>
                <a:latin typeface="Arial" pitchFamily="34" charset="0"/>
                <a:ea typeface="Arial" pitchFamily="34" charset="-122"/>
                <a:cs typeface="Arial" pitchFamily="34" charset="-120"/>
              </a:rPr>
              <a:t>3</a:t>
            </a:r>
            <a:endParaRPr lang="en-US" sz="34500" dirty="0"/>
          </a:p>
        </p:txBody>
      </p:sp>
      <p:sp>
        <p:nvSpPr>
          <p:cNvPr id="6" name="Text 4"/>
          <p:cNvSpPr/>
          <p:nvPr/>
        </p:nvSpPr>
        <p:spPr>
          <a:xfrm>
            <a:off x="3050232" y="7900231"/>
            <a:ext cx="2095500" cy="1657350"/>
          </a:xfrm>
          <a:prstGeom prst="rect">
            <a:avLst/>
          </a:prstGeom>
          <a:noFill/>
          <a:ln/>
        </p:spPr>
        <p:txBody>
          <a:bodyPr wrap="square" lIns="25400" tIns="25400" rIns="25400" bIns="25400" rtlCol="0" anchor="t">
            <a:normAutofit/>
          </a:bodyPr>
          <a:lstStyle/>
          <a:p>
            <a:pPr algn="l" indent="0" marL="0">
              <a:lnSpc>
                <a:spcPct val="73779"/>
              </a:lnSpc>
              <a:buNone/>
            </a:pPr>
            <a:r>
              <a:rPr lang="en-US" sz="15000" dirty="0">
                <a:solidFill>
                  <a:srgbClr val="5FD6BB"/>
                </a:solidFill>
                <a:latin typeface="Arial" pitchFamily="34" charset="0"/>
                <a:ea typeface="Arial" pitchFamily="34" charset="-122"/>
                <a:cs typeface="Arial" pitchFamily="34" charset="-120"/>
              </a:rPr>
              <a:t>→</a:t>
            </a:r>
            <a:endParaRPr lang="en-US" sz="15000" dirty="0"/>
          </a:p>
        </p:txBody>
      </p:sp>
      <p:sp>
        <p:nvSpPr>
          <p:cNvPr id="7" name="Text 5"/>
          <p:cNvSpPr/>
          <p:nvPr/>
        </p:nvSpPr>
        <p:spPr>
          <a:xfrm>
            <a:off x="5336232" y="5991262"/>
            <a:ext cx="4782610" cy="3762338"/>
          </a:xfrm>
          <a:prstGeom prst="rect">
            <a:avLst/>
          </a:prstGeom>
          <a:noFill/>
          <a:ln/>
        </p:spPr>
        <p:txBody>
          <a:bodyPr wrap="square" lIns="25400" tIns="25400" rIns="25400" bIns="25400" rtlCol="0" anchor="t">
            <a:normAutofit/>
          </a:bodyPr>
          <a:lstStyle/>
          <a:p>
            <a:pPr algn="l" indent="0" marL="0">
              <a:lnSpc>
                <a:spcPct val="73948"/>
              </a:lnSpc>
              <a:buNone/>
            </a:pPr>
            <a:r>
              <a:rPr lang="en-US" sz="34500" spc="-2000" kern="0" dirty="0">
                <a:solidFill>
                  <a:srgbClr val="17201F"/>
                </a:solidFill>
                <a:latin typeface="Arial" pitchFamily="34" charset="0"/>
                <a:ea typeface="Arial" pitchFamily="34" charset="-122"/>
                <a:cs typeface="Arial" pitchFamily="34" charset="-120"/>
              </a:rPr>
              <a:t>21</a:t>
            </a:r>
            <a:endParaRPr lang="en-US" sz="34500" dirty="0"/>
          </a:p>
        </p:txBody>
      </p:sp>
      <p:sp>
        <p:nvSpPr>
          <p:cNvPr id="8" name="Text 6"/>
          <p:cNvSpPr/>
          <p:nvPr/>
        </p:nvSpPr>
        <p:spPr>
          <a:xfrm>
            <a:off x="12573000" y="7220210"/>
            <a:ext cx="5448300" cy="380963"/>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17201F">
                    <a:alpha val="70000"/>
                  </a:srgbClr>
                </a:solidFill>
                <a:latin typeface="Arial" pitchFamily="34" charset="0"/>
                <a:ea typeface="Arial" pitchFamily="34" charset="-122"/>
                <a:cs typeface="Arial" pitchFamily="34" charset="-120"/>
              </a:rPr>
              <a:t>Act I lives on a warm page: Uptick thinks.</a:t>
            </a:r>
            <a:endParaRPr lang="en-US" sz="1800" dirty="0"/>
          </a:p>
        </p:txBody>
      </p:sp>
      <p:sp>
        <p:nvSpPr>
          <p:cNvPr id="9" name="Text 7"/>
          <p:cNvSpPr/>
          <p:nvPr/>
        </p:nvSpPr>
        <p:spPr>
          <a:xfrm>
            <a:off x="12573000" y="7715436"/>
            <a:ext cx="5101590" cy="723826"/>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17201F">
                    <a:alpha val="70000"/>
                  </a:srgbClr>
                </a:solidFill>
                <a:latin typeface="Arial" pitchFamily="34" charset="0"/>
                <a:ea typeface="Arial" pitchFamily="34" charset="-122"/>
                <a:cs typeface="Arial" pitchFamily="34" charset="-120"/>
              </a:rPr>
              <a:t>Act II goes to the street: Uptick acts through text and nearby screens.</a:t>
            </a:r>
            <a:endParaRPr lang="en-US" sz="1800" dirty="0"/>
          </a:p>
        </p:txBody>
      </p:sp>
      <p:sp>
        <p:nvSpPr>
          <p:cNvPr id="10" name="Text 8"/>
          <p:cNvSpPr/>
          <p:nvPr/>
        </p:nvSpPr>
        <p:spPr>
          <a:xfrm>
            <a:off x="12573000" y="8553524"/>
            <a:ext cx="5101590" cy="723826"/>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17201F">
                    <a:alpha val="70000"/>
                  </a:srgbClr>
                </a:solidFill>
                <a:latin typeface="Arial" pitchFamily="34" charset="0"/>
                <a:ea typeface="Arial" pitchFamily="34" charset="-122"/>
                <a:cs typeface="Arial" pitchFamily="34" charset="-120"/>
              </a:rPr>
              <a:t>Act III returns to the page: the same number, twenty-one instead of three.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762000" y="571500"/>
            <a:ext cx="3651231" cy="335756"/>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17201F">
                    <a:alpha val="50000"/>
                  </a:srgbClr>
                </a:solidFill>
                <a:latin typeface="Courier New" pitchFamily="34" charset="0"/>
                <a:ea typeface="Courier New" pitchFamily="34" charset="-122"/>
                <a:cs typeface="Courier New" pitchFamily="34" charset="-120"/>
              </a:rPr>
              <a:t>VISUAL SYSTEM · LOCKED</a:t>
            </a:r>
            <a:endParaRPr lang="en-US" sz="1800" dirty="0"/>
          </a:p>
        </p:txBody>
      </p:sp>
      <p:sp>
        <p:nvSpPr>
          <p:cNvPr id="3" name="Shape 1"/>
          <p:cNvSpPr/>
          <p:nvPr/>
        </p:nvSpPr>
        <p:spPr>
          <a:xfrm>
            <a:off x="762000" y="1181075"/>
            <a:ext cx="16764000" cy="19038"/>
          </a:xfrm>
          <a:prstGeom prst="rect">
            <a:avLst/>
          </a:prstGeom>
          <a:solidFill>
            <a:srgbClr val="17201F">
              <a:alpha val="14000"/>
            </a:srgbClr>
          </a:solidFill>
          <a:ln/>
        </p:spPr>
      </p:sp>
      <p:sp>
        <p:nvSpPr>
          <p:cNvPr id="4" name="Shape 2"/>
          <p:cNvSpPr/>
          <p:nvPr/>
        </p:nvSpPr>
        <p:spPr>
          <a:xfrm>
            <a:off x="762000" y="1619250"/>
            <a:ext cx="8096250" cy="7905750"/>
          </a:xfrm>
          <a:prstGeom prst="rect">
            <a:avLst/>
          </a:prstGeom>
          <a:solidFill>
            <a:srgbClr val="F3F0E9"/>
          </a:solidFill>
          <a:ln/>
        </p:spPr>
      </p:sp>
      <p:sp>
        <p:nvSpPr>
          <p:cNvPr id="5" name="Text 3"/>
          <p:cNvSpPr/>
          <p:nvPr/>
        </p:nvSpPr>
        <p:spPr>
          <a:xfrm>
            <a:off x="1333500" y="2152613"/>
            <a:ext cx="7648575"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0F6F5C"/>
                </a:solidFill>
                <a:latin typeface="Courier New" pitchFamily="34" charset="0"/>
                <a:ea typeface="Courier New" pitchFamily="34" charset="-122"/>
                <a:cs typeface="Courier New" pitchFamily="34" charset="-120"/>
              </a:rPr>
              <a:t>DIRECTION 1 · HOW UPTICK THINKS</a:t>
            </a:r>
            <a:endParaRPr lang="en-US" sz="1650" dirty="0"/>
          </a:p>
        </p:txBody>
      </p:sp>
      <p:sp>
        <p:nvSpPr>
          <p:cNvPr id="6" name="Text 4"/>
          <p:cNvSpPr/>
          <p:nvPr/>
        </p:nvSpPr>
        <p:spPr>
          <a:xfrm>
            <a:off x="1333500" y="2674069"/>
            <a:ext cx="7648575" cy="1323975"/>
          </a:xfrm>
          <a:prstGeom prst="rect">
            <a:avLst/>
          </a:prstGeom>
          <a:noFill/>
          <a:ln/>
        </p:spPr>
        <p:txBody>
          <a:bodyPr wrap="square" lIns="25400" tIns="25400" rIns="25400" bIns="25400" rtlCol="0" anchor="t">
            <a:normAutofit/>
          </a:bodyPr>
          <a:lstStyle/>
          <a:p>
            <a:pPr algn="l" indent="0" marL="0">
              <a:lnSpc>
                <a:spcPct val="78261"/>
              </a:lnSpc>
              <a:buNone/>
            </a:pPr>
            <a:r>
              <a:rPr lang="en-US" sz="11250" spc="-562" kern="0" dirty="0">
                <a:solidFill>
                  <a:srgbClr val="17201F"/>
                </a:solidFill>
                <a:latin typeface="Arial" pitchFamily="34" charset="0"/>
                <a:ea typeface="Arial" pitchFamily="34" charset="-122"/>
                <a:cs typeface="Arial" pitchFamily="34" charset="-120"/>
              </a:rPr>
              <a:t>63</a:t>
            </a:r>
            <a:endParaRPr lang="en-US" sz="11250" dirty="0"/>
          </a:p>
        </p:txBody>
      </p:sp>
      <p:sp>
        <p:nvSpPr>
          <p:cNvPr id="7" name="Text 5"/>
          <p:cNvSpPr/>
          <p:nvPr/>
        </p:nvSpPr>
        <p:spPr>
          <a:xfrm>
            <a:off x="1333500" y="4207557"/>
            <a:ext cx="7648575" cy="409550"/>
          </a:xfrm>
          <a:prstGeom prst="rect">
            <a:avLst/>
          </a:prstGeom>
          <a:noFill/>
          <a:ln/>
        </p:spPr>
        <p:txBody>
          <a:bodyPr wrap="square" lIns="25400" tIns="25400" rIns="25400" bIns="25400" rtlCol="0" anchor="t">
            <a:normAutofit/>
          </a:bodyPr>
          <a:lstStyle/>
          <a:p>
            <a:pPr algn="l" indent="0" marL="0">
              <a:lnSpc>
                <a:spcPct val="114146"/>
              </a:lnSpc>
              <a:buNone/>
            </a:pPr>
            <a:r>
              <a:rPr lang="en-US" sz="2250" dirty="0">
                <a:solidFill>
                  <a:srgbClr val="17201F"/>
                </a:solidFill>
                <a:latin typeface="Arial" pitchFamily="34" charset="0"/>
                <a:ea typeface="Arial" pitchFamily="34" charset="-122"/>
                <a:cs typeface="Arial" pitchFamily="34" charset="-120"/>
              </a:rPr>
              <a:t>customers who tend to respond in the morning.</a:t>
            </a:r>
            <a:endParaRPr lang="en-US" sz="2250" dirty="0"/>
          </a:p>
        </p:txBody>
      </p:sp>
      <p:sp>
        <p:nvSpPr>
          <p:cNvPr id="8" name="Shape 6"/>
          <p:cNvSpPr/>
          <p:nvPr/>
        </p:nvSpPr>
        <p:spPr>
          <a:xfrm>
            <a:off x="1333500" y="4826620"/>
            <a:ext cx="6953250" cy="19038"/>
          </a:xfrm>
          <a:prstGeom prst="rect">
            <a:avLst/>
          </a:prstGeom>
          <a:solidFill>
            <a:srgbClr val="5FD6BB"/>
          </a:solidFill>
          <a:ln/>
        </p:spPr>
      </p:sp>
      <p:sp>
        <p:nvSpPr>
          <p:cNvPr id="9" name="Text 7"/>
          <p:cNvSpPr/>
          <p:nvPr/>
        </p:nvSpPr>
        <p:spPr>
          <a:xfrm>
            <a:off x="1333500" y="5093271"/>
            <a:ext cx="7648575" cy="335756"/>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0F6F5C"/>
                </a:solidFill>
                <a:latin typeface="Courier New" pitchFamily="34" charset="0"/>
                <a:ea typeface="Courier New" pitchFamily="34" charset="-122"/>
                <a:cs typeface="Courier New" pitchFamily="34" charset="-120"/>
              </a:rPr>
              <a:t>→ 07:00–10:00</a:t>
            </a:r>
            <a:endParaRPr lang="en-US" sz="1800" dirty="0"/>
          </a:p>
        </p:txBody>
      </p:sp>
      <p:sp>
        <p:nvSpPr>
          <p:cNvPr id="10" name="Text 8"/>
          <p:cNvSpPr/>
          <p:nvPr/>
        </p:nvSpPr>
        <p:spPr>
          <a:xfrm>
            <a:off x="1333500" y="7276827"/>
            <a:ext cx="7161848" cy="700881"/>
          </a:xfrm>
          <a:prstGeom prst="rect">
            <a:avLst/>
          </a:prstGeom>
          <a:noFill/>
          <a:ln/>
        </p:spPr>
        <p:txBody>
          <a:bodyPr wrap="square" lIns="25400" tIns="25400" rIns="25400" bIns="25400" rtlCol="0" anchor="t">
            <a:normAutofit/>
          </a:bodyPr>
          <a:lstStyle/>
          <a:p>
            <a:pPr algn="l" indent="0" marL="0">
              <a:lnSpc>
                <a:spcPct val="126545"/>
              </a:lnSpc>
              <a:buNone/>
            </a:pPr>
            <a:r>
              <a:rPr lang="en-US" sz="1800" dirty="0">
                <a:solidFill>
                  <a:srgbClr val="17201F">
                    <a:alpha val="70000"/>
                  </a:srgbClr>
                </a:solidFill>
                <a:latin typeface="Arial" pitchFamily="34" charset="0"/>
                <a:ea typeface="Arial" pitchFamily="34" charset="-122"/>
                <a:cs typeface="Arial" pitchFamily="34" charset="-120"/>
              </a:rPr>
              <a:t>Warm off-white page. Geist light at 150–840px. Mono at 22–24px for data. Hairlines, not boxes. Extreme negative space.</a:t>
            </a:r>
            <a:endParaRPr lang="en-US" sz="1800" dirty="0"/>
          </a:p>
        </p:txBody>
      </p:sp>
      <p:sp>
        <p:nvSpPr>
          <p:cNvPr id="11" name="Text 9"/>
          <p:cNvSpPr/>
          <p:nvPr/>
        </p:nvSpPr>
        <p:spPr>
          <a:xfrm>
            <a:off x="1333500" y="8053896"/>
            <a:ext cx="7648575" cy="369491"/>
          </a:xfrm>
          <a:prstGeom prst="rect">
            <a:avLst/>
          </a:prstGeom>
          <a:noFill/>
          <a:ln/>
        </p:spPr>
        <p:txBody>
          <a:bodyPr wrap="square" lIns="25400" tIns="25400" rIns="25400" bIns="25400" rtlCol="0" anchor="t">
            <a:normAutofit/>
          </a:bodyPr>
          <a:lstStyle/>
          <a:p>
            <a:pPr algn="l" indent="0" marL="0">
              <a:lnSpc>
                <a:spcPct val="126545"/>
              </a:lnSpc>
              <a:buNone/>
            </a:pPr>
            <a:r>
              <a:rPr lang="en-US" sz="1800" dirty="0">
                <a:solidFill>
                  <a:srgbClr val="17201F">
                    <a:alpha val="70000"/>
                  </a:srgbClr>
                </a:solidFill>
                <a:latin typeface="Arial" pitchFamily="34" charset="0"/>
                <a:ea typeface="Arial" pitchFamily="34" charset="-122"/>
                <a:cs typeface="Arial" pitchFamily="34" charset="-120"/>
              </a:rPr>
              <a:t>Reads like a beautifully set operating brief.</a:t>
            </a:r>
            <a:endParaRPr lang="en-US" sz="1800" dirty="0"/>
          </a:p>
        </p:txBody>
      </p:sp>
      <p:sp>
        <p:nvSpPr>
          <p:cNvPr id="12" name="Shape 10"/>
          <p:cNvSpPr/>
          <p:nvPr/>
        </p:nvSpPr>
        <p:spPr>
          <a:xfrm>
            <a:off x="1333500" y="8632899"/>
            <a:ext cx="587375" cy="358738"/>
          </a:xfrm>
          <a:prstGeom prst="rect">
            <a:avLst/>
          </a:prstGeom>
          <a:solidFill>
            <a:srgbClr val="FAF8F4"/>
          </a:solidFill>
          <a:ln w="7937">
            <a:solidFill>
              <a:srgbClr val="17201F">
                <a:alpha val="14000"/>
              </a:srgbClr>
            </a:solidFill>
            <a:prstDash val="solid"/>
          </a:ln>
        </p:spPr>
      </p:sp>
      <p:sp>
        <p:nvSpPr>
          <p:cNvPr id="13" name="Shape 11"/>
          <p:cNvSpPr/>
          <p:nvPr/>
        </p:nvSpPr>
        <p:spPr>
          <a:xfrm>
            <a:off x="2016125" y="8632899"/>
            <a:ext cx="587375" cy="358738"/>
          </a:xfrm>
          <a:prstGeom prst="rect">
            <a:avLst/>
          </a:prstGeom>
          <a:solidFill>
            <a:srgbClr val="F3F0E9"/>
          </a:solidFill>
          <a:ln w="7937">
            <a:solidFill>
              <a:srgbClr val="17201F">
                <a:alpha val="14000"/>
              </a:srgbClr>
            </a:solidFill>
            <a:prstDash val="solid"/>
          </a:ln>
        </p:spPr>
      </p:sp>
      <p:sp>
        <p:nvSpPr>
          <p:cNvPr id="14" name="Shape 12"/>
          <p:cNvSpPr/>
          <p:nvPr/>
        </p:nvSpPr>
        <p:spPr>
          <a:xfrm>
            <a:off x="2698750" y="8632899"/>
            <a:ext cx="571500" cy="342863"/>
          </a:xfrm>
          <a:prstGeom prst="rect">
            <a:avLst/>
          </a:prstGeom>
          <a:solidFill>
            <a:srgbClr val="17201F"/>
          </a:solidFill>
          <a:ln/>
        </p:spPr>
      </p:sp>
      <p:sp>
        <p:nvSpPr>
          <p:cNvPr id="15" name="Shape 13"/>
          <p:cNvSpPr/>
          <p:nvPr/>
        </p:nvSpPr>
        <p:spPr>
          <a:xfrm>
            <a:off x="3365500" y="8632899"/>
            <a:ext cx="571500" cy="342863"/>
          </a:xfrm>
          <a:prstGeom prst="rect">
            <a:avLst/>
          </a:prstGeom>
          <a:solidFill>
            <a:srgbClr val="5FD6BB"/>
          </a:solidFill>
          <a:ln/>
        </p:spPr>
      </p:sp>
      <p:sp>
        <p:nvSpPr>
          <p:cNvPr id="16" name="Shape 14"/>
          <p:cNvSpPr/>
          <p:nvPr/>
        </p:nvSpPr>
        <p:spPr>
          <a:xfrm>
            <a:off x="9429750" y="1619250"/>
            <a:ext cx="8096250" cy="7905750"/>
          </a:xfrm>
          <a:prstGeom prst="rect">
            <a:avLst/>
          </a:prstGeom>
          <a:solidFill>
            <a:srgbClr val="0A1820"/>
          </a:solidFill>
          <a:ln/>
        </p:spPr>
      </p:sp>
      <p:sp>
        <p:nvSpPr>
          <p:cNvPr id="17" name="Text 15"/>
          <p:cNvSpPr/>
          <p:nvPr/>
        </p:nvSpPr>
        <p:spPr>
          <a:xfrm>
            <a:off x="10001250" y="2152613"/>
            <a:ext cx="7648575"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5FD6BB"/>
                </a:solidFill>
                <a:latin typeface="Courier New" pitchFamily="34" charset="0"/>
                <a:ea typeface="Courier New" pitchFamily="34" charset="-122"/>
                <a:cs typeface="Courier New" pitchFamily="34" charset="-120"/>
              </a:rPr>
              <a:t>DIRECTION 2 · WHERE UPTICK ACTS</a:t>
            </a:r>
            <a:endParaRPr lang="en-US" sz="1650" dirty="0"/>
          </a:p>
        </p:txBody>
      </p:sp>
      <p:sp>
        <p:nvSpPr>
          <p:cNvPr id="18" name="Shape 16"/>
          <p:cNvSpPr/>
          <p:nvPr/>
        </p:nvSpPr>
        <p:spPr>
          <a:xfrm>
            <a:off x="11137174" y="3643614"/>
            <a:ext cx="6725220" cy="2052011"/>
          </a:xfrm>
          <a:prstGeom prst="rect">
            <a:avLst/>
          </a:prstGeom>
          <a:solidFill>
            <a:srgbClr val="F1EDE5">
              <a:alpha val="5000"/>
            </a:srgbClr>
          </a:solidFill>
          <a:ln/>
        </p:spPr>
      </p:sp>
      <p:sp>
        <p:nvSpPr>
          <p:cNvPr id="19" name="Shape 17"/>
          <p:cNvSpPr/>
          <p:nvPr/>
        </p:nvSpPr>
        <p:spPr>
          <a:xfrm>
            <a:off x="11538511" y="4059877"/>
            <a:ext cx="6977185" cy="2280168"/>
          </a:xfrm>
          <a:prstGeom prst="rect">
            <a:avLst/>
          </a:prstGeom>
          <a:solidFill>
            <a:srgbClr val="F1EDE5">
              <a:alpha val="5000"/>
            </a:srgbClr>
          </a:solidFill>
          <a:ln/>
        </p:spPr>
      </p:sp>
      <p:sp>
        <p:nvSpPr>
          <p:cNvPr id="20" name="Shape 18"/>
          <p:cNvSpPr/>
          <p:nvPr/>
        </p:nvSpPr>
        <p:spPr>
          <a:xfrm>
            <a:off x="11205839" y="3715477"/>
            <a:ext cx="7202335" cy="2517527"/>
          </a:xfrm>
          <a:prstGeom prst="rect">
            <a:avLst/>
          </a:prstGeom>
          <a:solidFill>
            <a:srgbClr val="F1EDE5">
              <a:alpha val="2000"/>
            </a:srgbClr>
          </a:solidFill>
          <a:ln/>
        </p:spPr>
      </p:sp>
      <p:sp>
        <p:nvSpPr>
          <p:cNvPr id="21" name="Shape 19"/>
          <p:cNvSpPr/>
          <p:nvPr/>
        </p:nvSpPr>
        <p:spPr>
          <a:xfrm>
            <a:off x="11205839" y="6221098"/>
            <a:ext cx="7202335" cy="11906"/>
          </a:xfrm>
          <a:prstGeom prst="rect">
            <a:avLst/>
          </a:prstGeom>
          <a:solidFill>
            <a:srgbClr val="F1EDE5">
              <a:alpha val="22000"/>
            </a:srgbClr>
          </a:solidFill>
          <a:ln/>
        </p:spPr>
      </p:sp>
      <p:sp>
        <p:nvSpPr>
          <p:cNvPr id="22" name="Shape 20"/>
          <p:cNvSpPr/>
          <p:nvPr/>
        </p:nvSpPr>
        <p:spPr>
          <a:xfrm>
            <a:off x="11205839" y="3715477"/>
            <a:ext cx="7202335" cy="11906"/>
          </a:xfrm>
          <a:prstGeom prst="rect">
            <a:avLst/>
          </a:prstGeom>
          <a:solidFill>
            <a:srgbClr val="F1EDE5">
              <a:alpha val="22000"/>
            </a:srgbClr>
          </a:solidFill>
          <a:ln/>
        </p:spPr>
      </p:sp>
      <p:sp>
        <p:nvSpPr>
          <p:cNvPr id="23" name="Shape 21"/>
          <p:cNvSpPr/>
          <p:nvPr/>
        </p:nvSpPr>
        <p:spPr>
          <a:xfrm>
            <a:off x="11363020" y="3878973"/>
            <a:ext cx="6758571" cy="11906"/>
          </a:xfrm>
          <a:prstGeom prst="rect">
            <a:avLst/>
          </a:prstGeom>
          <a:solidFill>
            <a:srgbClr val="F1EDE5">
              <a:alpha val="12000"/>
            </a:srgbClr>
          </a:solidFill>
          <a:ln/>
        </p:spPr>
      </p:sp>
      <p:sp>
        <p:nvSpPr>
          <p:cNvPr id="24" name="Shape 22"/>
          <p:cNvSpPr/>
          <p:nvPr/>
        </p:nvSpPr>
        <p:spPr>
          <a:xfrm>
            <a:off x="13291538" y="3672730"/>
            <a:ext cx="2428483" cy="1100890"/>
          </a:xfrm>
          <a:prstGeom prst="rect">
            <a:avLst/>
          </a:prstGeom>
          <a:gradFill rotWithShape="1">
            <a:gsLst>
              <a:gs pos="0">
                <a:srgbClr val="E2A24F">
                  <a:alpha val="32000"/>
                </a:srgbClr>
              </a:gs>
              <a:gs pos="100000">
                <a:srgbClr val="E2A24F">
                  <a:alpha val="0"/>
                </a:srgbClr>
              </a:gs>
            </a:gsLst>
            <a:path path="circle">
              <a:fillToRect l="50000" t="100000" r="50000" b="0"/>
            </a:path>
          </a:gradFill>
          <a:ln/>
        </p:spPr>
      </p:sp>
      <p:sp>
        <p:nvSpPr>
          <p:cNvPr id="25" name="Shape 23"/>
          <p:cNvSpPr/>
          <p:nvPr/>
        </p:nvSpPr>
        <p:spPr>
          <a:xfrm>
            <a:off x="13291538" y="4749808"/>
            <a:ext cx="2428483" cy="23813"/>
          </a:xfrm>
          <a:prstGeom prst="rect">
            <a:avLst/>
          </a:prstGeom>
          <a:solidFill>
            <a:srgbClr val="F1EDE5">
              <a:alpha val="45000"/>
            </a:srgbClr>
          </a:solidFill>
          <a:ln/>
        </p:spPr>
      </p:sp>
      <p:sp>
        <p:nvSpPr>
          <p:cNvPr id="26" name="Shape 24"/>
          <p:cNvSpPr/>
          <p:nvPr/>
        </p:nvSpPr>
        <p:spPr>
          <a:xfrm>
            <a:off x="13291538" y="3672730"/>
            <a:ext cx="2428483" cy="11906"/>
          </a:xfrm>
          <a:prstGeom prst="rect">
            <a:avLst/>
          </a:prstGeom>
          <a:solidFill>
            <a:srgbClr val="F1EDE5">
              <a:alpha val="14000"/>
            </a:srgbClr>
          </a:solidFill>
          <a:ln/>
        </p:spPr>
      </p:sp>
      <p:sp>
        <p:nvSpPr>
          <p:cNvPr id="27" name="Shape 25"/>
          <p:cNvSpPr/>
          <p:nvPr/>
        </p:nvSpPr>
        <p:spPr>
          <a:xfrm>
            <a:off x="13291538" y="3672730"/>
            <a:ext cx="11906" cy="1100890"/>
          </a:xfrm>
          <a:prstGeom prst="rect">
            <a:avLst/>
          </a:prstGeom>
          <a:solidFill>
            <a:srgbClr val="F1EDE5">
              <a:alpha val="14000"/>
            </a:srgbClr>
          </a:solidFill>
          <a:ln/>
        </p:spPr>
      </p:sp>
      <p:sp>
        <p:nvSpPr>
          <p:cNvPr id="28" name="Shape 26"/>
          <p:cNvSpPr/>
          <p:nvPr/>
        </p:nvSpPr>
        <p:spPr>
          <a:xfrm>
            <a:off x="15708114" y="3672730"/>
            <a:ext cx="11906" cy="1100890"/>
          </a:xfrm>
          <a:prstGeom prst="rect">
            <a:avLst/>
          </a:prstGeom>
          <a:solidFill>
            <a:srgbClr val="F1EDE5">
              <a:alpha val="14000"/>
            </a:srgbClr>
          </a:solidFill>
          <a:ln/>
        </p:spPr>
      </p:sp>
      <p:sp>
        <p:nvSpPr>
          <p:cNvPr id="29" name="Shape 27"/>
          <p:cNvSpPr/>
          <p:nvPr/>
        </p:nvSpPr>
        <p:spPr>
          <a:xfrm>
            <a:off x="14673378" y="4476884"/>
            <a:ext cx="189742" cy="68268"/>
          </a:xfrm>
          <a:prstGeom prst="rect">
            <a:avLst/>
          </a:prstGeom>
          <a:solidFill>
            <a:srgbClr val="E2A24F"/>
          </a:solidFill>
          <a:ln/>
        </p:spPr>
      </p:sp>
      <p:sp>
        <p:nvSpPr>
          <p:cNvPr id="30" name="Shape 28"/>
          <p:cNvSpPr/>
          <p:nvPr/>
        </p:nvSpPr>
        <p:spPr>
          <a:xfrm>
            <a:off x="14311566" y="4353596"/>
            <a:ext cx="1122952" cy="352349"/>
          </a:xfrm>
          <a:prstGeom prst="rect">
            <a:avLst/>
          </a:prstGeom>
          <a:solidFill>
            <a:srgbClr val="E2A24F">
              <a:alpha val="30000"/>
            </a:srgbClr>
          </a:solidFill>
          <a:ln/>
        </p:spPr>
      </p:sp>
      <p:sp>
        <p:nvSpPr>
          <p:cNvPr id="31" name="Shape 29"/>
          <p:cNvSpPr/>
          <p:nvPr/>
        </p:nvSpPr>
        <p:spPr>
          <a:xfrm>
            <a:off x="15309311" y="5938112"/>
            <a:ext cx="3529555" cy="11906"/>
          </a:xfrm>
          <a:prstGeom prst="rect">
            <a:avLst/>
          </a:prstGeom>
          <a:solidFill>
            <a:srgbClr val="F1EDE5">
              <a:alpha val="50000"/>
            </a:srgbClr>
          </a:solidFill>
          <a:ln/>
        </p:spPr>
      </p:sp>
      <p:sp>
        <p:nvSpPr>
          <p:cNvPr id="32" name="Shape 30"/>
          <p:cNvSpPr/>
          <p:nvPr/>
        </p:nvSpPr>
        <p:spPr>
          <a:xfrm>
            <a:off x="15309311" y="4340339"/>
            <a:ext cx="3529555" cy="23813"/>
          </a:xfrm>
          <a:prstGeom prst="rect">
            <a:avLst/>
          </a:prstGeom>
          <a:solidFill>
            <a:srgbClr val="F1EDE5">
              <a:alpha val="50000"/>
            </a:srgbClr>
          </a:solidFill>
          <a:ln/>
        </p:spPr>
      </p:sp>
      <p:sp>
        <p:nvSpPr>
          <p:cNvPr id="33" name="Shape 31"/>
          <p:cNvSpPr/>
          <p:nvPr/>
        </p:nvSpPr>
        <p:spPr>
          <a:xfrm>
            <a:off x="15309311" y="4340339"/>
            <a:ext cx="11906" cy="1609679"/>
          </a:xfrm>
          <a:prstGeom prst="rect">
            <a:avLst/>
          </a:prstGeom>
          <a:solidFill>
            <a:srgbClr val="F1EDE5">
              <a:alpha val="50000"/>
            </a:srgbClr>
          </a:solidFill>
          <a:ln/>
        </p:spPr>
      </p:sp>
      <p:sp>
        <p:nvSpPr>
          <p:cNvPr id="34" name="Shape 32"/>
          <p:cNvSpPr/>
          <p:nvPr/>
        </p:nvSpPr>
        <p:spPr>
          <a:xfrm>
            <a:off x="18826960" y="4340339"/>
            <a:ext cx="11906" cy="1609679"/>
          </a:xfrm>
          <a:prstGeom prst="rect">
            <a:avLst/>
          </a:prstGeom>
          <a:solidFill>
            <a:srgbClr val="F1EDE5">
              <a:alpha val="50000"/>
            </a:srgbClr>
          </a:solidFill>
          <a:ln/>
        </p:spPr>
      </p:sp>
      <p:sp>
        <p:nvSpPr>
          <p:cNvPr id="35" name="Shape 33"/>
          <p:cNvSpPr/>
          <p:nvPr/>
        </p:nvSpPr>
        <p:spPr>
          <a:xfrm>
            <a:off x="15807242" y="5567195"/>
            <a:ext cx="1883649" cy="11906"/>
          </a:xfrm>
          <a:prstGeom prst="rect">
            <a:avLst/>
          </a:prstGeom>
          <a:solidFill>
            <a:srgbClr val="F1EDE5">
              <a:alpha val="30000"/>
            </a:srgbClr>
          </a:solidFill>
          <a:ln/>
        </p:spPr>
      </p:sp>
      <p:sp>
        <p:nvSpPr>
          <p:cNvPr id="36" name="Shape 34"/>
          <p:cNvSpPr/>
          <p:nvPr/>
        </p:nvSpPr>
        <p:spPr>
          <a:xfrm>
            <a:off x="15807242" y="4750524"/>
            <a:ext cx="1883649" cy="11906"/>
          </a:xfrm>
          <a:prstGeom prst="rect">
            <a:avLst/>
          </a:prstGeom>
          <a:solidFill>
            <a:srgbClr val="F1EDE5">
              <a:alpha val="30000"/>
            </a:srgbClr>
          </a:solidFill>
          <a:ln/>
        </p:spPr>
      </p:sp>
      <p:sp>
        <p:nvSpPr>
          <p:cNvPr id="37" name="Shape 35"/>
          <p:cNvSpPr/>
          <p:nvPr/>
        </p:nvSpPr>
        <p:spPr>
          <a:xfrm>
            <a:off x="15807242" y="4750524"/>
            <a:ext cx="11906" cy="828577"/>
          </a:xfrm>
          <a:prstGeom prst="rect">
            <a:avLst/>
          </a:prstGeom>
          <a:solidFill>
            <a:srgbClr val="F1EDE5">
              <a:alpha val="30000"/>
            </a:srgbClr>
          </a:solidFill>
          <a:ln/>
        </p:spPr>
      </p:sp>
      <p:sp>
        <p:nvSpPr>
          <p:cNvPr id="38" name="Shape 36"/>
          <p:cNvSpPr/>
          <p:nvPr/>
        </p:nvSpPr>
        <p:spPr>
          <a:xfrm>
            <a:off x="17678984" y="4750524"/>
            <a:ext cx="11906" cy="828577"/>
          </a:xfrm>
          <a:prstGeom prst="rect">
            <a:avLst/>
          </a:prstGeom>
          <a:solidFill>
            <a:srgbClr val="F1EDE5">
              <a:alpha val="30000"/>
            </a:srgbClr>
          </a:solidFill>
          <a:ln/>
        </p:spPr>
      </p:sp>
      <p:sp>
        <p:nvSpPr>
          <p:cNvPr id="39" name="Shape 37"/>
          <p:cNvSpPr/>
          <p:nvPr/>
        </p:nvSpPr>
        <p:spPr>
          <a:xfrm>
            <a:off x="16270921" y="5342068"/>
            <a:ext cx="284928" cy="11906"/>
          </a:xfrm>
          <a:prstGeom prst="rect">
            <a:avLst/>
          </a:prstGeom>
          <a:solidFill>
            <a:srgbClr val="F1EDE5">
              <a:alpha val="40000"/>
            </a:srgbClr>
          </a:solidFill>
          <a:ln/>
        </p:spPr>
      </p:sp>
      <p:sp>
        <p:nvSpPr>
          <p:cNvPr id="40" name="Shape 38"/>
          <p:cNvSpPr/>
          <p:nvPr/>
        </p:nvSpPr>
        <p:spPr>
          <a:xfrm>
            <a:off x="16270921" y="5172866"/>
            <a:ext cx="284928" cy="11906"/>
          </a:xfrm>
          <a:prstGeom prst="rect">
            <a:avLst/>
          </a:prstGeom>
          <a:solidFill>
            <a:srgbClr val="F1EDE5">
              <a:alpha val="40000"/>
            </a:srgbClr>
          </a:solidFill>
          <a:ln/>
        </p:spPr>
      </p:sp>
      <p:sp>
        <p:nvSpPr>
          <p:cNvPr id="41" name="Shape 39"/>
          <p:cNvSpPr/>
          <p:nvPr/>
        </p:nvSpPr>
        <p:spPr>
          <a:xfrm>
            <a:off x="16270921" y="5172866"/>
            <a:ext cx="11906" cy="181108"/>
          </a:xfrm>
          <a:prstGeom prst="rect">
            <a:avLst/>
          </a:prstGeom>
          <a:solidFill>
            <a:srgbClr val="F1EDE5">
              <a:alpha val="40000"/>
            </a:srgbClr>
          </a:solidFill>
          <a:ln/>
        </p:spPr>
      </p:sp>
      <p:sp>
        <p:nvSpPr>
          <p:cNvPr id="42" name="Shape 40"/>
          <p:cNvSpPr/>
          <p:nvPr/>
        </p:nvSpPr>
        <p:spPr>
          <a:xfrm>
            <a:off x="16543943" y="5172866"/>
            <a:ext cx="11906" cy="181108"/>
          </a:xfrm>
          <a:prstGeom prst="rect">
            <a:avLst/>
          </a:prstGeom>
          <a:solidFill>
            <a:srgbClr val="F1EDE5">
              <a:alpha val="40000"/>
            </a:srgbClr>
          </a:solidFill>
          <a:ln/>
        </p:spPr>
      </p:sp>
      <p:sp>
        <p:nvSpPr>
          <p:cNvPr id="43" name="Shape 41"/>
          <p:cNvSpPr/>
          <p:nvPr/>
        </p:nvSpPr>
        <p:spPr>
          <a:xfrm>
            <a:off x="16950513" y="5111219"/>
            <a:ext cx="285174" cy="11906"/>
          </a:xfrm>
          <a:prstGeom prst="rect">
            <a:avLst/>
          </a:prstGeom>
          <a:solidFill>
            <a:srgbClr val="F1EDE5">
              <a:alpha val="40000"/>
            </a:srgbClr>
          </a:solidFill>
          <a:ln/>
        </p:spPr>
      </p:sp>
      <p:sp>
        <p:nvSpPr>
          <p:cNvPr id="44" name="Shape 42"/>
          <p:cNvSpPr/>
          <p:nvPr/>
        </p:nvSpPr>
        <p:spPr>
          <a:xfrm>
            <a:off x="16950513" y="4949928"/>
            <a:ext cx="285174" cy="11906"/>
          </a:xfrm>
          <a:prstGeom prst="rect">
            <a:avLst/>
          </a:prstGeom>
          <a:solidFill>
            <a:srgbClr val="F1EDE5">
              <a:alpha val="40000"/>
            </a:srgbClr>
          </a:solidFill>
          <a:ln/>
        </p:spPr>
      </p:sp>
      <p:sp>
        <p:nvSpPr>
          <p:cNvPr id="45" name="Shape 43"/>
          <p:cNvSpPr/>
          <p:nvPr/>
        </p:nvSpPr>
        <p:spPr>
          <a:xfrm>
            <a:off x="16950513" y="4949928"/>
            <a:ext cx="11906" cy="173197"/>
          </a:xfrm>
          <a:prstGeom prst="rect">
            <a:avLst/>
          </a:prstGeom>
          <a:solidFill>
            <a:srgbClr val="F1EDE5">
              <a:alpha val="40000"/>
            </a:srgbClr>
          </a:solidFill>
          <a:ln/>
        </p:spPr>
      </p:sp>
      <p:sp>
        <p:nvSpPr>
          <p:cNvPr id="46" name="Shape 44"/>
          <p:cNvSpPr/>
          <p:nvPr/>
        </p:nvSpPr>
        <p:spPr>
          <a:xfrm>
            <a:off x="17223781" y="4949928"/>
            <a:ext cx="11906" cy="173197"/>
          </a:xfrm>
          <a:prstGeom prst="rect">
            <a:avLst/>
          </a:prstGeom>
          <a:solidFill>
            <a:srgbClr val="F1EDE5">
              <a:alpha val="40000"/>
            </a:srgbClr>
          </a:solidFill>
          <a:ln/>
        </p:spPr>
      </p:sp>
      <p:sp>
        <p:nvSpPr>
          <p:cNvPr id="47" name="Shape 45"/>
          <p:cNvSpPr/>
          <p:nvPr/>
        </p:nvSpPr>
        <p:spPr>
          <a:xfrm>
            <a:off x="17365418" y="5153123"/>
            <a:ext cx="1263355" cy="11906"/>
          </a:xfrm>
          <a:prstGeom prst="rect">
            <a:avLst/>
          </a:prstGeom>
          <a:solidFill>
            <a:srgbClr val="F1EDE5">
              <a:alpha val="35000"/>
            </a:srgbClr>
          </a:solidFill>
          <a:ln/>
        </p:spPr>
      </p:sp>
      <p:sp>
        <p:nvSpPr>
          <p:cNvPr id="48" name="Shape 46"/>
          <p:cNvSpPr/>
          <p:nvPr/>
        </p:nvSpPr>
        <p:spPr>
          <a:xfrm>
            <a:off x="17365418" y="4467792"/>
            <a:ext cx="1263355" cy="11906"/>
          </a:xfrm>
          <a:prstGeom prst="rect">
            <a:avLst/>
          </a:prstGeom>
          <a:solidFill>
            <a:srgbClr val="F1EDE5">
              <a:alpha val="35000"/>
            </a:srgbClr>
          </a:solidFill>
          <a:ln/>
        </p:spPr>
      </p:sp>
      <p:sp>
        <p:nvSpPr>
          <p:cNvPr id="49" name="Shape 47"/>
          <p:cNvSpPr/>
          <p:nvPr/>
        </p:nvSpPr>
        <p:spPr>
          <a:xfrm>
            <a:off x="17365418" y="4467792"/>
            <a:ext cx="11906" cy="697238"/>
          </a:xfrm>
          <a:prstGeom prst="rect">
            <a:avLst/>
          </a:prstGeom>
          <a:solidFill>
            <a:srgbClr val="F1EDE5">
              <a:alpha val="35000"/>
            </a:srgbClr>
          </a:solidFill>
          <a:ln/>
        </p:spPr>
      </p:sp>
      <p:sp>
        <p:nvSpPr>
          <p:cNvPr id="50" name="Shape 48"/>
          <p:cNvSpPr/>
          <p:nvPr/>
        </p:nvSpPr>
        <p:spPr>
          <a:xfrm>
            <a:off x="18616867" y="4467792"/>
            <a:ext cx="11906" cy="697238"/>
          </a:xfrm>
          <a:prstGeom prst="rect">
            <a:avLst/>
          </a:prstGeom>
          <a:solidFill>
            <a:srgbClr val="F1EDE5">
              <a:alpha val="35000"/>
            </a:srgbClr>
          </a:solidFill>
          <a:ln/>
        </p:spPr>
      </p:sp>
      <p:sp>
        <p:nvSpPr>
          <p:cNvPr id="51" name="Shape 49"/>
          <p:cNvSpPr/>
          <p:nvPr/>
        </p:nvSpPr>
        <p:spPr>
          <a:xfrm>
            <a:off x="14007535" y="4217762"/>
            <a:ext cx="108645" cy="55086"/>
          </a:xfrm>
          <a:prstGeom prst="roundRect">
            <a:avLst>
              <a:gd name="adj" fmla="val 50000"/>
            </a:avLst>
          </a:prstGeom>
          <a:solidFill>
            <a:srgbClr val="E2A24F"/>
          </a:solidFill>
          <a:ln/>
        </p:spPr>
      </p:sp>
      <p:sp>
        <p:nvSpPr>
          <p:cNvPr id="52" name="Shape 50"/>
          <p:cNvSpPr/>
          <p:nvPr/>
        </p:nvSpPr>
        <p:spPr>
          <a:xfrm>
            <a:off x="14791755" y="4224324"/>
            <a:ext cx="109974" cy="55164"/>
          </a:xfrm>
          <a:prstGeom prst="roundRect">
            <a:avLst>
              <a:gd name="adj" fmla="val 50000"/>
            </a:avLst>
          </a:prstGeom>
          <a:solidFill>
            <a:srgbClr val="E2A24F"/>
          </a:solidFill>
          <a:ln/>
        </p:spPr>
      </p:sp>
      <p:sp>
        <p:nvSpPr>
          <p:cNvPr id="53" name="Shape 51"/>
          <p:cNvSpPr/>
          <p:nvPr/>
        </p:nvSpPr>
        <p:spPr>
          <a:xfrm>
            <a:off x="15360604" y="5028184"/>
            <a:ext cx="120573" cy="65220"/>
          </a:xfrm>
          <a:prstGeom prst="roundRect">
            <a:avLst>
              <a:gd name="adj" fmla="val 50000"/>
            </a:avLst>
          </a:prstGeom>
          <a:solidFill>
            <a:srgbClr val="E2A24F"/>
          </a:solidFill>
          <a:ln/>
        </p:spPr>
      </p:sp>
      <p:sp>
        <p:nvSpPr>
          <p:cNvPr id="54" name="Text 52"/>
          <p:cNvSpPr/>
          <p:nvPr/>
        </p:nvSpPr>
        <p:spPr>
          <a:xfrm>
            <a:off x="10001250" y="6282655"/>
            <a:ext cx="5494020" cy="1363662"/>
          </a:xfrm>
          <a:prstGeom prst="rect">
            <a:avLst/>
          </a:prstGeom>
          <a:noFill/>
          <a:ln/>
        </p:spPr>
        <p:txBody>
          <a:bodyPr wrap="square" lIns="25400" tIns="25400" rIns="25400" bIns="25400" rtlCol="0" anchor="t">
            <a:normAutofit/>
          </a:bodyPr>
          <a:lstStyle/>
          <a:p>
            <a:pPr algn="l" indent="0" marL="0">
              <a:lnSpc>
                <a:spcPct val="126545"/>
              </a:lnSpc>
              <a:buNone/>
            </a:pPr>
            <a:r>
              <a:rPr lang="en-US" sz="1800" dirty="0">
                <a:solidFill>
                  <a:srgbClr val="F1EDE5">
                    <a:alpha val="75000"/>
                  </a:srgbClr>
                </a:solidFill>
                <a:latin typeface="Arial" pitchFamily="34" charset="0"/>
                <a:ea typeface="Arial" pitchFamily="34" charset="-122"/>
                <a:cs typeface="Arial" pitchFamily="34" charset="-120"/>
              </a:rPr>
              <a:t>Marine ground, one block, 58° plane. Frontages, door openings, awnings, sidewalk vs street, interior light. People are amber points; a business is a place you can walk into.</a:t>
            </a:r>
            <a:endParaRPr lang="en-US" sz="1800" dirty="0"/>
          </a:p>
        </p:txBody>
      </p:sp>
      <p:sp>
        <p:nvSpPr>
          <p:cNvPr id="55" name="Text 53"/>
          <p:cNvSpPr/>
          <p:nvPr/>
        </p:nvSpPr>
        <p:spPr>
          <a:xfrm>
            <a:off x="10001250" y="7722505"/>
            <a:ext cx="5494020" cy="700881"/>
          </a:xfrm>
          <a:prstGeom prst="rect">
            <a:avLst/>
          </a:prstGeom>
          <a:noFill/>
          <a:ln/>
        </p:spPr>
        <p:txBody>
          <a:bodyPr wrap="square" lIns="25400" tIns="25400" rIns="25400" bIns="25400" rtlCol="0" anchor="t">
            <a:normAutofit/>
          </a:bodyPr>
          <a:lstStyle/>
          <a:p>
            <a:pPr algn="l" indent="0" marL="0">
              <a:lnSpc>
                <a:spcPct val="126545"/>
              </a:lnSpc>
              <a:buNone/>
            </a:pPr>
            <a:r>
              <a:rPr lang="en-US" sz="1800" dirty="0">
                <a:solidFill>
                  <a:srgbClr val="F1EDE5">
                    <a:alpha val="75000"/>
                  </a:srgbClr>
                </a:solidFill>
                <a:latin typeface="Arial" pitchFamily="34" charset="0"/>
                <a:ea typeface="Arial" pitchFamily="34" charset="-122"/>
                <a:cs typeface="Arial" pitchFamily="34" charset="-120"/>
              </a:rPr>
              <a:t>Tuesday morning on a real block, abstracted. Never a map, never a network diagram.</a:t>
            </a:r>
            <a:endParaRPr lang="en-US" sz="1800" dirty="0"/>
          </a:p>
        </p:txBody>
      </p:sp>
      <p:sp>
        <p:nvSpPr>
          <p:cNvPr id="56" name="Shape 54"/>
          <p:cNvSpPr/>
          <p:nvPr/>
        </p:nvSpPr>
        <p:spPr>
          <a:xfrm>
            <a:off x="10001250" y="8632899"/>
            <a:ext cx="587375" cy="358738"/>
          </a:xfrm>
          <a:prstGeom prst="rect">
            <a:avLst/>
          </a:prstGeom>
          <a:solidFill>
            <a:srgbClr val="0A1820"/>
          </a:solidFill>
          <a:ln w="7937">
            <a:solidFill>
              <a:srgbClr val="F1EDE5">
                <a:alpha val="20000"/>
              </a:srgbClr>
            </a:solidFill>
            <a:prstDash val="solid"/>
          </a:ln>
        </p:spPr>
      </p:sp>
      <p:sp>
        <p:nvSpPr>
          <p:cNvPr id="57" name="Shape 55"/>
          <p:cNvSpPr/>
          <p:nvPr/>
        </p:nvSpPr>
        <p:spPr>
          <a:xfrm>
            <a:off x="10683875" y="8632899"/>
            <a:ext cx="587375" cy="358738"/>
          </a:xfrm>
          <a:prstGeom prst="rect">
            <a:avLst/>
          </a:prstGeom>
          <a:solidFill>
            <a:srgbClr val="0F1C24"/>
          </a:solidFill>
          <a:ln w="7937">
            <a:solidFill>
              <a:srgbClr val="F1EDE5">
                <a:alpha val="20000"/>
              </a:srgbClr>
            </a:solidFill>
            <a:prstDash val="solid"/>
          </a:ln>
        </p:spPr>
      </p:sp>
      <p:sp>
        <p:nvSpPr>
          <p:cNvPr id="58" name="Shape 56"/>
          <p:cNvSpPr/>
          <p:nvPr/>
        </p:nvSpPr>
        <p:spPr>
          <a:xfrm>
            <a:off x="11366499" y="8632899"/>
            <a:ext cx="571500" cy="342863"/>
          </a:xfrm>
          <a:prstGeom prst="rect">
            <a:avLst/>
          </a:prstGeom>
          <a:solidFill>
            <a:srgbClr val="E2A24F"/>
          </a:solidFill>
          <a:ln/>
        </p:spPr>
      </p:sp>
      <p:sp>
        <p:nvSpPr>
          <p:cNvPr id="59" name="Shape 57"/>
          <p:cNvSpPr/>
          <p:nvPr/>
        </p:nvSpPr>
        <p:spPr>
          <a:xfrm>
            <a:off x="12033249" y="8632899"/>
            <a:ext cx="571500" cy="342863"/>
          </a:xfrm>
          <a:prstGeom prst="rect">
            <a:avLst/>
          </a:prstGeom>
          <a:solidFill>
            <a:srgbClr val="5FD6BB"/>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762000" y="571500"/>
            <a:ext cx="5476813" cy="335756"/>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17201F">
                    <a:alpha val="50000"/>
                  </a:srgbClr>
                </a:solidFill>
                <a:latin typeface="Courier New" pitchFamily="34" charset="0"/>
                <a:ea typeface="Courier New" pitchFamily="34" charset="-122"/>
                <a:cs typeface="Courier New" pitchFamily="34" charset="-120"/>
              </a:rPr>
              <a:t>MOTION SYSTEM · TWELVE PRINCIPLES</a:t>
            </a:r>
            <a:endParaRPr lang="en-US" sz="1800" dirty="0"/>
          </a:p>
        </p:txBody>
      </p:sp>
      <p:sp>
        <p:nvSpPr>
          <p:cNvPr id="3" name="Text 1"/>
          <p:cNvSpPr/>
          <p:nvPr/>
        </p:nvSpPr>
        <p:spPr>
          <a:xfrm>
            <a:off x="11943580" y="571500"/>
            <a:ext cx="6140660" cy="335756"/>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17201F">
                    <a:alpha val="50000"/>
                  </a:srgbClr>
                </a:solidFill>
                <a:latin typeface="Courier New" pitchFamily="34" charset="0"/>
                <a:ea typeface="Courier New" pitchFamily="34" charset="-122"/>
                <a:cs typeface="Courier New" pitchFamily="34" charset="-120"/>
              </a:rPr>
              <a:t>ONE PLANE BEZIER (.7,0,.2,1) · 76 BPM</a:t>
            </a:r>
            <a:endParaRPr lang="en-US" sz="1800" dirty="0"/>
          </a:p>
        </p:txBody>
      </p:sp>
      <p:sp>
        <p:nvSpPr>
          <p:cNvPr id="4" name="Shape 2"/>
          <p:cNvSpPr/>
          <p:nvPr/>
        </p:nvSpPr>
        <p:spPr>
          <a:xfrm>
            <a:off x="762000" y="1181075"/>
            <a:ext cx="16764000" cy="19038"/>
          </a:xfrm>
          <a:prstGeom prst="rect">
            <a:avLst/>
          </a:prstGeom>
          <a:solidFill>
            <a:srgbClr val="17201F">
              <a:alpha val="14000"/>
            </a:srgbClr>
          </a:solidFill>
          <a:ln/>
        </p:spPr>
      </p:sp>
      <p:sp>
        <p:nvSpPr>
          <p:cNvPr id="5" name="Shape 3"/>
          <p:cNvSpPr/>
          <p:nvPr/>
        </p:nvSpPr>
        <p:spPr>
          <a:xfrm>
            <a:off x="762000" y="1809750"/>
            <a:ext cx="3833812" cy="9525"/>
          </a:xfrm>
          <a:prstGeom prst="rect">
            <a:avLst/>
          </a:prstGeom>
          <a:solidFill>
            <a:srgbClr val="17201F">
              <a:alpha val="14000"/>
            </a:srgbClr>
          </a:solidFill>
          <a:ln/>
        </p:spPr>
      </p:sp>
      <p:sp>
        <p:nvSpPr>
          <p:cNvPr id="6" name="Text 4"/>
          <p:cNvSpPr/>
          <p:nvPr/>
        </p:nvSpPr>
        <p:spPr>
          <a:xfrm>
            <a:off x="762000" y="2065300"/>
            <a:ext cx="4217194" cy="552425"/>
          </a:xfrm>
          <a:prstGeom prst="rect">
            <a:avLst/>
          </a:prstGeom>
          <a:noFill/>
          <a:ln/>
        </p:spPr>
        <p:txBody>
          <a:bodyPr wrap="square" lIns="25400" tIns="25400" rIns="25400" bIns="25400" rtlCol="0" anchor="t">
            <a:normAutofit/>
          </a:bodyPr>
          <a:lstStyle/>
          <a:p>
            <a:pPr algn="l" indent="0" marL="0">
              <a:lnSpc>
                <a:spcPct val="87568"/>
              </a:lnSpc>
              <a:buNone/>
            </a:pPr>
            <a:r>
              <a:rPr lang="en-US" sz="4050" spc="-122" kern="0" dirty="0">
                <a:solidFill>
                  <a:srgbClr val="17201F"/>
                </a:solidFill>
                <a:latin typeface="Arial" pitchFamily="34" charset="0"/>
                <a:ea typeface="Arial" pitchFamily="34" charset="-122"/>
                <a:cs typeface="Arial" pitchFamily="34" charset="-120"/>
              </a:rPr>
              <a:t>Interpret</a:t>
            </a:r>
            <a:endParaRPr lang="en-US" sz="4050" dirty="0"/>
          </a:p>
        </p:txBody>
      </p:sp>
      <p:sp>
        <p:nvSpPr>
          <p:cNvPr id="7" name="Text 5"/>
          <p:cNvSpPr/>
          <p:nvPr/>
        </p:nvSpPr>
        <p:spPr>
          <a:xfrm>
            <a:off x="762000" y="2674875"/>
            <a:ext cx="3948827" cy="678061"/>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17201F">
                    <a:alpha val="70000"/>
                  </a:srgbClr>
                </a:solidFill>
                <a:latin typeface="Arial" pitchFamily="34" charset="0"/>
                <a:ea typeface="Arial" pitchFamily="34" charset="-122"/>
                <a:cs typeface="Arial" pitchFamily="34" charset="-120"/>
              </a:rPr>
              <a:t>Words are re-set, never replaced. Meaning becomes space.</a:t>
            </a:r>
            <a:endParaRPr lang="en-US" sz="1800" dirty="0"/>
          </a:p>
        </p:txBody>
      </p:sp>
      <p:sp>
        <p:nvSpPr>
          <p:cNvPr id="8" name="Shape 6"/>
          <p:cNvSpPr/>
          <p:nvPr/>
        </p:nvSpPr>
        <p:spPr>
          <a:xfrm>
            <a:off x="5072063" y="1809750"/>
            <a:ext cx="3833812" cy="9525"/>
          </a:xfrm>
          <a:prstGeom prst="rect">
            <a:avLst/>
          </a:prstGeom>
          <a:solidFill>
            <a:srgbClr val="17201F">
              <a:alpha val="14000"/>
            </a:srgbClr>
          </a:solidFill>
          <a:ln/>
        </p:spPr>
      </p:sp>
      <p:sp>
        <p:nvSpPr>
          <p:cNvPr id="9" name="Text 7"/>
          <p:cNvSpPr/>
          <p:nvPr/>
        </p:nvSpPr>
        <p:spPr>
          <a:xfrm>
            <a:off x="5072063" y="2065300"/>
            <a:ext cx="4217194" cy="552425"/>
          </a:xfrm>
          <a:prstGeom prst="rect">
            <a:avLst/>
          </a:prstGeom>
          <a:noFill/>
          <a:ln/>
        </p:spPr>
        <p:txBody>
          <a:bodyPr wrap="square" lIns="25400" tIns="25400" rIns="25400" bIns="25400" rtlCol="0" anchor="t">
            <a:normAutofit/>
          </a:bodyPr>
          <a:lstStyle/>
          <a:p>
            <a:pPr algn="l" indent="0" marL="0">
              <a:lnSpc>
                <a:spcPct val="87568"/>
              </a:lnSpc>
              <a:buNone/>
            </a:pPr>
            <a:r>
              <a:rPr lang="en-US" sz="4050" spc="-122" kern="0" dirty="0">
                <a:solidFill>
                  <a:srgbClr val="17201F"/>
                </a:solidFill>
                <a:latin typeface="Arial" pitchFamily="34" charset="0"/>
                <a:ea typeface="Arial" pitchFamily="34" charset="-122"/>
                <a:cs typeface="Arial" pitchFamily="34" charset="-120"/>
              </a:rPr>
              <a:t>Assemble</a:t>
            </a:r>
            <a:endParaRPr lang="en-US" sz="4050" dirty="0"/>
          </a:p>
        </p:txBody>
      </p:sp>
      <p:sp>
        <p:nvSpPr>
          <p:cNvPr id="10" name="Text 8"/>
          <p:cNvSpPr/>
          <p:nvPr/>
        </p:nvSpPr>
        <p:spPr>
          <a:xfrm>
            <a:off x="5072063" y="2674875"/>
            <a:ext cx="3948827" cy="678061"/>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17201F">
                    <a:alpha val="70000"/>
                  </a:srgbClr>
                </a:solidFill>
                <a:latin typeface="Arial" pitchFamily="34" charset="0"/>
                <a:ea typeface="Arial" pitchFamily="34" charset="-122"/>
                <a:cs typeface="Arial" pitchFamily="34" charset="-120"/>
              </a:rPr>
              <a:t>Nothing new appears. Context reorganises into one plan.</a:t>
            </a:r>
            <a:endParaRPr lang="en-US" sz="1800" dirty="0"/>
          </a:p>
        </p:txBody>
      </p:sp>
      <p:sp>
        <p:nvSpPr>
          <p:cNvPr id="11" name="Shape 9"/>
          <p:cNvSpPr/>
          <p:nvPr/>
        </p:nvSpPr>
        <p:spPr>
          <a:xfrm>
            <a:off x="9382125" y="1809750"/>
            <a:ext cx="3833812" cy="9525"/>
          </a:xfrm>
          <a:prstGeom prst="rect">
            <a:avLst/>
          </a:prstGeom>
          <a:solidFill>
            <a:srgbClr val="17201F">
              <a:alpha val="14000"/>
            </a:srgbClr>
          </a:solidFill>
          <a:ln/>
        </p:spPr>
      </p:sp>
      <p:sp>
        <p:nvSpPr>
          <p:cNvPr id="12" name="Text 10"/>
          <p:cNvSpPr/>
          <p:nvPr/>
        </p:nvSpPr>
        <p:spPr>
          <a:xfrm>
            <a:off x="9382125" y="2065300"/>
            <a:ext cx="4217194" cy="552425"/>
          </a:xfrm>
          <a:prstGeom prst="rect">
            <a:avLst/>
          </a:prstGeom>
          <a:noFill/>
          <a:ln/>
        </p:spPr>
        <p:txBody>
          <a:bodyPr wrap="square" lIns="25400" tIns="25400" rIns="25400" bIns="25400" rtlCol="0" anchor="t">
            <a:normAutofit/>
          </a:bodyPr>
          <a:lstStyle/>
          <a:p>
            <a:pPr algn="l" indent="0" marL="0">
              <a:lnSpc>
                <a:spcPct val="87568"/>
              </a:lnSpc>
              <a:buNone/>
            </a:pPr>
            <a:r>
              <a:rPr lang="en-US" sz="4050" spc="-122" kern="0" dirty="0">
                <a:solidFill>
                  <a:srgbClr val="17201F"/>
                </a:solidFill>
                <a:latin typeface="Arial" pitchFamily="34" charset="0"/>
                <a:ea typeface="Arial" pitchFamily="34" charset="-122"/>
                <a:cs typeface="Arial" pitchFamily="34" charset="-120"/>
              </a:rPr>
              <a:t>Approve</a:t>
            </a:r>
            <a:endParaRPr lang="en-US" sz="4050" dirty="0"/>
          </a:p>
        </p:txBody>
      </p:sp>
      <p:sp>
        <p:nvSpPr>
          <p:cNvPr id="13" name="Text 11"/>
          <p:cNvSpPr/>
          <p:nvPr/>
        </p:nvSpPr>
        <p:spPr>
          <a:xfrm>
            <a:off x="9382125" y="2674875"/>
            <a:ext cx="3948827" cy="678061"/>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17201F">
                    <a:alpha val="70000"/>
                  </a:srgbClr>
                </a:solidFill>
                <a:latin typeface="Arial" pitchFamily="34" charset="0"/>
                <a:ea typeface="Arial" pitchFamily="34" charset="-122"/>
                <a:cs typeface="Arial" pitchFamily="34" charset="-120"/>
              </a:rPr>
              <a:t>A press, then mint, then collapse into a line.</a:t>
            </a:r>
            <a:endParaRPr lang="en-US" sz="1800" dirty="0"/>
          </a:p>
        </p:txBody>
      </p:sp>
      <p:sp>
        <p:nvSpPr>
          <p:cNvPr id="14" name="Shape 12"/>
          <p:cNvSpPr/>
          <p:nvPr/>
        </p:nvSpPr>
        <p:spPr>
          <a:xfrm>
            <a:off x="13692188" y="1809750"/>
            <a:ext cx="3833812" cy="9525"/>
          </a:xfrm>
          <a:prstGeom prst="rect">
            <a:avLst/>
          </a:prstGeom>
          <a:solidFill>
            <a:srgbClr val="17201F">
              <a:alpha val="14000"/>
            </a:srgbClr>
          </a:solidFill>
          <a:ln/>
        </p:spPr>
      </p:sp>
      <p:sp>
        <p:nvSpPr>
          <p:cNvPr id="15" name="Text 13"/>
          <p:cNvSpPr/>
          <p:nvPr/>
        </p:nvSpPr>
        <p:spPr>
          <a:xfrm>
            <a:off x="13692188" y="2065300"/>
            <a:ext cx="4217194" cy="552425"/>
          </a:xfrm>
          <a:prstGeom prst="rect">
            <a:avLst/>
          </a:prstGeom>
          <a:noFill/>
          <a:ln/>
        </p:spPr>
        <p:txBody>
          <a:bodyPr wrap="square" lIns="25400" tIns="25400" rIns="25400" bIns="25400" rtlCol="0" anchor="t">
            <a:normAutofit/>
          </a:bodyPr>
          <a:lstStyle/>
          <a:p>
            <a:pPr algn="l" indent="0" marL="0">
              <a:lnSpc>
                <a:spcPct val="87568"/>
              </a:lnSpc>
              <a:buNone/>
            </a:pPr>
            <a:r>
              <a:rPr lang="en-US" sz="4050" spc="-122" kern="0" dirty="0">
                <a:solidFill>
                  <a:srgbClr val="17201F"/>
                </a:solidFill>
                <a:latin typeface="Arial" pitchFamily="34" charset="0"/>
                <a:ea typeface="Arial" pitchFamily="34" charset="-122"/>
                <a:cs typeface="Arial" pitchFamily="34" charset="-120"/>
              </a:rPr>
              <a:t>Distribute</a:t>
            </a:r>
            <a:endParaRPr lang="en-US" sz="4050" dirty="0"/>
          </a:p>
        </p:txBody>
      </p:sp>
      <p:sp>
        <p:nvSpPr>
          <p:cNvPr id="16" name="Text 14"/>
          <p:cNvSpPr/>
          <p:nvPr/>
        </p:nvSpPr>
        <p:spPr>
          <a:xfrm>
            <a:off x="13692188" y="2674875"/>
            <a:ext cx="3948827" cy="998041"/>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17201F">
                    <a:alpha val="70000"/>
                  </a:srgbClr>
                </a:solidFill>
                <a:latin typeface="Arial" pitchFamily="34" charset="0"/>
                <a:ea typeface="Arial" pitchFamily="34" charset="-122"/>
                <a:cs typeface="Arial" pitchFamily="34" charset="-120"/>
              </a:rPr>
              <a:t>One line enters the block and branches only where a channel exists.</a:t>
            </a:r>
            <a:endParaRPr lang="en-US" sz="1800" dirty="0"/>
          </a:p>
        </p:txBody>
      </p:sp>
      <p:sp>
        <p:nvSpPr>
          <p:cNvPr id="17" name="Shape 15"/>
          <p:cNvSpPr/>
          <p:nvPr/>
        </p:nvSpPr>
        <p:spPr>
          <a:xfrm>
            <a:off x="762000" y="3920567"/>
            <a:ext cx="3833812" cy="9525"/>
          </a:xfrm>
          <a:prstGeom prst="rect">
            <a:avLst/>
          </a:prstGeom>
          <a:solidFill>
            <a:srgbClr val="17201F">
              <a:alpha val="14000"/>
            </a:srgbClr>
          </a:solidFill>
          <a:ln/>
        </p:spPr>
      </p:sp>
      <p:sp>
        <p:nvSpPr>
          <p:cNvPr id="18" name="Text 16"/>
          <p:cNvSpPr/>
          <p:nvPr/>
        </p:nvSpPr>
        <p:spPr>
          <a:xfrm>
            <a:off x="762000" y="4176117"/>
            <a:ext cx="4217194" cy="552425"/>
          </a:xfrm>
          <a:prstGeom prst="rect">
            <a:avLst/>
          </a:prstGeom>
          <a:noFill/>
          <a:ln/>
        </p:spPr>
        <p:txBody>
          <a:bodyPr wrap="square" lIns="25400" tIns="25400" rIns="25400" bIns="25400" rtlCol="0" anchor="t">
            <a:normAutofit/>
          </a:bodyPr>
          <a:lstStyle/>
          <a:p>
            <a:pPr algn="l" indent="0" marL="0">
              <a:lnSpc>
                <a:spcPct val="87568"/>
              </a:lnSpc>
              <a:buNone/>
            </a:pPr>
            <a:r>
              <a:rPr lang="en-US" sz="4050" spc="-122" kern="0" dirty="0">
                <a:solidFill>
                  <a:srgbClr val="17201F"/>
                </a:solidFill>
                <a:latin typeface="Arial" pitchFamily="34" charset="0"/>
                <a:ea typeface="Arial" pitchFamily="34" charset="-122"/>
                <a:cs typeface="Arial" pitchFamily="34" charset="-120"/>
              </a:rPr>
              <a:t>Connect</a:t>
            </a:r>
            <a:endParaRPr lang="en-US" sz="4050" dirty="0"/>
          </a:p>
        </p:txBody>
      </p:sp>
      <p:sp>
        <p:nvSpPr>
          <p:cNvPr id="19" name="Text 17"/>
          <p:cNvSpPr/>
          <p:nvPr/>
        </p:nvSpPr>
        <p:spPr>
          <a:xfrm>
            <a:off x="762000" y="4785692"/>
            <a:ext cx="3948827" cy="678061"/>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17201F">
                    <a:alpha val="70000"/>
                  </a:srgbClr>
                </a:solidFill>
                <a:latin typeface="Arial" pitchFamily="34" charset="0"/>
                <a:ea typeface="Arial" pitchFamily="34" charset="-122"/>
                <a:cs typeface="Arial" pitchFamily="34" charset="-120"/>
              </a:rPr>
              <a:t>A screen state or a text collapses into the same Offer object.</a:t>
            </a:r>
            <a:endParaRPr lang="en-US" sz="1800" dirty="0"/>
          </a:p>
        </p:txBody>
      </p:sp>
      <p:sp>
        <p:nvSpPr>
          <p:cNvPr id="20" name="Shape 18"/>
          <p:cNvSpPr/>
          <p:nvPr/>
        </p:nvSpPr>
        <p:spPr>
          <a:xfrm>
            <a:off x="5072063" y="3920567"/>
            <a:ext cx="3833812" cy="9525"/>
          </a:xfrm>
          <a:prstGeom prst="rect">
            <a:avLst/>
          </a:prstGeom>
          <a:solidFill>
            <a:srgbClr val="17201F">
              <a:alpha val="14000"/>
            </a:srgbClr>
          </a:solidFill>
          <a:ln/>
        </p:spPr>
      </p:sp>
      <p:sp>
        <p:nvSpPr>
          <p:cNvPr id="21" name="Text 19"/>
          <p:cNvSpPr/>
          <p:nvPr/>
        </p:nvSpPr>
        <p:spPr>
          <a:xfrm>
            <a:off x="5072063" y="4176117"/>
            <a:ext cx="4217194" cy="552425"/>
          </a:xfrm>
          <a:prstGeom prst="rect">
            <a:avLst/>
          </a:prstGeom>
          <a:noFill/>
          <a:ln/>
        </p:spPr>
        <p:txBody>
          <a:bodyPr wrap="square" lIns="25400" tIns="25400" rIns="25400" bIns="25400" rtlCol="0" anchor="t">
            <a:normAutofit/>
          </a:bodyPr>
          <a:lstStyle/>
          <a:p>
            <a:pPr algn="l" indent="0" marL="0">
              <a:lnSpc>
                <a:spcPct val="87568"/>
              </a:lnSpc>
              <a:buNone/>
            </a:pPr>
            <a:r>
              <a:rPr lang="en-US" sz="4050" spc="-122" kern="0" dirty="0">
                <a:solidFill>
                  <a:srgbClr val="17201F"/>
                </a:solidFill>
                <a:latin typeface="Arial" pitchFamily="34" charset="0"/>
                <a:ea typeface="Arial" pitchFamily="34" charset="-122"/>
                <a:cs typeface="Arial" pitchFamily="34" charset="-120"/>
              </a:rPr>
              <a:t>Communicate</a:t>
            </a:r>
            <a:endParaRPr lang="en-US" sz="4050" dirty="0"/>
          </a:p>
        </p:txBody>
      </p:sp>
      <p:sp>
        <p:nvSpPr>
          <p:cNvPr id="22" name="Text 20"/>
          <p:cNvSpPr/>
          <p:nvPr/>
        </p:nvSpPr>
        <p:spPr>
          <a:xfrm>
            <a:off x="5072063" y="4785692"/>
            <a:ext cx="3948827" cy="678061"/>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17201F">
                    <a:alpha val="70000"/>
                  </a:srgbClr>
                </a:solidFill>
                <a:latin typeface="Arial" pitchFamily="34" charset="0"/>
                <a:ea typeface="Arial" pitchFamily="34" charset="-122"/>
                <a:cs typeface="Arial" pitchFamily="34" charset="-120"/>
              </a:rPr>
              <a:t>A person is a point; a message is that point stood upright.</a:t>
            </a:r>
            <a:endParaRPr lang="en-US" sz="1800" dirty="0"/>
          </a:p>
        </p:txBody>
      </p:sp>
      <p:sp>
        <p:nvSpPr>
          <p:cNvPr id="23" name="Shape 21"/>
          <p:cNvSpPr/>
          <p:nvPr/>
        </p:nvSpPr>
        <p:spPr>
          <a:xfrm>
            <a:off x="9382125" y="3920567"/>
            <a:ext cx="3833812" cy="9525"/>
          </a:xfrm>
          <a:prstGeom prst="rect">
            <a:avLst/>
          </a:prstGeom>
          <a:solidFill>
            <a:srgbClr val="17201F">
              <a:alpha val="14000"/>
            </a:srgbClr>
          </a:solidFill>
          <a:ln/>
        </p:spPr>
      </p:sp>
      <p:sp>
        <p:nvSpPr>
          <p:cNvPr id="24" name="Text 22"/>
          <p:cNvSpPr/>
          <p:nvPr/>
        </p:nvSpPr>
        <p:spPr>
          <a:xfrm>
            <a:off x="9382125" y="4176117"/>
            <a:ext cx="4217194" cy="552425"/>
          </a:xfrm>
          <a:prstGeom prst="rect">
            <a:avLst/>
          </a:prstGeom>
          <a:noFill/>
          <a:ln/>
        </p:spPr>
        <p:txBody>
          <a:bodyPr wrap="square" lIns="25400" tIns="25400" rIns="25400" bIns="25400" rtlCol="0" anchor="t">
            <a:normAutofit/>
          </a:bodyPr>
          <a:lstStyle/>
          <a:p>
            <a:pPr algn="l" indent="0" marL="0">
              <a:lnSpc>
                <a:spcPct val="87568"/>
              </a:lnSpc>
              <a:buNone/>
            </a:pPr>
            <a:r>
              <a:rPr lang="en-US" sz="4050" spc="-122" kern="0" dirty="0">
                <a:solidFill>
                  <a:srgbClr val="17201F"/>
                </a:solidFill>
                <a:latin typeface="Arial" pitchFamily="34" charset="0"/>
                <a:ea typeface="Arial" pitchFamily="34" charset="-122"/>
                <a:cs typeface="Arial" pitchFamily="34" charset="-120"/>
              </a:rPr>
              <a:t>Ground</a:t>
            </a:r>
            <a:endParaRPr lang="en-US" sz="4050" dirty="0"/>
          </a:p>
        </p:txBody>
      </p:sp>
      <p:sp>
        <p:nvSpPr>
          <p:cNvPr id="25" name="Text 23"/>
          <p:cNvSpPr/>
          <p:nvPr/>
        </p:nvSpPr>
        <p:spPr>
          <a:xfrm>
            <a:off x="9382125" y="4785692"/>
            <a:ext cx="3948827" cy="678061"/>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17201F">
                    <a:alpha val="70000"/>
                  </a:srgbClr>
                </a:solidFill>
                <a:latin typeface="Arial" pitchFamily="34" charset="0"/>
                <a:ea typeface="Arial" pitchFamily="34" charset="-122"/>
                <a:cs typeface="Arial" pitchFamily="34" charset="-120"/>
              </a:rPr>
              <a:t>An approved fact lifts off the plan and becomes the answer.</a:t>
            </a:r>
            <a:endParaRPr lang="en-US" sz="1800" dirty="0"/>
          </a:p>
        </p:txBody>
      </p:sp>
      <p:sp>
        <p:nvSpPr>
          <p:cNvPr id="26" name="Shape 24"/>
          <p:cNvSpPr/>
          <p:nvPr/>
        </p:nvSpPr>
        <p:spPr>
          <a:xfrm>
            <a:off x="13692188" y="3920567"/>
            <a:ext cx="3833812" cy="9525"/>
          </a:xfrm>
          <a:prstGeom prst="rect">
            <a:avLst/>
          </a:prstGeom>
          <a:solidFill>
            <a:srgbClr val="17201F">
              <a:alpha val="14000"/>
            </a:srgbClr>
          </a:solidFill>
          <a:ln/>
        </p:spPr>
      </p:sp>
      <p:sp>
        <p:nvSpPr>
          <p:cNvPr id="27" name="Text 25"/>
          <p:cNvSpPr/>
          <p:nvPr/>
        </p:nvSpPr>
        <p:spPr>
          <a:xfrm>
            <a:off x="13692188" y="4176117"/>
            <a:ext cx="4217194" cy="552425"/>
          </a:xfrm>
          <a:prstGeom prst="rect">
            <a:avLst/>
          </a:prstGeom>
          <a:noFill/>
          <a:ln/>
        </p:spPr>
        <p:txBody>
          <a:bodyPr wrap="square" lIns="25400" tIns="25400" rIns="25400" bIns="25400" rtlCol="0" anchor="t">
            <a:normAutofit/>
          </a:bodyPr>
          <a:lstStyle/>
          <a:p>
            <a:pPr algn="l" indent="0" marL="0">
              <a:lnSpc>
                <a:spcPct val="87568"/>
              </a:lnSpc>
              <a:buNone/>
            </a:pPr>
            <a:r>
              <a:rPr lang="en-US" sz="4050" spc="-122" kern="0" dirty="0">
                <a:solidFill>
                  <a:srgbClr val="17201F"/>
                </a:solidFill>
                <a:latin typeface="Arial" pitchFamily="34" charset="0"/>
                <a:ea typeface="Arial" pitchFamily="34" charset="-122"/>
                <a:cs typeface="Arial" pitchFamily="34" charset="-120"/>
              </a:rPr>
              <a:t>Transform</a:t>
            </a:r>
            <a:endParaRPr lang="en-US" sz="4050" dirty="0"/>
          </a:p>
        </p:txBody>
      </p:sp>
      <p:sp>
        <p:nvSpPr>
          <p:cNvPr id="28" name="Text 26"/>
          <p:cNvSpPr/>
          <p:nvPr/>
        </p:nvSpPr>
        <p:spPr>
          <a:xfrm>
            <a:off x="13692188" y="4785692"/>
            <a:ext cx="3948827" cy="678061"/>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17201F">
                    <a:alpha val="70000"/>
                  </a:srgbClr>
                </a:solidFill>
                <a:latin typeface="Arial" pitchFamily="34" charset="0"/>
                <a:ea typeface="Arial" pitchFamily="34" charset="-122"/>
                <a:cs typeface="Arial" pitchFamily="34" charset="-120"/>
              </a:rPr>
              <a:t>Message, offer and pass are one slab at different sizes.</a:t>
            </a:r>
            <a:endParaRPr lang="en-US" sz="1800" dirty="0"/>
          </a:p>
        </p:txBody>
      </p:sp>
      <p:sp>
        <p:nvSpPr>
          <p:cNvPr id="29" name="Shape 27"/>
          <p:cNvSpPr/>
          <p:nvPr/>
        </p:nvSpPr>
        <p:spPr>
          <a:xfrm>
            <a:off x="762000" y="5711403"/>
            <a:ext cx="3833812" cy="9525"/>
          </a:xfrm>
          <a:prstGeom prst="rect">
            <a:avLst/>
          </a:prstGeom>
          <a:solidFill>
            <a:srgbClr val="17201F">
              <a:alpha val="14000"/>
            </a:srgbClr>
          </a:solidFill>
          <a:ln/>
        </p:spPr>
      </p:sp>
      <p:sp>
        <p:nvSpPr>
          <p:cNvPr id="30" name="Text 28"/>
          <p:cNvSpPr/>
          <p:nvPr/>
        </p:nvSpPr>
        <p:spPr>
          <a:xfrm>
            <a:off x="762000" y="5966953"/>
            <a:ext cx="4217194" cy="552425"/>
          </a:xfrm>
          <a:prstGeom prst="rect">
            <a:avLst/>
          </a:prstGeom>
          <a:noFill/>
          <a:ln/>
        </p:spPr>
        <p:txBody>
          <a:bodyPr wrap="square" lIns="25400" tIns="25400" rIns="25400" bIns="25400" rtlCol="0" anchor="t">
            <a:normAutofit/>
          </a:bodyPr>
          <a:lstStyle/>
          <a:p>
            <a:pPr algn="l" indent="0" marL="0">
              <a:lnSpc>
                <a:spcPct val="87568"/>
              </a:lnSpc>
              <a:buNone/>
            </a:pPr>
            <a:r>
              <a:rPr lang="en-US" sz="4050" spc="-122" kern="0" dirty="0">
                <a:solidFill>
                  <a:srgbClr val="17201F"/>
                </a:solidFill>
                <a:latin typeface="Arial" pitchFamily="34" charset="0"/>
                <a:ea typeface="Arial" pitchFamily="34" charset="-122"/>
                <a:cs typeface="Arial" pitchFamily="34" charset="-120"/>
              </a:rPr>
              <a:t>Redeem</a:t>
            </a:r>
            <a:endParaRPr lang="en-US" sz="4050" dirty="0"/>
          </a:p>
        </p:txBody>
      </p:sp>
      <p:sp>
        <p:nvSpPr>
          <p:cNvPr id="31" name="Text 29"/>
          <p:cNvSpPr/>
          <p:nvPr/>
        </p:nvSpPr>
        <p:spPr>
          <a:xfrm>
            <a:off x="762000" y="6576529"/>
            <a:ext cx="3948827" cy="678061"/>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17201F">
                    <a:alpha val="70000"/>
                  </a:srgbClr>
                </a:solidFill>
                <a:latin typeface="Arial" pitchFamily="34" charset="0"/>
                <a:ea typeface="Arial" pitchFamily="34" charset="-122"/>
                <a:cs typeface="Arial" pitchFamily="34" charset="-120"/>
              </a:rPr>
              <a:t>A mint sweep, top to bottom, once, at a real counter.</a:t>
            </a:r>
            <a:endParaRPr lang="en-US" sz="1800" dirty="0"/>
          </a:p>
        </p:txBody>
      </p:sp>
      <p:sp>
        <p:nvSpPr>
          <p:cNvPr id="32" name="Shape 30"/>
          <p:cNvSpPr/>
          <p:nvPr/>
        </p:nvSpPr>
        <p:spPr>
          <a:xfrm>
            <a:off x="5072063" y="5711403"/>
            <a:ext cx="3833812" cy="9525"/>
          </a:xfrm>
          <a:prstGeom prst="rect">
            <a:avLst/>
          </a:prstGeom>
          <a:solidFill>
            <a:srgbClr val="17201F">
              <a:alpha val="14000"/>
            </a:srgbClr>
          </a:solidFill>
          <a:ln/>
        </p:spPr>
      </p:sp>
      <p:sp>
        <p:nvSpPr>
          <p:cNvPr id="33" name="Text 31"/>
          <p:cNvSpPr/>
          <p:nvPr/>
        </p:nvSpPr>
        <p:spPr>
          <a:xfrm>
            <a:off x="5072063" y="5966953"/>
            <a:ext cx="4217194" cy="552425"/>
          </a:xfrm>
          <a:prstGeom prst="rect">
            <a:avLst/>
          </a:prstGeom>
          <a:noFill/>
          <a:ln/>
        </p:spPr>
        <p:txBody>
          <a:bodyPr wrap="square" lIns="25400" tIns="25400" rIns="25400" bIns="25400" rtlCol="0" anchor="t">
            <a:normAutofit/>
          </a:bodyPr>
          <a:lstStyle/>
          <a:p>
            <a:pPr algn="l" indent="0" marL="0">
              <a:lnSpc>
                <a:spcPct val="87568"/>
              </a:lnSpc>
              <a:buNone/>
            </a:pPr>
            <a:r>
              <a:rPr lang="en-US" sz="4050" spc="-122" kern="0" dirty="0">
                <a:solidFill>
                  <a:srgbClr val="17201F"/>
                </a:solidFill>
                <a:latin typeface="Arial" pitchFamily="34" charset="0"/>
                <a:ea typeface="Arial" pitchFamily="34" charset="-122"/>
                <a:cs typeface="Arial" pitchFamily="34" charset="-120"/>
              </a:rPr>
              <a:t>Return</a:t>
            </a:r>
            <a:endParaRPr lang="en-US" sz="4050" dirty="0"/>
          </a:p>
        </p:txBody>
      </p:sp>
      <p:sp>
        <p:nvSpPr>
          <p:cNvPr id="34" name="Text 32"/>
          <p:cNvSpPr/>
          <p:nvPr/>
        </p:nvSpPr>
        <p:spPr>
          <a:xfrm>
            <a:off x="5072063" y="6576529"/>
            <a:ext cx="3948827" cy="678061"/>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17201F">
                    <a:alpha val="70000"/>
                  </a:srgbClr>
                </a:solidFill>
                <a:latin typeface="Arial" pitchFamily="34" charset="0"/>
                <a:ea typeface="Arial" pitchFamily="34" charset="-122"/>
                <a:cs typeface="Arial" pitchFamily="34" charset="-120"/>
              </a:rPr>
              <a:t>The event drops through the door and becomes a person inside.</a:t>
            </a:r>
            <a:endParaRPr lang="en-US" sz="1800" dirty="0"/>
          </a:p>
        </p:txBody>
      </p:sp>
      <p:sp>
        <p:nvSpPr>
          <p:cNvPr id="35" name="Shape 33"/>
          <p:cNvSpPr/>
          <p:nvPr/>
        </p:nvSpPr>
        <p:spPr>
          <a:xfrm>
            <a:off x="9382125" y="5711403"/>
            <a:ext cx="3833812" cy="9525"/>
          </a:xfrm>
          <a:prstGeom prst="rect">
            <a:avLst/>
          </a:prstGeom>
          <a:solidFill>
            <a:srgbClr val="17201F">
              <a:alpha val="14000"/>
            </a:srgbClr>
          </a:solidFill>
          <a:ln/>
        </p:spPr>
      </p:sp>
      <p:sp>
        <p:nvSpPr>
          <p:cNvPr id="36" name="Text 34"/>
          <p:cNvSpPr/>
          <p:nvPr/>
        </p:nvSpPr>
        <p:spPr>
          <a:xfrm>
            <a:off x="9382125" y="5966953"/>
            <a:ext cx="4217194" cy="552425"/>
          </a:xfrm>
          <a:prstGeom prst="rect">
            <a:avLst/>
          </a:prstGeom>
          <a:noFill/>
          <a:ln/>
        </p:spPr>
        <p:txBody>
          <a:bodyPr wrap="square" lIns="25400" tIns="25400" rIns="25400" bIns="25400" rtlCol="0" anchor="t">
            <a:normAutofit/>
          </a:bodyPr>
          <a:lstStyle/>
          <a:p>
            <a:pPr algn="l" indent="0" marL="0">
              <a:lnSpc>
                <a:spcPct val="87568"/>
              </a:lnSpc>
              <a:buNone/>
            </a:pPr>
            <a:r>
              <a:rPr lang="en-US" sz="4050" spc="-122" kern="0" dirty="0">
                <a:solidFill>
                  <a:srgbClr val="17201F"/>
                </a:solidFill>
                <a:latin typeface="Arial" pitchFamily="34" charset="0"/>
                <a:ea typeface="Arial" pitchFamily="34" charset="-122"/>
                <a:cs typeface="Arial" pitchFamily="34" charset="-120"/>
              </a:rPr>
              <a:t>Count</a:t>
            </a:r>
            <a:endParaRPr lang="en-US" sz="4050" dirty="0"/>
          </a:p>
        </p:txBody>
      </p:sp>
      <p:sp>
        <p:nvSpPr>
          <p:cNvPr id="37" name="Text 35"/>
          <p:cNvSpPr/>
          <p:nvPr/>
        </p:nvSpPr>
        <p:spPr>
          <a:xfrm>
            <a:off x="9382125" y="6576529"/>
            <a:ext cx="3948827" cy="998041"/>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17201F">
                    <a:alpha val="70000"/>
                  </a:srgbClr>
                </a:solidFill>
                <a:latin typeface="Arial" pitchFamily="34" charset="0"/>
                <a:ea typeface="Arial" pitchFamily="34" charset="-122"/>
                <a:cs typeface="Arial" pitchFamily="34" charset="-120"/>
              </a:rPr>
              <a:t>Numbers are typeset, then step. Never spin. Always the frame-01 position.</a:t>
            </a:r>
            <a:endParaRPr lang="en-US" sz="1800" dirty="0"/>
          </a:p>
        </p:txBody>
      </p:sp>
      <p:sp>
        <p:nvSpPr>
          <p:cNvPr id="38" name="Shape 36"/>
          <p:cNvSpPr/>
          <p:nvPr/>
        </p:nvSpPr>
        <p:spPr>
          <a:xfrm>
            <a:off x="13692188" y="5711403"/>
            <a:ext cx="3833812" cy="9525"/>
          </a:xfrm>
          <a:prstGeom prst="rect">
            <a:avLst/>
          </a:prstGeom>
          <a:solidFill>
            <a:srgbClr val="17201F">
              <a:alpha val="14000"/>
            </a:srgbClr>
          </a:solidFill>
          <a:ln/>
        </p:spPr>
      </p:sp>
      <p:sp>
        <p:nvSpPr>
          <p:cNvPr id="39" name="Text 37"/>
          <p:cNvSpPr/>
          <p:nvPr/>
        </p:nvSpPr>
        <p:spPr>
          <a:xfrm>
            <a:off x="13692188" y="5966953"/>
            <a:ext cx="4217194" cy="552425"/>
          </a:xfrm>
          <a:prstGeom prst="rect">
            <a:avLst/>
          </a:prstGeom>
          <a:noFill/>
          <a:ln/>
        </p:spPr>
        <p:txBody>
          <a:bodyPr wrap="square" lIns="25400" tIns="25400" rIns="25400" bIns="25400" rtlCol="0" anchor="t">
            <a:normAutofit/>
          </a:bodyPr>
          <a:lstStyle/>
          <a:p>
            <a:pPr algn="l" indent="0" marL="0">
              <a:lnSpc>
                <a:spcPct val="87568"/>
              </a:lnSpc>
              <a:buNone/>
            </a:pPr>
            <a:r>
              <a:rPr lang="en-US" sz="4050" spc="-122" kern="0" dirty="0">
                <a:solidFill>
                  <a:srgbClr val="17201F"/>
                </a:solidFill>
                <a:latin typeface="Arial" pitchFamily="34" charset="0"/>
                <a:ea typeface="Arial" pitchFamily="34" charset="-122"/>
                <a:cs typeface="Arial" pitchFamily="34" charset="-120"/>
              </a:rPr>
              <a:t>Resolve</a:t>
            </a:r>
            <a:endParaRPr lang="en-US" sz="4050" dirty="0"/>
          </a:p>
        </p:txBody>
      </p:sp>
      <p:sp>
        <p:nvSpPr>
          <p:cNvPr id="40" name="Text 38"/>
          <p:cNvSpPr/>
          <p:nvPr/>
        </p:nvSpPr>
        <p:spPr>
          <a:xfrm>
            <a:off x="13692188" y="6576529"/>
            <a:ext cx="3948827" cy="678061"/>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17201F">
                    <a:alpha val="70000"/>
                  </a:srgbClr>
                </a:solidFill>
                <a:latin typeface="Arial" pitchFamily="34" charset="0"/>
                <a:ea typeface="Arial" pitchFamily="34" charset="-122"/>
                <a:cs typeface="Arial" pitchFamily="34" charset="-120"/>
              </a:rPr>
              <a:t>The ground becomes the page again. One element survives the tilt.</a:t>
            </a:r>
            <a:endParaRPr lang="en-US" sz="1800" dirty="0"/>
          </a:p>
        </p:txBody>
      </p:sp>
      <p:sp>
        <p:nvSpPr>
          <p:cNvPr id="41" name="Text 39"/>
          <p:cNvSpPr/>
          <p:nvPr/>
        </p:nvSpPr>
        <p:spPr>
          <a:xfrm>
            <a:off x="762000" y="9015450"/>
            <a:ext cx="18051780" cy="585788"/>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17201F">
                    <a:alpha val="45000"/>
                  </a:srgbClr>
                </a:solidFill>
                <a:latin typeface="Courier New" pitchFamily="34" charset="0"/>
                <a:ea typeface="Courier New" pitchFamily="34" charset="-122"/>
                <a:cs typeface="Courier New" pitchFamily="34" charset="-120"/>
              </a:rPr>
              <a:t>MINT APPEARS IN EIGHT MOMENTS: INTERPRET · APPROVE · DISTRIBUTE · SCAN · GROUND · REDEEM · RETURN · FINAL DOT. AMBER IS ALWAYS A PERSON.</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1013"/>
        </a:solidFill>
      </p:bgPr>
    </p:bg>
    <p:spTree>
      <p:nvGrpSpPr>
        <p:cNvPr id="1" name=""/>
        <p:cNvGrpSpPr/>
        <p:nvPr/>
      </p:nvGrpSpPr>
      <p:grpSpPr>
        <a:xfrm>
          <a:off x="0" y="0"/>
          <a:ext cx="0" cy="0"/>
          <a:chOff x="0" y="0"/>
          <a:chExt cx="0" cy="0"/>
        </a:xfrm>
      </p:grpSpPr>
      <p:sp>
        <p:nvSpPr>
          <p:cNvPr id="2" name="Shape 0"/>
          <p:cNvSpPr/>
          <p:nvPr/>
        </p:nvSpPr>
        <p:spPr>
          <a:xfrm>
            <a:off x="685800" y="0"/>
            <a:ext cx="16916401" cy="9515475"/>
          </a:xfrm>
          <a:prstGeom prst="rect">
            <a:avLst/>
          </a:prstGeom>
          <a:solidFill>
            <a:srgbClr val="FAF8F4"/>
          </a:solidFill>
          <a:ln/>
        </p:spPr>
      </p:sp>
      <p:sp>
        <p:nvSpPr>
          <p:cNvPr id="3" name="Text 1"/>
          <p:cNvSpPr/>
          <p:nvPr/>
        </p:nvSpPr>
        <p:spPr>
          <a:xfrm>
            <a:off x="1390650" y="528637"/>
            <a:ext cx="4451993"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17201F">
                    <a:alpha val="50000"/>
                  </a:srgbClr>
                </a:solidFill>
                <a:latin typeface="Courier New" pitchFamily="34" charset="0"/>
                <a:ea typeface="Courier New" pitchFamily="34" charset="-122"/>
                <a:cs typeface="Courier New" pitchFamily="34" charset="-120"/>
              </a:rPr>
              <a:t>JOE'S FUEL &amp; GO · 118 MAIN ST</a:t>
            </a:r>
            <a:endParaRPr lang="en-US" sz="1665" dirty="0"/>
          </a:p>
        </p:txBody>
      </p:sp>
      <p:sp>
        <p:nvSpPr>
          <p:cNvPr id="4" name="Text 2"/>
          <p:cNvSpPr/>
          <p:nvPr/>
        </p:nvSpPr>
        <p:spPr>
          <a:xfrm>
            <a:off x="13408320" y="528637"/>
            <a:ext cx="3837933"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17201F">
                    <a:alpha val="50000"/>
                  </a:srgbClr>
                </a:solidFill>
                <a:latin typeface="Courier New" pitchFamily="34" charset="0"/>
                <a:ea typeface="Courier New" pitchFamily="34" charset="-122"/>
                <a:cs typeface="Courier New" pitchFamily="34" charset="-120"/>
              </a:rPr>
              <a:t>LAST FRIDAY · 07:00–10:00</a:t>
            </a:r>
            <a:endParaRPr lang="en-US" sz="1665" dirty="0"/>
          </a:p>
        </p:txBody>
      </p:sp>
      <p:sp>
        <p:nvSpPr>
          <p:cNvPr id="5" name="Shape 3"/>
          <p:cNvSpPr/>
          <p:nvPr/>
        </p:nvSpPr>
        <p:spPr>
          <a:xfrm>
            <a:off x="1390650" y="1092495"/>
            <a:ext cx="15506700" cy="17610"/>
          </a:xfrm>
          <a:prstGeom prst="rect">
            <a:avLst/>
          </a:prstGeom>
          <a:solidFill>
            <a:srgbClr val="17201F">
              <a:alpha val="14000"/>
            </a:srgbClr>
          </a:solidFill>
          <a:ln/>
        </p:spPr>
      </p:sp>
      <p:sp>
        <p:nvSpPr>
          <p:cNvPr id="6" name="Text 4"/>
          <p:cNvSpPr/>
          <p:nvPr/>
        </p:nvSpPr>
        <p:spPr>
          <a:xfrm>
            <a:off x="1143941" y="2978003"/>
            <a:ext cx="4039212" cy="5958828"/>
          </a:xfrm>
          <a:prstGeom prst="rect">
            <a:avLst/>
          </a:prstGeom>
          <a:noFill/>
          <a:ln/>
        </p:spPr>
        <p:txBody>
          <a:bodyPr wrap="square" lIns="25400" tIns="25400" rIns="25400" bIns="25400" rtlCol="0" anchor="t">
            <a:normAutofit/>
          </a:bodyPr>
          <a:lstStyle/>
          <a:p>
            <a:pPr algn="l" indent="0" marL="0">
              <a:lnSpc>
                <a:spcPct val="101365"/>
              </a:lnSpc>
              <a:buNone/>
            </a:pPr>
            <a:r>
              <a:rPr lang="en-US" sz="40000" spc="-2000" kern="0" dirty="0">
                <a:solidFill>
                  <a:srgbClr val="17201F"/>
                </a:solidFill>
                <a:latin typeface="Arial" pitchFamily="34" charset="0"/>
                <a:ea typeface="Arial" pitchFamily="34" charset="-122"/>
                <a:cs typeface="Arial" pitchFamily="34" charset="-120"/>
              </a:rPr>
              <a:t>3</a:t>
            </a:r>
            <a:endParaRPr lang="en-US" sz="40000" dirty="0"/>
          </a:p>
        </p:txBody>
      </p:sp>
      <p:sp>
        <p:nvSpPr>
          <p:cNvPr id="7" name="Text 5"/>
          <p:cNvSpPr/>
          <p:nvPr/>
        </p:nvSpPr>
        <p:spPr>
          <a:xfrm>
            <a:off x="7029450" y="6494853"/>
            <a:ext cx="8167450" cy="1391357"/>
          </a:xfrm>
          <a:prstGeom prst="rect">
            <a:avLst/>
          </a:prstGeom>
          <a:noFill/>
          <a:ln/>
        </p:spPr>
        <p:txBody>
          <a:bodyPr wrap="square" lIns="25400" tIns="25400" rIns="25400" bIns="25400" rtlCol="0" anchor="t">
            <a:normAutofit/>
          </a:bodyPr>
          <a:lstStyle/>
          <a:p>
            <a:pPr algn="l" indent="0" marL="0">
              <a:lnSpc>
                <a:spcPct val="104136"/>
              </a:lnSpc>
              <a:buNone/>
            </a:pPr>
            <a:r>
              <a:rPr lang="en-US" sz="4440" spc="-89" kern="0" dirty="0">
                <a:solidFill>
                  <a:srgbClr val="17201F"/>
                </a:solidFill>
                <a:latin typeface="Arial" pitchFamily="34" charset="0"/>
                <a:ea typeface="Arial" pitchFamily="34" charset="-122"/>
                <a:cs typeface="Arial" pitchFamily="34" charset="-120"/>
              </a:rPr>
              <a:t>customers between 7 and 10 last Friday.</a:t>
            </a:r>
            <a:endParaRPr lang="en-US" sz="4440" dirty="0"/>
          </a:p>
        </p:txBody>
      </p:sp>
      <p:sp>
        <p:nvSpPr>
          <p:cNvPr id="8" name="Text 6"/>
          <p:cNvSpPr/>
          <p:nvPr/>
        </p:nvSpPr>
        <p:spPr>
          <a:xfrm>
            <a:off x="7029450" y="8006655"/>
            <a:ext cx="8722519"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17201F">
                    <a:alpha val="50000"/>
                  </a:srgbClr>
                </a:solidFill>
                <a:latin typeface="Courier New" pitchFamily="34" charset="0"/>
                <a:ea typeface="Courier New" pitchFamily="34" charset="-122"/>
                <a:cs typeface="Courier New" pitchFamily="34" charset="-120"/>
              </a:rPr>
              <a:t>ILLUSTRATIVE · EXAMPLE BUSINESS</a:t>
            </a:r>
            <a:endParaRPr lang="en-US" sz="1665" dirty="0"/>
          </a:p>
        </p:txBody>
      </p:sp>
      <p:sp>
        <p:nvSpPr>
          <p:cNvPr id="9" name="Text 7"/>
          <p:cNvSpPr/>
          <p:nvPr/>
        </p:nvSpPr>
        <p:spPr>
          <a:xfrm>
            <a:off x="685788" y="9765543"/>
            <a:ext cx="3042704"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alpha val="55000"/>
                  </a:srgbClr>
                </a:solidFill>
                <a:latin typeface="Courier New" pitchFamily="34" charset="0"/>
                <a:ea typeface="Courier New" pitchFamily="34" charset="-122"/>
                <a:cs typeface="Courier New" pitchFamily="34" charset="-120"/>
              </a:rPr>
              <a:t>SCENE 01 · 0:00–0:04</a:t>
            </a:r>
            <a:endParaRPr lang="en-US" sz="1650" dirty="0"/>
          </a:p>
        </p:txBody>
      </p:sp>
      <p:sp>
        <p:nvSpPr>
          <p:cNvPr id="10" name="Text 8"/>
          <p:cNvSpPr/>
          <p:nvPr/>
        </p:nvSpPr>
        <p:spPr>
          <a:xfrm>
            <a:off x="8729079" y="9765543"/>
            <a:ext cx="1044327"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solidFill>
                <a:latin typeface="Courier New" pitchFamily="34" charset="0"/>
                <a:ea typeface="Courier New" pitchFamily="34" charset="-122"/>
                <a:cs typeface="Courier New" pitchFamily="34" charset="-120"/>
              </a:rPr>
              <a:t>THE GAP</a:t>
            </a:r>
            <a:endParaRPr lang="en-US" sz="1650" dirty="0"/>
          </a:p>
        </p:txBody>
      </p:sp>
      <p:sp>
        <p:nvSpPr>
          <p:cNvPr id="11" name="Text 9"/>
          <p:cNvSpPr/>
          <p:nvPr/>
        </p:nvSpPr>
        <p:spPr>
          <a:xfrm>
            <a:off x="14974403" y="9765543"/>
            <a:ext cx="2890589"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alpha val="55000"/>
                  </a:srgbClr>
                </a:solidFill>
                <a:latin typeface="Courier New" pitchFamily="34" charset="0"/>
                <a:ea typeface="Courier New" pitchFamily="34" charset="-122"/>
                <a:cs typeface="Courier New" pitchFamily="34" charset="-120"/>
              </a:rPr>
              <a:t>DIRECTION 1 · GREEN</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1013"/>
        </a:solidFill>
      </p:bgPr>
    </p:bg>
    <p:spTree>
      <p:nvGrpSpPr>
        <p:cNvPr id="1" name=""/>
        <p:cNvGrpSpPr/>
        <p:nvPr/>
      </p:nvGrpSpPr>
      <p:grpSpPr>
        <a:xfrm>
          <a:off x="0" y="0"/>
          <a:ext cx="0" cy="0"/>
          <a:chOff x="0" y="0"/>
          <a:chExt cx="0" cy="0"/>
        </a:xfrm>
      </p:grpSpPr>
      <p:sp>
        <p:nvSpPr>
          <p:cNvPr id="2" name="Shape 0"/>
          <p:cNvSpPr/>
          <p:nvPr/>
        </p:nvSpPr>
        <p:spPr>
          <a:xfrm>
            <a:off x="685800" y="0"/>
            <a:ext cx="16916401" cy="9515475"/>
          </a:xfrm>
          <a:prstGeom prst="rect">
            <a:avLst/>
          </a:prstGeom>
          <a:solidFill>
            <a:srgbClr val="0A1820"/>
          </a:solidFill>
          <a:ln/>
        </p:spPr>
      </p:sp>
      <p:sp>
        <p:nvSpPr>
          <p:cNvPr id="3" name="Shape 1"/>
          <p:cNvSpPr/>
          <p:nvPr/>
        </p:nvSpPr>
        <p:spPr>
          <a:xfrm>
            <a:off x="3674014" y="2648356"/>
            <a:ext cx="11445628" cy="3482265"/>
          </a:xfrm>
          <a:prstGeom prst="rect">
            <a:avLst/>
          </a:prstGeom>
          <a:solidFill>
            <a:srgbClr val="F1EDE5">
              <a:alpha val="5000"/>
            </a:srgbClr>
          </a:solidFill>
          <a:ln/>
        </p:spPr>
      </p:sp>
      <p:sp>
        <p:nvSpPr>
          <p:cNvPr id="4" name="Shape 2"/>
          <p:cNvSpPr/>
          <p:nvPr/>
        </p:nvSpPr>
        <p:spPr>
          <a:xfrm>
            <a:off x="4270226" y="3272603"/>
            <a:ext cx="11871561" cy="3868930"/>
          </a:xfrm>
          <a:prstGeom prst="rect">
            <a:avLst/>
          </a:prstGeom>
          <a:solidFill>
            <a:srgbClr val="F1EDE5">
              <a:alpha val="5000"/>
            </a:srgbClr>
          </a:solidFill>
          <a:ln/>
        </p:spPr>
      </p:sp>
      <p:sp>
        <p:nvSpPr>
          <p:cNvPr id="5" name="Shape 3"/>
          <p:cNvSpPr/>
          <p:nvPr/>
        </p:nvSpPr>
        <p:spPr>
          <a:xfrm>
            <a:off x="3775978" y="2756182"/>
            <a:ext cx="12197680" cy="4217360"/>
          </a:xfrm>
          <a:prstGeom prst="rect">
            <a:avLst/>
          </a:prstGeom>
          <a:solidFill>
            <a:srgbClr val="F1EDE5">
              <a:alpha val="2000"/>
            </a:srgbClr>
          </a:solidFill>
          <a:ln/>
        </p:spPr>
      </p:sp>
      <p:sp>
        <p:nvSpPr>
          <p:cNvPr id="6" name="Shape 4"/>
          <p:cNvSpPr/>
          <p:nvPr/>
        </p:nvSpPr>
        <p:spPr>
          <a:xfrm>
            <a:off x="3775978" y="6955186"/>
            <a:ext cx="12197680" cy="18355"/>
          </a:xfrm>
          <a:prstGeom prst="rect">
            <a:avLst/>
          </a:prstGeom>
          <a:solidFill>
            <a:srgbClr val="F1EDE5">
              <a:alpha val="22000"/>
            </a:srgbClr>
          </a:solidFill>
          <a:ln/>
        </p:spPr>
      </p:sp>
      <p:sp>
        <p:nvSpPr>
          <p:cNvPr id="7" name="Shape 5"/>
          <p:cNvSpPr/>
          <p:nvPr/>
        </p:nvSpPr>
        <p:spPr>
          <a:xfrm>
            <a:off x="3775978" y="2756182"/>
            <a:ext cx="12197680" cy="18355"/>
          </a:xfrm>
          <a:prstGeom prst="rect">
            <a:avLst/>
          </a:prstGeom>
          <a:solidFill>
            <a:srgbClr val="F1EDE5">
              <a:alpha val="22000"/>
            </a:srgbClr>
          </a:solidFill>
          <a:ln/>
        </p:spPr>
      </p:sp>
      <p:sp>
        <p:nvSpPr>
          <p:cNvPr id="8" name="Shape 6"/>
          <p:cNvSpPr/>
          <p:nvPr/>
        </p:nvSpPr>
        <p:spPr>
          <a:xfrm>
            <a:off x="4009450" y="3001409"/>
            <a:ext cx="11515891" cy="18355"/>
          </a:xfrm>
          <a:prstGeom prst="rect">
            <a:avLst/>
          </a:prstGeom>
          <a:solidFill>
            <a:srgbClr val="F1EDE5">
              <a:alpha val="12000"/>
            </a:srgbClr>
          </a:solidFill>
          <a:ln/>
        </p:spPr>
      </p:sp>
      <p:sp>
        <p:nvSpPr>
          <p:cNvPr id="9" name="Shape 7"/>
          <p:cNvSpPr/>
          <p:nvPr/>
        </p:nvSpPr>
        <p:spPr>
          <a:xfrm>
            <a:off x="4694051" y="3695439"/>
            <a:ext cx="3318956" cy="1730942"/>
          </a:xfrm>
          <a:prstGeom prst="rect">
            <a:avLst/>
          </a:prstGeom>
          <a:gradFill rotWithShape="1">
            <a:gsLst>
              <a:gs pos="0">
                <a:srgbClr val="E2A24F">
                  <a:alpha val="22000"/>
                </a:srgbClr>
              </a:gs>
              <a:gs pos="100000">
                <a:srgbClr val="E2A24F">
                  <a:alpha val="0"/>
                </a:srgbClr>
              </a:gs>
            </a:gsLst>
            <a:path path="circle">
              <a:fillToRect l="50000" t="100000" r="50000" b="0"/>
            </a:path>
          </a:gradFill>
          <a:ln/>
        </p:spPr>
      </p:sp>
      <p:sp>
        <p:nvSpPr>
          <p:cNvPr id="10" name="Shape 8"/>
          <p:cNvSpPr/>
          <p:nvPr/>
        </p:nvSpPr>
        <p:spPr>
          <a:xfrm>
            <a:off x="4694051" y="5389670"/>
            <a:ext cx="3318956" cy="36711"/>
          </a:xfrm>
          <a:prstGeom prst="rect">
            <a:avLst/>
          </a:prstGeom>
          <a:solidFill>
            <a:srgbClr val="F1EDE5">
              <a:alpha val="40000"/>
            </a:srgbClr>
          </a:solidFill>
          <a:ln/>
        </p:spPr>
      </p:sp>
      <p:sp>
        <p:nvSpPr>
          <p:cNvPr id="11" name="Shape 9"/>
          <p:cNvSpPr/>
          <p:nvPr/>
        </p:nvSpPr>
        <p:spPr>
          <a:xfrm>
            <a:off x="4694051" y="3695439"/>
            <a:ext cx="3318956" cy="18355"/>
          </a:xfrm>
          <a:prstGeom prst="rect">
            <a:avLst/>
          </a:prstGeom>
          <a:solidFill>
            <a:srgbClr val="F1EDE5">
              <a:alpha val="14000"/>
            </a:srgbClr>
          </a:solidFill>
          <a:ln/>
        </p:spPr>
      </p:sp>
      <p:sp>
        <p:nvSpPr>
          <p:cNvPr id="12" name="Shape 10"/>
          <p:cNvSpPr/>
          <p:nvPr/>
        </p:nvSpPr>
        <p:spPr>
          <a:xfrm>
            <a:off x="4694051" y="3695439"/>
            <a:ext cx="18355" cy="1730942"/>
          </a:xfrm>
          <a:prstGeom prst="rect">
            <a:avLst/>
          </a:prstGeom>
          <a:solidFill>
            <a:srgbClr val="F1EDE5">
              <a:alpha val="14000"/>
            </a:srgbClr>
          </a:solidFill>
          <a:ln/>
        </p:spPr>
      </p:sp>
      <p:sp>
        <p:nvSpPr>
          <p:cNvPr id="13" name="Shape 11"/>
          <p:cNvSpPr/>
          <p:nvPr/>
        </p:nvSpPr>
        <p:spPr>
          <a:xfrm>
            <a:off x="7994651" y="3695439"/>
            <a:ext cx="18355" cy="1730942"/>
          </a:xfrm>
          <a:prstGeom prst="rect">
            <a:avLst/>
          </a:prstGeom>
          <a:solidFill>
            <a:srgbClr val="F1EDE5">
              <a:alpha val="14000"/>
            </a:srgbClr>
          </a:solidFill>
          <a:ln/>
        </p:spPr>
      </p:sp>
      <p:sp>
        <p:nvSpPr>
          <p:cNvPr id="14" name="Shape 12"/>
          <p:cNvSpPr/>
          <p:nvPr/>
        </p:nvSpPr>
        <p:spPr>
          <a:xfrm>
            <a:off x="6567002" y="5001654"/>
            <a:ext cx="278839" cy="106064"/>
          </a:xfrm>
          <a:prstGeom prst="rect">
            <a:avLst/>
          </a:prstGeom>
          <a:solidFill>
            <a:srgbClr val="E2A24F"/>
          </a:solidFill>
          <a:ln/>
        </p:spPr>
      </p:sp>
      <p:sp>
        <p:nvSpPr>
          <p:cNvPr id="15" name="Shape 13"/>
          <p:cNvSpPr/>
          <p:nvPr/>
        </p:nvSpPr>
        <p:spPr>
          <a:xfrm>
            <a:off x="5689514" y="4483975"/>
            <a:ext cx="1659910" cy="483160"/>
          </a:xfrm>
          <a:prstGeom prst="rect">
            <a:avLst/>
          </a:prstGeom>
          <a:solidFill>
            <a:srgbClr val="F1EDE5">
              <a:alpha val="16000"/>
            </a:srgbClr>
          </a:solidFill>
          <a:ln/>
        </p:spPr>
      </p:sp>
      <p:sp>
        <p:nvSpPr>
          <p:cNvPr id="16" name="Shape 14"/>
          <p:cNvSpPr/>
          <p:nvPr/>
        </p:nvSpPr>
        <p:spPr>
          <a:xfrm>
            <a:off x="7461714" y="2872095"/>
            <a:ext cx="3743911" cy="1697206"/>
          </a:xfrm>
          <a:prstGeom prst="rect">
            <a:avLst/>
          </a:prstGeom>
          <a:gradFill rotWithShape="1">
            <a:gsLst>
              <a:gs pos="0">
                <a:srgbClr val="E2A24F">
                  <a:alpha val="32000"/>
                </a:srgbClr>
              </a:gs>
              <a:gs pos="100000">
                <a:srgbClr val="E2A24F">
                  <a:alpha val="0"/>
                </a:srgbClr>
              </a:gs>
            </a:gsLst>
            <a:path path="circle">
              <a:fillToRect l="50000" t="100000" r="50000" b="0"/>
            </a:path>
          </a:gradFill>
          <a:ln/>
        </p:spPr>
      </p:sp>
      <p:sp>
        <p:nvSpPr>
          <p:cNvPr id="17" name="Shape 15"/>
          <p:cNvSpPr/>
          <p:nvPr/>
        </p:nvSpPr>
        <p:spPr>
          <a:xfrm>
            <a:off x="7461714" y="4532590"/>
            <a:ext cx="3743911" cy="36711"/>
          </a:xfrm>
          <a:prstGeom prst="rect">
            <a:avLst/>
          </a:prstGeom>
          <a:solidFill>
            <a:srgbClr val="F1EDE5">
              <a:alpha val="45000"/>
            </a:srgbClr>
          </a:solidFill>
          <a:ln/>
        </p:spPr>
      </p:sp>
      <p:sp>
        <p:nvSpPr>
          <p:cNvPr id="18" name="Shape 16"/>
          <p:cNvSpPr/>
          <p:nvPr/>
        </p:nvSpPr>
        <p:spPr>
          <a:xfrm>
            <a:off x="7461714" y="2872095"/>
            <a:ext cx="3743911" cy="18355"/>
          </a:xfrm>
          <a:prstGeom prst="rect">
            <a:avLst/>
          </a:prstGeom>
          <a:solidFill>
            <a:srgbClr val="F1EDE5">
              <a:alpha val="14000"/>
            </a:srgbClr>
          </a:solidFill>
          <a:ln/>
        </p:spPr>
      </p:sp>
      <p:sp>
        <p:nvSpPr>
          <p:cNvPr id="19" name="Shape 17"/>
          <p:cNvSpPr/>
          <p:nvPr/>
        </p:nvSpPr>
        <p:spPr>
          <a:xfrm>
            <a:off x="7461714" y="2872095"/>
            <a:ext cx="18355" cy="1697206"/>
          </a:xfrm>
          <a:prstGeom prst="rect">
            <a:avLst/>
          </a:prstGeom>
          <a:solidFill>
            <a:srgbClr val="F1EDE5">
              <a:alpha val="14000"/>
            </a:srgbClr>
          </a:solidFill>
          <a:ln/>
        </p:spPr>
      </p:sp>
      <p:sp>
        <p:nvSpPr>
          <p:cNvPr id="20" name="Shape 18"/>
          <p:cNvSpPr/>
          <p:nvPr/>
        </p:nvSpPr>
        <p:spPr>
          <a:xfrm>
            <a:off x="11187269" y="2872095"/>
            <a:ext cx="18355" cy="1697206"/>
          </a:xfrm>
          <a:prstGeom prst="rect">
            <a:avLst/>
          </a:prstGeom>
          <a:solidFill>
            <a:srgbClr val="F1EDE5">
              <a:alpha val="14000"/>
            </a:srgbClr>
          </a:solidFill>
          <a:ln/>
        </p:spPr>
      </p:sp>
      <p:sp>
        <p:nvSpPr>
          <p:cNvPr id="21" name="Shape 19"/>
          <p:cNvSpPr/>
          <p:nvPr/>
        </p:nvSpPr>
        <p:spPr>
          <a:xfrm>
            <a:off x="9592051" y="4111831"/>
            <a:ext cx="292520" cy="105246"/>
          </a:xfrm>
          <a:prstGeom prst="rect">
            <a:avLst/>
          </a:prstGeom>
          <a:solidFill>
            <a:srgbClr val="E2A24F"/>
          </a:solidFill>
          <a:ln/>
        </p:spPr>
      </p:sp>
      <p:sp>
        <p:nvSpPr>
          <p:cNvPr id="22" name="Shape 20"/>
          <p:cNvSpPr/>
          <p:nvPr/>
        </p:nvSpPr>
        <p:spPr>
          <a:xfrm>
            <a:off x="9034260" y="3921763"/>
            <a:ext cx="1731217" cy="543205"/>
          </a:xfrm>
          <a:prstGeom prst="rect">
            <a:avLst/>
          </a:prstGeom>
          <a:solidFill>
            <a:srgbClr val="E2A24F">
              <a:alpha val="30000"/>
            </a:srgbClr>
          </a:solidFill>
          <a:ln/>
        </p:spPr>
      </p:sp>
      <p:sp>
        <p:nvSpPr>
          <p:cNvPr id="23" name="Shape 21"/>
          <p:cNvSpPr/>
          <p:nvPr/>
        </p:nvSpPr>
        <p:spPr>
          <a:xfrm>
            <a:off x="8456882" y="3517343"/>
            <a:ext cx="2025315" cy="583366"/>
          </a:xfrm>
          <a:prstGeom prst="rect">
            <a:avLst/>
          </a:prstGeom>
          <a:solidFill>
            <a:srgbClr val="F1EDE5">
              <a:alpha val="18000"/>
            </a:srgbClr>
          </a:solidFill>
          <a:ln/>
        </p:spPr>
      </p:sp>
      <p:sp>
        <p:nvSpPr>
          <p:cNvPr id="24" name="Shape 22"/>
          <p:cNvSpPr/>
          <p:nvPr/>
        </p:nvSpPr>
        <p:spPr>
          <a:xfrm>
            <a:off x="8310515" y="3677855"/>
            <a:ext cx="166679" cy="84511"/>
          </a:xfrm>
          <a:prstGeom prst="roundRect">
            <a:avLst>
              <a:gd name="adj" fmla="val 50000"/>
            </a:avLst>
          </a:prstGeom>
          <a:solidFill>
            <a:srgbClr val="E2A24F"/>
          </a:solidFill>
          <a:ln/>
        </p:spPr>
      </p:sp>
      <p:sp>
        <p:nvSpPr>
          <p:cNvPr id="25" name="Shape 23"/>
          <p:cNvSpPr/>
          <p:nvPr/>
        </p:nvSpPr>
        <p:spPr>
          <a:xfrm>
            <a:off x="9236212" y="3650426"/>
            <a:ext cx="167826" cy="84184"/>
          </a:xfrm>
          <a:prstGeom prst="roundRect">
            <a:avLst>
              <a:gd name="adj" fmla="val 50000"/>
            </a:avLst>
          </a:prstGeom>
          <a:solidFill>
            <a:srgbClr val="E2A24F"/>
          </a:solidFill>
          <a:ln/>
        </p:spPr>
      </p:sp>
      <p:sp>
        <p:nvSpPr>
          <p:cNvPr id="26" name="Shape 24"/>
          <p:cNvSpPr/>
          <p:nvPr/>
        </p:nvSpPr>
        <p:spPr>
          <a:xfrm>
            <a:off x="9659564" y="3395611"/>
            <a:ext cx="165458" cy="81174"/>
          </a:xfrm>
          <a:prstGeom prst="roundRect">
            <a:avLst>
              <a:gd name="adj" fmla="val 50000"/>
            </a:avLst>
          </a:prstGeom>
          <a:solidFill>
            <a:srgbClr val="E2A24F"/>
          </a:solidFill>
          <a:ln/>
        </p:spPr>
      </p:sp>
      <p:sp>
        <p:nvSpPr>
          <p:cNvPr id="27" name="Shape 25"/>
          <p:cNvSpPr/>
          <p:nvPr/>
        </p:nvSpPr>
        <p:spPr>
          <a:xfrm>
            <a:off x="9197541" y="4017087"/>
            <a:ext cx="172124" cy="88612"/>
          </a:xfrm>
          <a:prstGeom prst="roundRect">
            <a:avLst>
              <a:gd name="adj" fmla="val 50000"/>
            </a:avLst>
          </a:prstGeom>
          <a:solidFill>
            <a:srgbClr val="E2A24F"/>
          </a:solidFill>
          <a:ln/>
        </p:spPr>
      </p:sp>
      <p:sp>
        <p:nvSpPr>
          <p:cNvPr id="28" name="Shape 26"/>
          <p:cNvSpPr/>
          <p:nvPr/>
        </p:nvSpPr>
        <p:spPr>
          <a:xfrm>
            <a:off x="9940708" y="3851899"/>
            <a:ext cx="171358" cy="86603"/>
          </a:xfrm>
          <a:prstGeom prst="roundRect">
            <a:avLst>
              <a:gd name="adj" fmla="val 50000"/>
            </a:avLst>
          </a:prstGeom>
          <a:solidFill>
            <a:srgbClr val="E2A24F"/>
          </a:solidFill>
          <a:ln/>
        </p:spPr>
      </p:sp>
      <p:sp>
        <p:nvSpPr>
          <p:cNvPr id="29" name="Shape 27"/>
          <p:cNvSpPr/>
          <p:nvPr/>
        </p:nvSpPr>
        <p:spPr>
          <a:xfrm>
            <a:off x="10469763" y="2304125"/>
            <a:ext cx="2923303" cy="1340746"/>
          </a:xfrm>
          <a:prstGeom prst="rect">
            <a:avLst/>
          </a:prstGeom>
          <a:gradFill rotWithShape="1">
            <a:gsLst>
              <a:gs pos="0">
                <a:srgbClr val="E2A24F">
                  <a:alpha val="26000"/>
                </a:srgbClr>
              </a:gs>
              <a:gs pos="100000">
                <a:srgbClr val="E2A24F">
                  <a:alpha val="0"/>
                </a:srgbClr>
              </a:gs>
            </a:gsLst>
            <a:path path="circle">
              <a:fillToRect l="50000" t="100000" r="50000" b="0"/>
            </a:path>
          </a:gradFill>
          <a:ln/>
        </p:spPr>
      </p:sp>
      <p:sp>
        <p:nvSpPr>
          <p:cNvPr id="30" name="Shape 28"/>
          <p:cNvSpPr/>
          <p:nvPr/>
        </p:nvSpPr>
        <p:spPr>
          <a:xfrm>
            <a:off x="10469763" y="3608160"/>
            <a:ext cx="2923303" cy="36711"/>
          </a:xfrm>
          <a:prstGeom prst="rect">
            <a:avLst/>
          </a:prstGeom>
          <a:solidFill>
            <a:srgbClr val="F1EDE5">
              <a:alpha val="40000"/>
            </a:srgbClr>
          </a:solidFill>
          <a:ln/>
        </p:spPr>
      </p:sp>
      <p:sp>
        <p:nvSpPr>
          <p:cNvPr id="31" name="Shape 29"/>
          <p:cNvSpPr/>
          <p:nvPr/>
        </p:nvSpPr>
        <p:spPr>
          <a:xfrm>
            <a:off x="10469763" y="2304125"/>
            <a:ext cx="2923303" cy="18355"/>
          </a:xfrm>
          <a:prstGeom prst="rect">
            <a:avLst/>
          </a:prstGeom>
          <a:solidFill>
            <a:srgbClr val="F1EDE5">
              <a:alpha val="14000"/>
            </a:srgbClr>
          </a:solidFill>
          <a:ln/>
        </p:spPr>
      </p:sp>
      <p:sp>
        <p:nvSpPr>
          <p:cNvPr id="32" name="Shape 30"/>
          <p:cNvSpPr/>
          <p:nvPr/>
        </p:nvSpPr>
        <p:spPr>
          <a:xfrm>
            <a:off x="10469763" y="2304125"/>
            <a:ext cx="18355" cy="1340746"/>
          </a:xfrm>
          <a:prstGeom prst="rect">
            <a:avLst/>
          </a:prstGeom>
          <a:solidFill>
            <a:srgbClr val="F1EDE5">
              <a:alpha val="14000"/>
            </a:srgbClr>
          </a:solidFill>
          <a:ln/>
        </p:spPr>
      </p:sp>
      <p:sp>
        <p:nvSpPr>
          <p:cNvPr id="33" name="Shape 31"/>
          <p:cNvSpPr/>
          <p:nvPr/>
        </p:nvSpPr>
        <p:spPr>
          <a:xfrm>
            <a:off x="13374711" y="2304125"/>
            <a:ext cx="18355" cy="1340746"/>
          </a:xfrm>
          <a:prstGeom prst="rect">
            <a:avLst/>
          </a:prstGeom>
          <a:solidFill>
            <a:srgbClr val="F1EDE5">
              <a:alpha val="14000"/>
            </a:srgbClr>
          </a:solidFill>
          <a:ln/>
        </p:spPr>
      </p:sp>
      <p:sp>
        <p:nvSpPr>
          <p:cNvPr id="34" name="Shape 32"/>
          <p:cNvSpPr/>
          <p:nvPr/>
        </p:nvSpPr>
        <p:spPr>
          <a:xfrm>
            <a:off x="12358454" y="3318533"/>
            <a:ext cx="234616" cy="84239"/>
          </a:xfrm>
          <a:prstGeom prst="rect">
            <a:avLst/>
          </a:prstGeom>
          <a:solidFill>
            <a:srgbClr val="E2A24F"/>
          </a:solidFill>
          <a:ln/>
        </p:spPr>
      </p:sp>
      <p:sp>
        <p:nvSpPr>
          <p:cNvPr id="35" name="Shape 33"/>
          <p:cNvSpPr/>
          <p:nvPr/>
        </p:nvSpPr>
        <p:spPr>
          <a:xfrm>
            <a:off x="10924594" y="2513556"/>
            <a:ext cx="1338090" cy="372144"/>
          </a:xfrm>
          <a:prstGeom prst="rect">
            <a:avLst/>
          </a:prstGeom>
          <a:solidFill>
            <a:srgbClr val="F1EDE5">
              <a:alpha val="16000"/>
            </a:srgbClr>
          </a:solidFill>
          <a:ln/>
        </p:spPr>
      </p:sp>
      <p:sp>
        <p:nvSpPr>
          <p:cNvPr id="36" name="Shape 34"/>
          <p:cNvSpPr/>
          <p:nvPr/>
        </p:nvSpPr>
        <p:spPr>
          <a:xfrm>
            <a:off x="11171499" y="2695687"/>
            <a:ext cx="1350138" cy="382775"/>
          </a:xfrm>
          <a:prstGeom prst="rect">
            <a:avLst/>
          </a:prstGeom>
          <a:solidFill>
            <a:srgbClr val="F1EDE5">
              <a:alpha val="16000"/>
            </a:srgbClr>
          </a:solidFill>
          <a:ln/>
        </p:spPr>
      </p:sp>
      <p:sp>
        <p:nvSpPr>
          <p:cNvPr id="37" name="Shape 35"/>
          <p:cNvSpPr/>
          <p:nvPr/>
        </p:nvSpPr>
        <p:spPr>
          <a:xfrm>
            <a:off x="11609065" y="3097274"/>
            <a:ext cx="164872" cy="77719"/>
          </a:xfrm>
          <a:prstGeom prst="roundRect">
            <a:avLst>
              <a:gd name="adj" fmla="val 50000"/>
            </a:avLst>
          </a:prstGeom>
          <a:solidFill>
            <a:srgbClr val="E2A24F"/>
          </a:solidFill>
          <a:ln/>
        </p:spPr>
      </p:sp>
      <p:sp>
        <p:nvSpPr>
          <p:cNvPr id="38" name="Shape 36"/>
          <p:cNvSpPr/>
          <p:nvPr/>
        </p:nvSpPr>
        <p:spPr>
          <a:xfrm>
            <a:off x="12380252" y="3058279"/>
            <a:ext cx="165571" cy="77273"/>
          </a:xfrm>
          <a:prstGeom prst="roundRect">
            <a:avLst>
              <a:gd name="adj" fmla="val 50000"/>
            </a:avLst>
          </a:prstGeom>
          <a:solidFill>
            <a:srgbClr val="E2A24F"/>
          </a:solidFill>
          <a:ln/>
        </p:spPr>
      </p:sp>
      <p:sp>
        <p:nvSpPr>
          <p:cNvPr id="39" name="Shape 37"/>
          <p:cNvSpPr/>
          <p:nvPr/>
        </p:nvSpPr>
        <p:spPr>
          <a:xfrm>
            <a:off x="11620741" y="2766065"/>
            <a:ext cx="160863" cy="73973"/>
          </a:xfrm>
          <a:prstGeom prst="roundRect">
            <a:avLst>
              <a:gd name="adj" fmla="val 50000"/>
            </a:avLst>
          </a:prstGeom>
          <a:solidFill>
            <a:srgbClr val="E2A24F"/>
          </a:solidFill>
          <a:ln/>
        </p:spPr>
      </p:sp>
      <p:sp>
        <p:nvSpPr>
          <p:cNvPr id="40" name="Shape 38"/>
          <p:cNvSpPr/>
          <p:nvPr/>
        </p:nvSpPr>
        <p:spPr>
          <a:xfrm>
            <a:off x="6306183" y="5293866"/>
            <a:ext cx="5154574" cy="2679847"/>
          </a:xfrm>
          <a:prstGeom prst="rect">
            <a:avLst/>
          </a:prstGeom>
          <a:gradFill rotWithShape="1">
            <a:gsLst>
              <a:gs pos="0">
                <a:srgbClr val="E2A24F">
                  <a:alpha val="20000"/>
                </a:srgbClr>
              </a:gs>
              <a:gs pos="100000">
                <a:srgbClr val="E2A24F">
                  <a:alpha val="0"/>
                </a:srgbClr>
              </a:gs>
            </a:gsLst>
            <a:path path="circle">
              <a:fillToRect l="50000" t="0" r="50000" b="100000"/>
            </a:path>
          </a:gradFill>
          <a:ln/>
        </p:spPr>
      </p:sp>
      <p:sp>
        <p:nvSpPr>
          <p:cNvPr id="41" name="Shape 39"/>
          <p:cNvSpPr/>
          <p:nvPr/>
        </p:nvSpPr>
        <p:spPr>
          <a:xfrm>
            <a:off x="6306183" y="7955357"/>
            <a:ext cx="5154574" cy="18355"/>
          </a:xfrm>
          <a:prstGeom prst="rect">
            <a:avLst/>
          </a:prstGeom>
          <a:solidFill>
            <a:srgbClr val="F1EDE5">
              <a:alpha val="14000"/>
            </a:srgbClr>
          </a:solidFill>
          <a:ln/>
        </p:spPr>
      </p:sp>
      <p:sp>
        <p:nvSpPr>
          <p:cNvPr id="42" name="Shape 40"/>
          <p:cNvSpPr/>
          <p:nvPr/>
        </p:nvSpPr>
        <p:spPr>
          <a:xfrm>
            <a:off x="6306183" y="5293866"/>
            <a:ext cx="5154574" cy="36711"/>
          </a:xfrm>
          <a:prstGeom prst="rect">
            <a:avLst/>
          </a:prstGeom>
          <a:solidFill>
            <a:srgbClr val="F1EDE5">
              <a:alpha val="40000"/>
            </a:srgbClr>
          </a:solidFill>
          <a:ln/>
        </p:spPr>
      </p:sp>
      <p:sp>
        <p:nvSpPr>
          <p:cNvPr id="43" name="Shape 41"/>
          <p:cNvSpPr/>
          <p:nvPr/>
        </p:nvSpPr>
        <p:spPr>
          <a:xfrm>
            <a:off x="6306183" y="5293866"/>
            <a:ext cx="18355" cy="2679847"/>
          </a:xfrm>
          <a:prstGeom prst="rect">
            <a:avLst/>
          </a:prstGeom>
          <a:solidFill>
            <a:srgbClr val="F1EDE5">
              <a:alpha val="14000"/>
            </a:srgbClr>
          </a:solidFill>
          <a:ln/>
        </p:spPr>
      </p:sp>
      <p:sp>
        <p:nvSpPr>
          <p:cNvPr id="44" name="Shape 42"/>
          <p:cNvSpPr/>
          <p:nvPr/>
        </p:nvSpPr>
        <p:spPr>
          <a:xfrm>
            <a:off x="11442401" y="5293866"/>
            <a:ext cx="18355" cy="2679847"/>
          </a:xfrm>
          <a:prstGeom prst="rect">
            <a:avLst/>
          </a:prstGeom>
          <a:solidFill>
            <a:srgbClr val="F1EDE5">
              <a:alpha val="14000"/>
            </a:srgbClr>
          </a:solidFill>
          <a:ln/>
        </p:spPr>
      </p:sp>
      <p:sp>
        <p:nvSpPr>
          <p:cNvPr id="45" name="Shape 43"/>
          <p:cNvSpPr/>
          <p:nvPr/>
        </p:nvSpPr>
        <p:spPr>
          <a:xfrm>
            <a:off x="8113143" y="5851089"/>
            <a:ext cx="332820" cy="131878"/>
          </a:xfrm>
          <a:prstGeom prst="rect">
            <a:avLst/>
          </a:prstGeom>
          <a:solidFill>
            <a:srgbClr val="E2A24F"/>
          </a:solidFill>
          <a:ln/>
        </p:spPr>
      </p:sp>
      <p:sp>
        <p:nvSpPr>
          <p:cNvPr id="46" name="Shape 44"/>
          <p:cNvSpPr/>
          <p:nvPr/>
        </p:nvSpPr>
        <p:spPr>
          <a:xfrm>
            <a:off x="6804528" y="5438155"/>
            <a:ext cx="2634814" cy="879610"/>
          </a:xfrm>
          <a:prstGeom prst="rect">
            <a:avLst/>
          </a:prstGeom>
          <a:solidFill>
            <a:srgbClr val="E2A24F">
              <a:alpha val="22000"/>
            </a:srgbClr>
          </a:solidFill>
          <a:ln/>
        </p:spPr>
      </p:sp>
      <p:sp>
        <p:nvSpPr>
          <p:cNvPr id="47" name="Shape 45"/>
          <p:cNvSpPr/>
          <p:nvPr/>
        </p:nvSpPr>
        <p:spPr>
          <a:xfrm>
            <a:off x="7559264" y="6588125"/>
            <a:ext cx="199570" cy="122875"/>
          </a:xfrm>
          <a:prstGeom prst="roundRect">
            <a:avLst>
              <a:gd name="adj" fmla="val 50000"/>
            </a:avLst>
          </a:prstGeom>
          <a:solidFill>
            <a:srgbClr val="E2A24F"/>
          </a:solidFill>
          <a:ln/>
        </p:spPr>
      </p:sp>
      <p:sp>
        <p:nvSpPr>
          <p:cNvPr id="48" name="Shape 46"/>
          <p:cNvSpPr/>
          <p:nvPr/>
        </p:nvSpPr>
        <p:spPr>
          <a:xfrm>
            <a:off x="9335110" y="6328792"/>
            <a:ext cx="199888" cy="119163"/>
          </a:xfrm>
          <a:prstGeom prst="roundRect">
            <a:avLst>
              <a:gd name="adj" fmla="val 50000"/>
            </a:avLst>
          </a:prstGeom>
          <a:solidFill>
            <a:srgbClr val="E2A24F"/>
          </a:solidFill>
          <a:ln/>
        </p:spPr>
      </p:sp>
      <p:sp>
        <p:nvSpPr>
          <p:cNvPr id="49" name="Shape 47"/>
          <p:cNvSpPr/>
          <p:nvPr/>
        </p:nvSpPr>
        <p:spPr>
          <a:xfrm>
            <a:off x="10572448" y="3901325"/>
            <a:ext cx="5441398" cy="2481588"/>
          </a:xfrm>
          <a:prstGeom prst="rect">
            <a:avLst/>
          </a:prstGeom>
          <a:solidFill>
            <a:srgbClr val="F1EDE5">
              <a:alpha val="2000"/>
            </a:srgbClr>
          </a:solidFill>
          <a:ln/>
        </p:spPr>
      </p:sp>
      <p:sp>
        <p:nvSpPr>
          <p:cNvPr id="50" name="Shape 48"/>
          <p:cNvSpPr/>
          <p:nvPr/>
        </p:nvSpPr>
        <p:spPr>
          <a:xfrm>
            <a:off x="10572448" y="6364558"/>
            <a:ext cx="5441398" cy="18355"/>
          </a:xfrm>
          <a:prstGeom prst="rect">
            <a:avLst/>
          </a:prstGeom>
          <a:solidFill>
            <a:srgbClr val="F1EDE5">
              <a:alpha val="50000"/>
            </a:srgbClr>
          </a:solidFill>
          <a:ln/>
        </p:spPr>
      </p:sp>
      <p:sp>
        <p:nvSpPr>
          <p:cNvPr id="51" name="Shape 49"/>
          <p:cNvSpPr/>
          <p:nvPr/>
        </p:nvSpPr>
        <p:spPr>
          <a:xfrm>
            <a:off x="10572448" y="3901325"/>
            <a:ext cx="5441398" cy="36711"/>
          </a:xfrm>
          <a:prstGeom prst="rect">
            <a:avLst/>
          </a:prstGeom>
          <a:solidFill>
            <a:srgbClr val="F1EDE5">
              <a:alpha val="50000"/>
            </a:srgbClr>
          </a:solidFill>
          <a:ln/>
        </p:spPr>
      </p:sp>
      <p:sp>
        <p:nvSpPr>
          <p:cNvPr id="52" name="Shape 50"/>
          <p:cNvSpPr/>
          <p:nvPr/>
        </p:nvSpPr>
        <p:spPr>
          <a:xfrm>
            <a:off x="10572448" y="3901325"/>
            <a:ext cx="18355" cy="2481588"/>
          </a:xfrm>
          <a:prstGeom prst="rect">
            <a:avLst/>
          </a:prstGeom>
          <a:solidFill>
            <a:srgbClr val="F1EDE5">
              <a:alpha val="50000"/>
            </a:srgbClr>
          </a:solidFill>
          <a:ln/>
        </p:spPr>
      </p:sp>
      <p:sp>
        <p:nvSpPr>
          <p:cNvPr id="53" name="Shape 51"/>
          <p:cNvSpPr/>
          <p:nvPr/>
        </p:nvSpPr>
        <p:spPr>
          <a:xfrm>
            <a:off x="15995490" y="3901325"/>
            <a:ext cx="18355" cy="2481588"/>
          </a:xfrm>
          <a:prstGeom prst="rect">
            <a:avLst/>
          </a:prstGeom>
          <a:solidFill>
            <a:srgbClr val="F1EDE5">
              <a:alpha val="50000"/>
            </a:srgbClr>
          </a:solidFill>
          <a:ln/>
        </p:spPr>
      </p:sp>
      <p:sp>
        <p:nvSpPr>
          <p:cNvPr id="54" name="Shape 52"/>
          <p:cNvSpPr/>
          <p:nvPr/>
        </p:nvSpPr>
        <p:spPr>
          <a:xfrm>
            <a:off x="11340094" y="5792728"/>
            <a:ext cx="2903958" cy="18355"/>
          </a:xfrm>
          <a:prstGeom prst="rect">
            <a:avLst/>
          </a:prstGeom>
          <a:solidFill>
            <a:srgbClr val="F1EDE5">
              <a:alpha val="30000"/>
            </a:srgbClr>
          </a:solidFill>
          <a:ln/>
        </p:spPr>
      </p:sp>
      <p:sp>
        <p:nvSpPr>
          <p:cNvPr id="55" name="Shape 53"/>
          <p:cNvSpPr/>
          <p:nvPr/>
        </p:nvSpPr>
        <p:spPr>
          <a:xfrm>
            <a:off x="11340094" y="4533693"/>
            <a:ext cx="2903958" cy="18355"/>
          </a:xfrm>
          <a:prstGeom prst="rect">
            <a:avLst/>
          </a:prstGeom>
          <a:solidFill>
            <a:srgbClr val="F1EDE5">
              <a:alpha val="30000"/>
            </a:srgbClr>
          </a:solidFill>
          <a:ln/>
        </p:spPr>
      </p:sp>
      <p:sp>
        <p:nvSpPr>
          <p:cNvPr id="56" name="Shape 54"/>
          <p:cNvSpPr/>
          <p:nvPr/>
        </p:nvSpPr>
        <p:spPr>
          <a:xfrm>
            <a:off x="11340094" y="4533693"/>
            <a:ext cx="18355" cy="1277390"/>
          </a:xfrm>
          <a:prstGeom prst="rect">
            <a:avLst/>
          </a:prstGeom>
          <a:solidFill>
            <a:srgbClr val="F1EDE5">
              <a:alpha val="30000"/>
            </a:srgbClr>
          </a:solidFill>
          <a:ln/>
        </p:spPr>
      </p:sp>
      <p:sp>
        <p:nvSpPr>
          <p:cNvPr id="57" name="Shape 55"/>
          <p:cNvSpPr/>
          <p:nvPr/>
        </p:nvSpPr>
        <p:spPr>
          <a:xfrm>
            <a:off x="14225697" y="4533693"/>
            <a:ext cx="18355" cy="1277390"/>
          </a:xfrm>
          <a:prstGeom prst="rect">
            <a:avLst/>
          </a:prstGeom>
          <a:solidFill>
            <a:srgbClr val="F1EDE5">
              <a:alpha val="30000"/>
            </a:srgbClr>
          </a:solidFill>
          <a:ln/>
        </p:spPr>
      </p:sp>
      <p:sp>
        <p:nvSpPr>
          <p:cNvPr id="58" name="Shape 56"/>
          <p:cNvSpPr/>
          <p:nvPr/>
        </p:nvSpPr>
        <p:spPr>
          <a:xfrm>
            <a:off x="12054930" y="5445657"/>
            <a:ext cx="439265" cy="18355"/>
          </a:xfrm>
          <a:prstGeom prst="rect">
            <a:avLst/>
          </a:prstGeom>
          <a:solidFill>
            <a:srgbClr val="F1EDE5">
              <a:alpha val="40000"/>
            </a:srgbClr>
          </a:solidFill>
          <a:ln/>
        </p:spPr>
      </p:sp>
      <p:sp>
        <p:nvSpPr>
          <p:cNvPr id="59" name="Shape 57"/>
          <p:cNvSpPr/>
          <p:nvPr/>
        </p:nvSpPr>
        <p:spPr>
          <a:xfrm>
            <a:off x="12054930" y="5184804"/>
            <a:ext cx="439265" cy="18355"/>
          </a:xfrm>
          <a:prstGeom prst="rect">
            <a:avLst/>
          </a:prstGeom>
          <a:solidFill>
            <a:srgbClr val="F1EDE5">
              <a:alpha val="40000"/>
            </a:srgbClr>
          </a:solidFill>
          <a:ln/>
        </p:spPr>
      </p:sp>
      <p:sp>
        <p:nvSpPr>
          <p:cNvPr id="60" name="Shape 58"/>
          <p:cNvSpPr/>
          <p:nvPr/>
        </p:nvSpPr>
        <p:spPr>
          <a:xfrm>
            <a:off x="12054930" y="5184804"/>
            <a:ext cx="18355" cy="279208"/>
          </a:xfrm>
          <a:prstGeom prst="rect">
            <a:avLst/>
          </a:prstGeom>
          <a:solidFill>
            <a:srgbClr val="F1EDE5">
              <a:alpha val="40000"/>
            </a:srgbClr>
          </a:solidFill>
          <a:ln/>
        </p:spPr>
      </p:sp>
      <p:sp>
        <p:nvSpPr>
          <p:cNvPr id="61" name="Shape 59"/>
          <p:cNvSpPr/>
          <p:nvPr/>
        </p:nvSpPr>
        <p:spPr>
          <a:xfrm>
            <a:off x="12475840" y="5184804"/>
            <a:ext cx="18355" cy="279208"/>
          </a:xfrm>
          <a:prstGeom prst="rect">
            <a:avLst/>
          </a:prstGeom>
          <a:solidFill>
            <a:srgbClr val="F1EDE5">
              <a:alpha val="40000"/>
            </a:srgbClr>
          </a:solidFill>
          <a:ln/>
        </p:spPr>
      </p:sp>
      <p:sp>
        <p:nvSpPr>
          <p:cNvPr id="62" name="Shape 60"/>
          <p:cNvSpPr/>
          <p:nvPr/>
        </p:nvSpPr>
        <p:spPr>
          <a:xfrm>
            <a:off x="13102635" y="5089766"/>
            <a:ext cx="439644" cy="18355"/>
          </a:xfrm>
          <a:prstGeom prst="rect">
            <a:avLst/>
          </a:prstGeom>
          <a:solidFill>
            <a:srgbClr val="F1EDE5">
              <a:alpha val="40000"/>
            </a:srgbClr>
          </a:solidFill>
          <a:ln/>
        </p:spPr>
      </p:sp>
      <p:sp>
        <p:nvSpPr>
          <p:cNvPr id="63" name="Shape 61"/>
          <p:cNvSpPr/>
          <p:nvPr/>
        </p:nvSpPr>
        <p:spPr>
          <a:xfrm>
            <a:off x="13102635" y="4841108"/>
            <a:ext cx="439644" cy="18355"/>
          </a:xfrm>
          <a:prstGeom prst="rect">
            <a:avLst/>
          </a:prstGeom>
          <a:solidFill>
            <a:srgbClr val="F1EDE5">
              <a:alpha val="40000"/>
            </a:srgbClr>
          </a:solidFill>
          <a:ln/>
        </p:spPr>
      </p:sp>
      <p:sp>
        <p:nvSpPr>
          <p:cNvPr id="64" name="Shape 62"/>
          <p:cNvSpPr/>
          <p:nvPr/>
        </p:nvSpPr>
        <p:spPr>
          <a:xfrm>
            <a:off x="13102635" y="4841108"/>
            <a:ext cx="18355" cy="267013"/>
          </a:xfrm>
          <a:prstGeom prst="rect">
            <a:avLst/>
          </a:prstGeom>
          <a:solidFill>
            <a:srgbClr val="F1EDE5">
              <a:alpha val="40000"/>
            </a:srgbClr>
          </a:solidFill>
          <a:ln/>
        </p:spPr>
      </p:sp>
      <p:sp>
        <p:nvSpPr>
          <p:cNvPr id="65" name="Shape 63"/>
          <p:cNvSpPr/>
          <p:nvPr/>
        </p:nvSpPr>
        <p:spPr>
          <a:xfrm>
            <a:off x="13523923" y="4841108"/>
            <a:ext cx="18355" cy="267013"/>
          </a:xfrm>
          <a:prstGeom prst="rect">
            <a:avLst/>
          </a:prstGeom>
          <a:solidFill>
            <a:srgbClr val="F1EDE5">
              <a:alpha val="40000"/>
            </a:srgbClr>
          </a:solidFill>
          <a:ln/>
        </p:spPr>
      </p:sp>
      <p:sp>
        <p:nvSpPr>
          <p:cNvPr id="66" name="Shape 64"/>
          <p:cNvSpPr/>
          <p:nvPr/>
        </p:nvSpPr>
        <p:spPr>
          <a:xfrm>
            <a:off x="13742281" y="5154367"/>
            <a:ext cx="1947672" cy="18355"/>
          </a:xfrm>
          <a:prstGeom prst="rect">
            <a:avLst/>
          </a:prstGeom>
          <a:solidFill>
            <a:srgbClr val="F1EDE5">
              <a:alpha val="35000"/>
            </a:srgbClr>
          </a:solidFill>
          <a:ln/>
        </p:spPr>
      </p:sp>
      <p:sp>
        <p:nvSpPr>
          <p:cNvPr id="67" name="Shape 65"/>
          <p:cNvSpPr/>
          <p:nvPr/>
        </p:nvSpPr>
        <p:spPr>
          <a:xfrm>
            <a:off x="13742281" y="4097814"/>
            <a:ext cx="1947672" cy="18355"/>
          </a:xfrm>
          <a:prstGeom prst="rect">
            <a:avLst/>
          </a:prstGeom>
          <a:solidFill>
            <a:srgbClr val="F1EDE5">
              <a:alpha val="35000"/>
            </a:srgbClr>
          </a:solidFill>
          <a:ln/>
        </p:spPr>
      </p:sp>
      <p:sp>
        <p:nvSpPr>
          <p:cNvPr id="68" name="Shape 66"/>
          <p:cNvSpPr/>
          <p:nvPr/>
        </p:nvSpPr>
        <p:spPr>
          <a:xfrm>
            <a:off x="13742281" y="4097814"/>
            <a:ext cx="18355" cy="1074908"/>
          </a:xfrm>
          <a:prstGeom prst="rect">
            <a:avLst/>
          </a:prstGeom>
          <a:solidFill>
            <a:srgbClr val="F1EDE5">
              <a:alpha val="35000"/>
            </a:srgbClr>
          </a:solidFill>
          <a:ln/>
        </p:spPr>
      </p:sp>
      <p:sp>
        <p:nvSpPr>
          <p:cNvPr id="69" name="Shape 67"/>
          <p:cNvSpPr/>
          <p:nvPr/>
        </p:nvSpPr>
        <p:spPr>
          <a:xfrm>
            <a:off x="15671597" y="4097814"/>
            <a:ext cx="18355" cy="1074908"/>
          </a:xfrm>
          <a:prstGeom prst="rect">
            <a:avLst/>
          </a:prstGeom>
          <a:solidFill>
            <a:srgbClr val="F1EDE5">
              <a:alpha val="35000"/>
            </a:srgbClr>
          </a:solidFill>
          <a:ln/>
        </p:spPr>
      </p:sp>
      <p:sp>
        <p:nvSpPr>
          <p:cNvPr id="70" name="Shape 68"/>
          <p:cNvSpPr/>
          <p:nvPr/>
        </p:nvSpPr>
        <p:spPr>
          <a:xfrm>
            <a:off x="13810043" y="4054247"/>
            <a:ext cx="277555" cy="104416"/>
          </a:xfrm>
          <a:prstGeom prst="rect">
            <a:avLst/>
          </a:prstGeom>
          <a:solidFill>
            <a:srgbClr val="F1EDE5">
              <a:alpha val="30000"/>
            </a:srgbClr>
          </a:solidFill>
          <a:ln/>
        </p:spPr>
      </p:sp>
      <p:sp>
        <p:nvSpPr>
          <p:cNvPr id="71" name="Shape 69"/>
          <p:cNvSpPr/>
          <p:nvPr/>
        </p:nvSpPr>
        <p:spPr>
          <a:xfrm>
            <a:off x="12500361" y="5296331"/>
            <a:ext cx="409001" cy="18355"/>
          </a:xfrm>
          <a:prstGeom prst="rect">
            <a:avLst/>
          </a:prstGeom>
          <a:solidFill>
            <a:srgbClr val="F1EDE5">
              <a:alpha val="35000"/>
            </a:srgbClr>
          </a:solidFill>
          <a:ln/>
        </p:spPr>
      </p:sp>
      <p:sp>
        <p:nvSpPr>
          <p:cNvPr id="72" name="Shape 70"/>
          <p:cNvSpPr/>
          <p:nvPr/>
        </p:nvSpPr>
        <p:spPr>
          <a:xfrm>
            <a:off x="12500361" y="5121398"/>
            <a:ext cx="409001" cy="18355"/>
          </a:xfrm>
          <a:prstGeom prst="rect">
            <a:avLst/>
          </a:prstGeom>
          <a:solidFill>
            <a:srgbClr val="F1EDE5">
              <a:alpha val="35000"/>
            </a:srgbClr>
          </a:solidFill>
          <a:ln/>
        </p:spPr>
      </p:sp>
      <p:sp>
        <p:nvSpPr>
          <p:cNvPr id="73" name="Shape 71"/>
          <p:cNvSpPr/>
          <p:nvPr/>
        </p:nvSpPr>
        <p:spPr>
          <a:xfrm>
            <a:off x="12500361" y="5121398"/>
            <a:ext cx="18355" cy="193289"/>
          </a:xfrm>
          <a:prstGeom prst="rect">
            <a:avLst/>
          </a:prstGeom>
          <a:solidFill>
            <a:srgbClr val="F1EDE5">
              <a:alpha val="35000"/>
            </a:srgbClr>
          </a:solidFill>
          <a:ln/>
        </p:spPr>
      </p:sp>
      <p:sp>
        <p:nvSpPr>
          <p:cNvPr id="74" name="Shape 72"/>
          <p:cNvSpPr/>
          <p:nvPr/>
        </p:nvSpPr>
        <p:spPr>
          <a:xfrm>
            <a:off x="12891007" y="5121398"/>
            <a:ext cx="18355" cy="193289"/>
          </a:xfrm>
          <a:prstGeom prst="rect">
            <a:avLst/>
          </a:prstGeom>
          <a:solidFill>
            <a:srgbClr val="F1EDE5">
              <a:alpha val="35000"/>
            </a:srgbClr>
          </a:solidFill>
          <a:ln/>
        </p:spPr>
      </p:sp>
      <p:sp>
        <p:nvSpPr>
          <p:cNvPr id="75" name="Shape 73"/>
          <p:cNvSpPr/>
          <p:nvPr/>
        </p:nvSpPr>
        <p:spPr>
          <a:xfrm>
            <a:off x="7647098" y="4810174"/>
            <a:ext cx="178891" cy="98581"/>
          </a:xfrm>
          <a:prstGeom prst="roundRect">
            <a:avLst>
              <a:gd name="adj" fmla="val 50000"/>
            </a:avLst>
          </a:prstGeom>
          <a:solidFill>
            <a:srgbClr val="E2A24F"/>
          </a:solidFill>
          <a:ln/>
        </p:spPr>
      </p:sp>
      <p:sp>
        <p:nvSpPr>
          <p:cNvPr id="76" name="Shape 74"/>
          <p:cNvSpPr/>
          <p:nvPr/>
        </p:nvSpPr>
        <p:spPr>
          <a:xfrm>
            <a:off x="11414860" y="4721610"/>
            <a:ext cx="184294" cy="97442"/>
          </a:xfrm>
          <a:prstGeom prst="roundRect">
            <a:avLst>
              <a:gd name="adj" fmla="val 50000"/>
            </a:avLst>
          </a:prstGeom>
          <a:solidFill>
            <a:srgbClr val="E2A24F"/>
          </a:solidFill>
          <a:ln/>
        </p:spPr>
      </p:sp>
      <p:sp>
        <p:nvSpPr>
          <p:cNvPr id="77" name="Shape 75"/>
          <p:cNvSpPr/>
          <p:nvPr/>
        </p:nvSpPr>
        <p:spPr>
          <a:xfrm>
            <a:off x="11271775" y="3770531"/>
            <a:ext cx="172518" cy="85622"/>
          </a:xfrm>
          <a:prstGeom prst="roundRect">
            <a:avLst>
              <a:gd name="adj" fmla="val 50000"/>
            </a:avLst>
          </a:prstGeom>
          <a:solidFill>
            <a:srgbClr val="E2A24F"/>
          </a:solidFill>
          <a:ln/>
        </p:spPr>
      </p:sp>
      <p:sp>
        <p:nvSpPr>
          <p:cNvPr id="78" name="Shape 76"/>
          <p:cNvSpPr/>
          <p:nvPr/>
        </p:nvSpPr>
        <p:spPr>
          <a:xfrm>
            <a:off x="5511966" y="6578186"/>
            <a:ext cx="195526" cy="122731"/>
          </a:xfrm>
          <a:prstGeom prst="roundRect">
            <a:avLst>
              <a:gd name="adj" fmla="val 50000"/>
            </a:avLst>
          </a:prstGeom>
          <a:solidFill>
            <a:srgbClr val="E2A24F">
              <a:alpha val="60000"/>
            </a:srgbClr>
          </a:solidFill>
          <a:ln/>
        </p:spPr>
      </p:sp>
      <p:sp>
        <p:nvSpPr>
          <p:cNvPr id="79" name="Shape 77"/>
          <p:cNvSpPr/>
          <p:nvPr/>
        </p:nvSpPr>
        <p:spPr>
          <a:xfrm>
            <a:off x="14231107" y="2876916"/>
            <a:ext cx="166130" cy="75217"/>
          </a:xfrm>
          <a:prstGeom prst="roundRect">
            <a:avLst>
              <a:gd name="adj" fmla="val 50000"/>
            </a:avLst>
          </a:prstGeom>
          <a:solidFill>
            <a:srgbClr val="E2A24F">
              <a:alpha val="60000"/>
            </a:srgbClr>
          </a:solidFill>
          <a:ln/>
        </p:spPr>
      </p:sp>
      <p:sp>
        <p:nvSpPr>
          <p:cNvPr id="80" name="Shape 78"/>
          <p:cNvSpPr/>
          <p:nvPr/>
        </p:nvSpPr>
        <p:spPr>
          <a:xfrm>
            <a:off x="12244328" y="3897919"/>
            <a:ext cx="545467" cy="18355"/>
          </a:xfrm>
          <a:prstGeom prst="rect">
            <a:avLst/>
          </a:prstGeom>
          <a:solidFill>
            <a:srgbClr val="F1EDE5">
              <a:alpha val="30000"/>
            </a:srgbClr>
          </a:solidFill>
          <a:ln/>
        </p:spPr>
      </p:sp>
      <p:sp>
        <p:nvSpPr>
          <p:cNvPr id="81" name="Shape 79"/>
          <p:cNvSpPr/>
          <p:nvPr/>
        </p:nvSpPr>
        <p:spPr>
          <a:xfrm>
            <a:off x="12244328" y="3687346"/>
            <a:ext cx="545467" cy="18355"/>
          </a:xfrm>
          <a:prstGeom prst="rect">
            <a:avLst/>
          </a:prstGeom>
          <a:solidFill>
            <a:srgbClr val="F1EDE5">
              <a:alpha val="30000"/>
            </a:srgbClr>
          </a:solidFill>
          <a:ln/>
        </p:spPr>
      </p:sp>
      <p:sp>
        <p:nvSpPr>
          <p:cNvPr id="82" name="Shape 80"/>
          <p:cNvSpPr/>
          <p:nvPr/>
        </p:nvSpPr>
        <p:spPr>
          <a:xfrm>
            <a:off x="12244328" y="3687346"/>
            <a:ext cx="18355" cy="228928"/>
          </a:xfrm>
          <a:prstGeom prst="rect">
            <a:avLst/>
          </a:prstGeom>
          <a:solidFill>
            <a:srgbClr val="F1EDE5">
              <a:alpha val="30000"/>
            </a:srgbClr>
          </a:solidFill>
          <a:ln/>
        </p:spPr>
      </p:sp>
      <p:sp>
        <p:nvSpPr>
          <p:cNvPr id="83" name="Shape 81"/>
          <p:cNvSpPr/>
          <p:nvPr/>
        </p:nvSpPr>
        <p:spPr>
          <a:xfrm>
            <a:off x="12771439" y="3687346"/>
            <a:ext cx="18355" cy="228928"/>
          </a:xfrm>
          <a:prstGeom prst="rect">
            <a:avLst/>
          </a:prstGeom>
          <a:solidFill>
            <a:srgbClr val="F1EDE5">
              <a:alpha val="30000"/>
            </a:srgbClr>
          </a:solidFill>
          <a:ln/>
        </p:spPr>
      </p:sp>
      <p:sp>
        <p:nvSpPr>
          <p:cNvPr id="84" name="Shape 82"/>
          <p:cNvSpPr/>
          <p:nvPr/>
        </p:nvSpPr>
        <p:spPr>
          <a:xfrm>
            <a:off x="6868805" y="5923700"/>
            <a:ext cx="628999" cy="18355"/>
          </a:xfrm>
          <a:prstGeom prst="rect">
            <a:avLst/>
          </a:prstGeom>
          <a:solidFill>
            <a:srgbClr val="F1EDE5">
              <a:alpha val="30000"/>
            </a:srgbClr>
          </a:solidFill>
          <a:ln/>
        </p:spPr>
      </p:sp>
      <p:sp>
        <p:nvSpPr>
          <p:cNvPr id="85" name="Shape 83"/>
          <p:cNvSpPr/>
          <p:nvPr/>
        </p:nvSpPr>
        <p:spPr>
          <a:xfrm>
            <a:off x="6868805" y="5645005"/>
            <a:ext cx="628999" cy="18355"/>
          </a:xfrm>
          <a:prstGeom prst="rect">
            <a:avLst/>
          </a:prstGeom>
          <a:solidFill>
            <a:srgbClr val="F1EDE5">
              <a:alpha val="30000"/>
            </a:srgbClr>
          </a:solidFill>
          <a:ln/>
        </p:spPr>
      </p:sp>
      <p:sp>
        <p:nvSpPr>
          <p:cNvPr id="86" name="Shape 84"/>
          <p:cNvSpPr/>
          <p:nvPr/>
        </p:nvSpPr>
        <p:spPr>
          <a:xfrm>
            <a:off x="6868805" y="5645005"/>
            <a:ext cx="18355" cy="297051"/>
          </a:xfrm>
          <a:prstGeom prst="rect">
            <a:avLst/>
          </a:prstGeom>
          <a:solidFill>
            <a:srgbClr val="F1EDE5">
              <a:alpha val="30000"/>
            </a:srgbClr>
          </a:solidFill>
          <a:ln/>
        </p:spPr>
      </p:sp>
      <p:sp>
        <p:nvSpPr>
          <p:cNvPr id="87" name="Shape 85"/>
          <p:cNvSpPr/>
          <p:nvPr/>
        </p:nvSpPr>
        <p:spPr>
          <a:xfrm>
            <a:off x="7479449" y="5645005"/>
            <a:ext cx="18355" cy="297051"/>
          </a:xfrm>
          <a:prstGeom prst="rect">
            <a:avLst/>
          </a:prstGeom>
          <a:solidFill>
            <a:srgbClr val="F1EDE5">
              <a:alpha val="30000"/>
            </a:srgbClr>
          </a:solidFill>
          <a:ln/>
        </p:spPr>
      </p:sp>
      <p:sp>
        <p:nvSpPr>
          <p:cNvPr id="88" name="Text 86"/>
          <p:cNvSpPr/>
          <p:nvPr/>
        </p:nvSpPr>
        <p:spPr>
          <a:xfrm>
            <a:off x="1390650" y="528637"/>
            <a:ext cx="3684419"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F1EDE5">
                    <a:alpha val="50000"/>
                  </a:srgbClr>
                </a:solidFill>
                <a:latin typeface="Courier New" pitchFamily="34" charset="0"/>
                <a:ea typeface="Courier New" pitchFamily="34" charset="-122"/>
                <a:cs typeface="Courier New" pitchFamily="34" charset="-120"/>
              </a:rPr>
              <a:t>MAIN ST · FRIDAY · 07:12</a:t>
            </a:r>
            <a:endParaRPr lang="en-US" sz="1665" dirty="0"/>
          </a:p>
        </p:txBody>
      </p:sp>
      <p:sp>
        <p:nvSpPr>
          <p:cNvPr id="89" name="Text 87"/>
          <p:cNvSpPr/>
          <p:nvPr/>
        </p:nvSpPr>
        <p:spPr>
          <a:xfrm>
            <a:off x="15083027" y="528637"/>
            <a:ext cx="1995756"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F1EDE5">
                    <a:alpha val="50000"/>
                  </a:srgbClr>
                </a:solidFill>
                <a:latin typeface="Courier New" pitchFamily="34" charset="0"/>
                <a:ea typeface="Courier New" pitchFamily="34" charset="-122"/>
                <a:cs typeface="Courier New" pitchFamily="34" charset="-120"/>
              </a:rPr>
              <a:t>EXAMPLE BLOCK</a:t>
            </a:r>
            <a:endParaRPr lang="en-US" sz="1665" dirty="0"/>
          </a:p>
        </p:txBody>
      </p:sp>
      <p:sp>
        <p:nvSpPr>
          <p:cNvPr id="90" name="Text 88"/>
          <p:cNvSpPr/>
          <p:nvPr/>
        </p:nvSpPr>
        <p:spPr>
          <a:xfrm>
            <a:off x="7029450" y="1762125"/>
            <a:ext cx="1227604" cy="291406"/>
          </a:xfrm>
          <a:prstGeom prst="rect">
            <a:avLst/>
          </a:prstGeom>
          <a:noFill/>
          <a:ln/>
        </p:spPr>
        <p:txBody>
          <a:bodyPr wrap="square" lIns="25400" tIns="25400" rIns="25400" bIns="25400" rtlCol="0" anchor="t">
            <a:normAutofit/>
          </a:bodyPr>
          <a:lstStyle/>
          <a:p>
            <a:pPr algn="l" indent="0" marL="0">
              <a:buNone/>
            </a:pPr>
            <a:r>
              <a:rPr lang="en-US" sz="1526" spc="92" kern="0" dirty="0">
                <a:solidFill>
                  <a:srgbClr val="F1EDE5">
                    <a:alpha val="50000"/>
                  </a:srgbClr>
                </a:solidFill>
                <a:latin typeface="Courier New" pitchFamily="34" charset="0"/>
                <a:ea typeface="Courier New" pitchFamily="34" charset="-122"/>
                <a:cs typeface="Courier New" pitchFamily="34" charset="-120"/>
              </a:rPr>
              <a:t>CAFÉ · </a:t>
            </a:r>
            <a:pPr algn="l" indent="0" marL="0">
              <a:buNone/>
            </a:pPr>
            <a:r>
              <a:rPr lang="en-US" sz="1526" spc="92" kern="0" dirty="0">
                <a:solidFill>
                  <a:srgbClr val="E2A24F"/>
                </a:solidFill>
                <a:latin typeface="Courier New" pitchFamily="34" charset="0"/>
                <a:ea typeface="Courier New" pitchFamily="34" charset="-122"/>
                <a:cs typeface="Courier New" pitchFamily="34" charset="-120"/>
              </a:rPr>
              <a:t>24</a:t>
            </a:r>
            <a:endParaRPr lang="en-US" sz="1526" dirty="0"/>
          </a:p>
        </p:txBody>
      </p:sp>
      <p:sp>
        <p:nvSpPr>
          <p:cNvPr id="91" name="Text 89"/>
          <p:cNvSpPr/>
          <p:nvPr/>
        </p:nvSpPr>
        <p:spPr>
          <a:xfrm>
            <a:off x="10201275" y="1497806"/>
            <a:ext cx="1829432" cy="291406"/>
          </a:xfrm>
          <a:prstGeom prst="rect">
            <a:avLst/>
          </a:prstGeom>
          <a:noFill/>
          <a:ln/>
        </p:spPr>
        <p:txBody>
          <a:bodyPr wrap="square" lIns="25400" tIns="25400" rIns="25400" bIns="25400" rtlCol="0" anchor="t">
            <a:normAutofit/>
          </a:bodyPr>
          <a:lstStyle/>
          <a:p>
            <a:pPr algn="l" indent="0" marL="0">
              <a:buNone/>
            </a:pPr>
            <a:r>
              <a:rPr lang="en-US" sz="1526" spc="92" kern="0" dirty="0">
                <a:solidFill>
                  <a:srgbClr val="F1EDE5">
                    <a:alpha val="50000"/>
                  </a:srgbClr>
                </a:solidFill>
                <a:latin typeface="Courier New" pitchFamily="34" charset="0"/>
                <a:ea typeface="Courier New" pitchFamily="34" charset="-122"/>
                <a:cs typeface="Courier New" pitchFamily="34" charset="-120"/>
              </a:rPr>
              <a:t>PHARMACY · </a:t>
            </a:r>
            <a:pPr algn="l" indent="0" marL="0">
              <a:buNone/>
            </a:pPr>
            <a:r>
              <a:rPr lang="en-US" sz="1526" spc="92" kern="0" dirty="0">
                <a:solidFill>
                  <a:srgbClr val="E2A24F"/>
                </a:solidFill>
                <a:latin typeface="Courier New" pitchFamily="34" charset="0"/>
                <a:ea typeface="Courier New" pitchFamily="34" charset="-122"/>
                <a:cs typeface="Courier New" pitchFamily="34" charset="-120"/>
              </a:rPr>
              <a:t>31</a:t>
            </a:r>
            <a:endParaRPr lang="en-US" sz="1526" dirty="0"/>
          </a:p>
        </p:txBody>
      </p:sp>
      <p:sp>
        <p:nvSpPr>
          <p:cNvPr id="92" name="Text 90"/>
          <p:cNvSpPr/>
          <p:nvPr/>
        </p:nvSpPr>
        <p:spPr>
          <a:xfrm>
            <a:off x="6324600" y="5638800"/>
            <a:ext cx="1829432" cy="291405"/>
          </a:xfrm>
          <a:prstGeom prst="rect">
            <a:avLst/>
          </a:prstGeom>
          <a:noFill/>
          <a:ln/>
        </p:spPr>
        <p:txBody>
          <a:bodyPr wrap="square" lIns="25400" tIns="25400" rIns="25400" bIns="25400" rtlCol="0" anchor="t">
            <a:normAutofit/>
          </a:bodyPr>
          <a:lstStyle/>
          <a:p>
            <a:pPr algn="l" indent="0" marL="0">
              <a:buNone/>
            </a:pPr>
            <a:r>
              <a:rPr lang="en-US" sz="1526" spc="92" kern="0" dirty="0">
                <a:solidFill>
                  <a:srgbClr val="F1EDE5">
                    <a:alpha val="50000"/>
                  </a:srgbClr>
                </a:solidFill>
                <a:latin typeface="Courier New" pitchFamily="34" charset="0"/>
                <a:ea typeface="Courier New" pitchFamily="34" charset="-122"/>
                <a:cs typeface="Courier New" pitchFamily="34" charset="-120"/>
              </a:rPr>
              <a:t>HARDWARE · </a:t>
            </a:r>
            <a:pPr algn="l" indent="0" marL="0">
              <a:buNone/>
            </a:pPr>
            <a:r>
              <a:rPr lang="en-US" sz="1526" spc="92" kern="0" dirty="0">
                <a:solidFill>
                  <a:srgbClr val="E2A24F"/>
                </a:solidFill>
                <a:latin typeface="Courier New" pitchFamily="34" charset="0"/>
                <a:ea typeface="Courier New" pitchFamily="34" charset="-122"/>
                <a:cs typeface="Courier New" pitchFamily="34" charset="-120"/>
              </a:rPr>
              <a:t>19</a:t>
            </a:r>
            <a:endParaRPr lang="en-US" sz="1526" dirty="0"/>
          </a:p>
        </p:txBody>
      </p:sp>
      <p:sp>
        <p:nvSpPr>
          <p:cNvPr id="93" name="Shape 91"/>
          <p:cNvSpPr/>
          <p:nvPr/>
        </p:nvSpPr>
        <p:spPr>
          <a:xfrm rot="-1320001">
            <a:off x="11514741" y="6200980"/>
            <a:ext cx="2643188" cy="9525"/>
          </a:xfrm>
          <a:prstGeom prst="rect">
            <a:avLst/>
          </a:prstGeom>
          <a:solidFill>
            <a:srgbClr val="F1EDE5">
              <a:alpha val="35000"/>
            </a:srgbClr>
          </a:solidFill>
          <a:ln/>
        </p:spPr>
      </p:sp>
      <p:sp>
        <p:nvSpPr>
          <p:cNvPr id="94" name="Text 92"/>
          <p:cNvSpPr/>
          <p:nvPr/>
        </p:nvSpPr>
        <p:spPr>
          <a:xfrm>
            <a:off x="14430375" y="5374481"/>
            <a:ext cx="2955208" cy="291405"/>
          </a:xfrm>
          <a:prstGeom prst="rect">
            <a:avLst/>
          </a:prstGeom>
          <a:noFill/>
          <a:ln/>
        </p:spPr>
        <p:txBody>
          <a:bodyPr wrap="square" lIns="25400" tIns="25400" rIns="25400" bIns="25400" rtlCol="0" anchor="t">
            <a:normAutofit/>
          </a:bodyPr>
          <a:lstStyle/>
          <a:p>
            <a:pPr algn="l" indent="0" marL="0">
              <a:buNone/>
            </a:pPr>
            <a:r>
              <a:rPr lang="en-US" sz="1526" spc="92" kern="0" dirty="0">
                <a:solidFill>
                  <a:srgbClr val="F1EDE5"/>
                </a:solidFill>
                <a:latin typeface="Courier New" pitchFamily="34" charset="0"/>
                <a:ea typeface="Courier New" pitchFamily="34" charset="-122"/>
                <a:cs typeface="Courier New" pitchFamily="34" charset="-120"/>
              </a:rPr>
              <a:t>JOE'S FUEL &amp; GO · 118</a:t>
            </a:r>
            <a:endParaRPr lang="en-US" sz="1526" dirty="0"/>
          </a:p>
        </p:txBody>
      </p:sp>
      <p:sp>
        <p:nvSpPr>
          <p:cNvPr id="95" name="Text 93"/>
          <p:cNvSpPr/>
          <p:nvPr/>
        </p:nvSpPr>
        <p:spPr>
          <a:xfrm>
            <a:off x="14430375" y="5680616"/>
            <a:ext cx="2767149" cy="379512"/>
          </a:xfrm>
          <a:prstGeom prst="rect">
            <a:avLst/>
          </a:prstGeom>
          <a:noFill/>
          <a:ln/>
        </p:spPr>
        <p:txBody>
          <a:bodyPr wrap="square" lIns="25400" tIns="25400" rIns="25400" bIns="25400" rtlCol="0" anchor="t">
            <a:normAutofit/>
          </a:bodyPr>
          <a:lstStyle/>
          <a:p>
            <a:pPr algn="l" indent="0" marL="0">
              <a:buNone/>
            </a:pPr>
            <a:r>
              <a:rPr lang="en-US" sz="1526" spc="92" kern="0" dirty="0">
                <a:solidFill>
                  <a:srgbClr val="F1EDE5">
                    <a:alpha val="50000"/>
                  </a:srgbClr>
                </a:solidFill>
                <a:latin typeface="Courier New" pitchFamily="34" charset="0"/>
                <a:ea typeface="Courier New" pitchFamily="34" charset="-122"/>
                <a:cs typeface="Courier New" pitchFamily="34" charset="-120"/>
              </a:rPr>
              <a:t>07:00–10:00 · </a:t>
            </a:r>
            <a:pPr algn="l" indent="0" marL="0">
              <a:buNone/>
            </a:pPr>
            <a:r>
              <a:rPr lang="en-US" sz="2081" spc="92" kern="0" dirty="0">
                <a:solidFill>
                  <a:srgbClr val="F1EDE5"/>
                </a:solidFill>
                <a:latin typeface="Courier New" pitchFamily="34" charset="0"/>
                <a:ea typeface="Courier New" pitchFamily="34" charset="-122"/>
                <a:cs typeface="Courier New" pitchFamily="34" charset="-120"/>
              </a:rPr>
              <a:t>3</a:t>
            </a:r>
            <a:endParaRPr lang="en-US" sz="1526" dirty="0"/>
          </a:p>
        </p:txBody>
      </p:sp>
      <p:sp>
        <p:nvSpPr>
          <p:cNvPr id="96" name="Text 94"/>
          <p:cNvSpPr/>
          <p:nvPr/>
        </p:nvSpPr>
        <p:spPr>
          <a:xfrm>
            <a:off x="1390650" y="7682968"/>
            <a:ext cx="3515182" cy="1201033"/>
          </a:xfrm>
          <a:prstGeom prst="rect">
            <a:avLst/>
          </a:prstGeom>
          <a:noFill/>
          <a:ln/>
        </p:spPr>
        <p:txBody>
          <a:bodyPr wrap="square" lIns="25400" tIns="25400" rIns="25400" bIns="25400" rtlCol="0" anchor="t">
            <a:normAutofit/>
          </a:bodyPr>
          <a:lstStyle/>
          <a:p>
            <a:pPr algn="l" indent="0" marL="0">
              <a:lnSpc>
                <a:spcPct val="95422"/>
              </a:lnSpc>
              <a:buNone/>
            </a:pPr>
            <a:r>
              <a:rPr lang="en-US" sz="4163" spc="-104" kern="0" dirty="0">
                <a:solidFill>
                  <a:srgbClr val="F1EDE5"/>
                </a:solidFill>
                <a:latin typeface="Arial" pitchFamily="34" charset="0"/>
                <a:ea typeface="Arial" pitchFamily="34" charset="-122"/>
                <a:cs typeface="Arial" pitchFamily="34" charset="-120"/>
              </a:rPr>
              <a:t>Same street. Same morning.</a:t>
            </a:r>
            <a:endParaRPr lang="en-US" sz="4163" dirty="0"/>
          </a:p>
        </p:txBody>
      </p:sp>
      <p:sp>
        <p:nvSpPr>
          <p:cNvPr id="97" name="Text 95"/>
          <p:cNvSpPr/>
          <p:nvPr/>
        </p:nvSpPr>
        <p:spPr>
          <a:xfrm>
            <a:off x="685788" y="9765543"/>
            <a:ext cx="3042704"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alpha val="55000"/>
                  </a:srgbClr>
                </a:solidFill>
                <a:latin typeface="Courier New" pitchFamily="34" charset="0"/>
                <a:ea typeface="Courier New" pitchFamily="34" charset="-122"/>
                <a:cs typeface="Courier New" pitchFamily="34" charset="-120"/>
              </a:rPr>
              <a:t>SCENE 02 · 0:04–0:09</a:t>
            </a:r>
            <a:endParaRPr lang="en-US" sz="1650" dirty="0"/>
          </a:p>
        </p:txBody>
      </p:sp>
      <p:sp>
        <p:nvSpPr>
          <p:cNvPr id="98" name="Text 96"/>
          <p:cNvSpPr/>
          <p:nvPr/>
        </p:nvSpPr>
        <p:spPr>
          <a:xfrm>
            <a:off x="8245016" y="9765543"/>
            <a:ext cx="1977764"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solidFill>
                <a:latin typeface="Courier New" pitchFamily="34" charset="0"/>
                <a:ea typeface="Courier New" pitchFamily="34" charset="-122"/>
                <a:cs typeface="Courier New" pitchFamily="34" charset="-120"/>
              </a:rPr>
              <a:t>LOCAL REALITY</a:t>
            </a:r>
            <a:endParaRPr lang="en-US" sz="1650" dirty="0"/>
          </a:p>
        </p:txBody>
      </p:sp>
      <p:sp>
        <p:nvSpPr>
          <p:cNvPr id="99" name="Text 97"/>
          <p:cNvSpPr/>
          <p:nvPr/>
        </p:nvSpPr>
        <p:spPr>
          <a:xfrm>
            <a:off x="14836118" y="9765543"/>
            <a:ext cx="3042704"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alpha val="55000"/>
                  </a:srgbClr>
                </a:solidFill>
                <a:latin typeface="Courier New" pitchFamily="34" charset="0"/>
                <a:ea typeface="Courier New" pitchFamily="34" charset="-122"/>
                <a:cs typeface="Courier New" pitchFamily="34" charset="-120"/>
              </a:rPr>
              <a:t>DIRECTION 2 · YELLOW</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1013"/>
        </a:solidFill>
      </p:bgPr>
    </p:bg>
    <p:spTree>
      <p:nvGrpSpPr>
        <p:cNvPr id="1" name=""/>
        <p:cNvGrpSpPr/>
        <p:nvPr/>
      </p:nvGrpSpPr>
      <p:grpSpPr>
        <a:xfrm>
          <a:off x="0" y="0"/>
          <a:ext cx="0" cy="0"/>
          <a:chOff x="0" y="0"/>
          <a:chExt cx="0" cy="0"/>
        </a:xfrm>
      </p:grpSpPr>
      <p:sp>
        <p:nvSpPr>
          <p:cNvPr id="2" name="Shape 0"/>
          <p:cNvSpPr/>
          <p:nvPr/>
        </p:nvSpPr>
        <p:spPr>
          <a:xfrm>
            <a:off x="685800" y="0"/>
            <a:ext cx="16916401" cy="9515475"/>
          </a:xfrm>
          <a:prstGeom prst="rect">
            <a:avLst/>
          </a:prstGeom>
          <a:solidFill>
            <a:srgbClr val="FAF8F4"/>
          </a:solidFill>
          <a:ln/>
        </p:spPr>
      </p:sp>
      <p:sp>
        <p:nvSpPr>
          <p:cNvPr id="3" name="Text 1"/>
          <p:cNvSpPr/>
          <p:nvPr/>
        </p:nvSpPr>
        <p:spPr>
          <a:xfrm>
            <a:off x="1390650" y="528637"/>
            <a:ext cx="3223874"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17201F">
                    <a:alpha val="50000"/>
                  </a:srgbClr>
                </a:solidFill>
                <a:latin typeface="Courier New" pitchFamily="34" charset="0"/>
                <a:ea typeface="Courier New" pitchFamily="34" charset="-122"/>
                <a:cs typeface="Courier New" pitchFamily="34" charset="-120"/>
              </a:rPr>
              <a:t>JOE'S FUEL &amp; GO · 118</a:t>
            </a:r>
            <a:endParaRPr lang="en-US" sz="1665" dirty="0"/>
          </a:p>
        </p:txBody>
      </p:sp>
      <p:sp>
        <p:nvSpPr>
          <p:cNvPr id="4" name="Text 2"/>
          <p:cNvSpPr/>
          <p:nvPr/>
        </p:nvSpPr>
        <p:spPr>
          <a:xfrm>
            <a:off x="12989643" y="528637"/>
            <a:ext cx="4298478"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17201F">
                    <a:alpha val="50000"/>
                  </a:srgbClr>
                </a:solidFill>
                <a:latin typeface="Courier New" pitchFamily="34" charset="0"/>
                <a:ea typeface="Courier New" pitchFamily="34" charset="-122"/>
                <a:cs typeface="Courier New" pitchFamily="34" charset="-120"/>
              </a:rPr>
              <a:t>WHAT DO YOU WANT TO IMPROVE?</a:t>
            </a:r>
            <a:endParaRPr lang="en-US" sz="1665" dirty="0"/>
          </a:p>
        </p:txBody>
      </p:sp>
      <p:sp>
        <p:nvSpPr>
          <p:cNvPr id="5" name="Shape 3"/>
          <p:cNvSpPr/>
          <p:nvPr/>
        </p:nvSpPr>
        <p:spPr>
          <a:xfrm>
            <a:off x="1390650" y="1092495"/>
            <a:ext cx="15506700" cy="17610"/>
          </a:xfrm>
          <a:prstGeom prst="rect">
            <a:avLst/>
          </a:prstGeom>
          <a:solidFill>
            <a:srgbClr val="17201F">
              <a:alpha val="14000"/>
            </a:srgbClr>
          </a:solidFill>
          <a:ln/>
        </p:spPr>
      </p:sp>
      <p:sp>
        <p:nvSpPr>
          <p:cNvPr id="6" name="Text 4"/>
          <p:cNvSpPr/>
          <p:nvPr/>
        </p:nvSpPr>
        <p:spPr>
          <a:xfrm>
            <a:off x="1320154" y="2907506"/>
            <a:ext cx="15427404" cy="3562350"/>
          </a:xfrm>
          <a:prstGeom prst="rect">
            <a:avLst/>
          </a:prstGeom>
          <a:noFill/>
          <a:ln/>
        </p:spPr>
        <p:txBody>
          <a:bodyPr wrap="square" lIns="25400" tIns="25400" rIns="25400" bIns="25400" rtlCol="0" anchor="t">
            <a:normAutofit/>
          </a:bodyPr>
          <a:lstStyle/>
          <a:p>
            <a:pPr algn="l" indent="0" marL="0">
              <a:lnSpc>
                <a:spcPct val="86799"/>
              </a:lnSpc>
              <a:buNone/>
            </a:pPr>
            <a:r>
              <a:rPr lang="en-US" sz="13875" spc="-624" kern="0" dirty="0">
                <a:solidFill>
                  <a:srgbClr val="17201F"/>
                </a:solidFill>
                <a:latin typeface="Arial" pitchFamily="34" charset="0"/>
                <a:ea typeface="Arial" pitchFamily="34" charset="-122"/>
                <a:cs typeface="Arial" pitchFamily="34" charset="-120"/>
              </a:rPr>
              <a:t>Friday mornings are slow</a:t>
            </a:r>
            <a:endParaRPr lang="en-US" sz="13875" dirty="0"/>
          </a:p>
        </p:txBody>
      </p:sp>
      <p:sp>
        <p:nvSpPr>
          <p:cNvPr id="7" name="Text 5"/>
          <p:cNvSpPr/>
          <p:nvPr/>
        </p:nvSpPr>
        <p:spPr>
          <a:xfrm>
            <a:off x="1390650" y="8570570"/>
            <a:ext cx="7675867"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17201F">
                    <a:alpha val="50000"/>
                  </a:srgbClr>
                </a:solidFill>
                <a:latin typeface="Courier New" pitchFamily="34" charset="0"/>
                <a:ea typeface="Courier New" pitchFamily="34" charset="-122"/>
                <a:cs typeface="Courier New" pitchFamily="34" charset="-120"/>
              </a:rPr>
              <a:t>THURSDAY · 6:41 PM · SAID IN THE OWNER'S OWN WORDS</a:t>
            </a:r>
            <a:endParaRPr lang="en-US" sz="1665" dirty="0"/>
          </a:p>
        </p:txBody>
      </p:sp>
      <p:sp>
        <p:nvSpPr>
          <p:cNvPr id="8" name="Text 6"/>
          <p:cNvSpPr/>
          <p:nvPr/>
        </p:nvSpPr>
        <p:spPr>
          <a:xfrm>
            <a:off x="685788" y="9765543"/>
            <a:ext cx="3042704"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alpha val="55000"/>
                  </a:srgbClr>
                </a:solidFill>
                <a:latin typeface="Courier New" pitchFamily="34" charset="0"/>
                <a:ea typeface="Courier New" pitchFamily="34" charset="-122"/>
                <a:cs typeface="Courier New" pitchFamily="34" charset="-120"/>
              </a:rPr>
              <a:t>SCENE 03 · 0:09–0:13</a:t>
            </a:r>
            <a:endParaRPr lang="en-US" sz="1650" dirty="0"/>
          </a:p>
        </p:txBody>
      </p:sp>
      <p:sp>
        <p:nvSpPr>
          <p:cNvPr id="9" name="Text 7"/>
          <p:cNvSpPr/>
          <p:nvPr/>
        </p:nvSpPr>
        <p:spPr>
          <a:xfrm>
            <a:off x="8798222" y="9765543"/>
            <a:ext cx="906041"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solidFill>
                <a:latin typeface="Courier New" pitchFamily="34" charset="0"/>
                <a:ea typeface="Courier New" pitchFamily="34" charset="-122"/>
                <a:cs typeface="Courier New" pitchFamily="34" charset="-120"/>
              </a:rPr>
              <a:t>INTENT</a:t>
            </a:r>
            <a:endParaRPr lang="en-US" sz="1650" dirty="0"/>
          </a:p>
        </p:txBody>
      </p:sp>
      <p:sp>
        <p:nvSpPr>
          <p:cNvPr id="10" name="Text 8"/>
          <p:cNvSpPr/>
          <p:nvPr/>
        </p:nvSpPr>
        <p:spPr>
          <a:xfrm>
            <a:off x="14974403" y="9765543"/>
            <a:ext cx="2890589"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alpha val="55000"/>
                  </a:srgbClr>
                </a:solidFill>
                <a:latin typeface="Courier New" pitchFamily="34" charset="0"/>
                <a:ea typeface="Courier New" pitchFamily="34" charset="-122"/>
                <a:cs typeface="Courier New" pitchFamily="34" charset="-120"/>
              </a:rPr>
              <a:t>DIRECTION 1 · GREEN</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1013"/>
        </a:solidFill>
      </p:bgPr>
    </p:bg>
    <p:spTree>
      <p:nvGrpSpPr>
        <p:cNvPr id="1" name=""/>
        <p:cNvGrpSpPr/>
        <p:nvPr/>
      </p:nvGrpSpPr>
      <p:grpSpPr>
        <a:xfrm>
          <a:off x="0" y="0"/>
          <a:ext cx="0" cy="0"/>
          <a:chOff x="0" y="0"/>
          <a:chExt cx="0" cy="0"/>
        </a:xfrm>
      </p:grpSpPr>
      <p:sp>
        <p:nvSpPr>
          <p:cNvPr id="2" name="Shape 0"/>
          <p:cNvSpPr/>
          <p:nvPr/>
        </p:nvSpPr>
        <p:spPr>
          <a:xfrm>
            <a:off x="685800" y="0"/>
            <a:ext cx="16916401" cy="9515475"/>
          </a:xfrm>
          <a:prstGeom prst="rect">
            <a:avLst/>
          </a:prstGeom>
          <a:solidFill>
            <a:srgbClr val="FAF8F4"/>
          </a:solidFill>
          <a:ln/>
        </p:spPr>
      </p:sp>
      <p:sp>
        <p:nvSpPr>
          <p:cNvPr id="3" name="Text 1"/>
          <p:cNvSpPr/>
          <p:nvPr/>
        </p:nvSpPr>
        <p:spPr>
          <a:xfrm>
            <a:off x="1390650" y="528637"/>
            <a:ext cx="3223874"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17201F">
                    <a:alpha val="50000"/>
                  </a:srgbClr>
                </a:solidFill>
                <a:latin typeface="Courier New" pitchFamily="34" charset="0"/>
                <a:ea typeface="Courier New" pitchFamily="34" charset="-122"/>
                <a:cs typeface="Courier New" pitchFamily="34" charset="-120"/>
              </a:rPr>
              <a:t>JOE'S FUEL &amp; GO · 118</a:t>
            </a:r>
            <a:endParaRPr lang="en-US" sz="1665" dirty="0"/>
          </a:p>
        </p:txBody>
      </p:sp>
      <p:sp>
        <p:nvSpPr>
          <p:cNvPr id="4" name="Text 2"/>
          <p:cNvSpPr/>
          <p:nvPr/>
        </p:nvSpPr>
        <p:spPr>
          <a:xfrm>
            <a:off x="15920381" y="528637"/>
            <a:ext cx="1053169"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0F6F5C"/>
                </a:solidFill>
                <a:latin typeface="Courier New" pitchFamily="34" charset="0"/>
                <a:ea typeface="Courier New" pitchFamily="34" charset="-122"/>
                <a:cs typeface="Courier New" pitchFamily="34" charset="-120"/>
              </a:rPr>
              <a:t>READING</a:t>
            </a:r>
            <a:endParaRPr lang="en-US" sz="1665" dirty="0"/>
          </a:p>
        </p:txBody>
      </p:sp>
      <p:sp>
        <p:nvSpPr>
          <p:cNvPr id="5" name="Shape 3"/>
          <p:cNvSpPr/>
          <p:nvPr/>
        </p:nvSpPr>
        <p:spPr>
          <a:xfrm>
            <a:off x="1390650" y="1092495"/>
            <a:ext cx="15506700" cy="17610"/>
          </a:xfrm>
          <a:prstGeom prst="rect">
            <a:avLst/>
          </a:prstGeom>
          <a:solidFill>
            <a:srgbClr val="17201F">
              <a:alpha val="14000"/>
            </a:srgbClr>
          </a:solidFill>
          <a:ln/>
        </p:spPr>
      </p:sp>
      <p:sp>
        <p:nvSpPr>
          <p:cNvPr id="6" name="Text 4"/>
          <p:cNvSpPr/>
          <p:nvPr/>
        </p:nvSpPr>
        <p:spPr>
          <a:xfrm>
            <a:off x="1390650" y="1938338"/>
            <a:ext cx="5427345" cy="1359694"/>
          </a:xfrm>
          <a:prstGeom prst="rect">
            <a:avLst/>
          </a:prstGeom>
          <a:noFill/>
          <a:ln/>
        </p:spPr>
        <p:txBody>
          <a:bodyPr wrap="square" lIns="25400" tIns="25400" rIns="25400" bIns="25400" rtlCol="0" anchor="t">
            <a:normAutofit/>
          </a:bodyPr>
          <a:lstStyle/>
          <a:p>
            <a:pPr algn="l" indent="0" marL="0">
              <a:lnSpc>
                <a:spcPct val="86957"/>
              </a:lnSpc>
              <a:buNone/>
            </a:pPr>
            <a:r>
              <a:rPr lang="en-US" sz="10406" spc="-468" kern="0" dirty="0">
                <a:solidFill>
                  <a:srgbClr val="17201F"/>
                </a:solidFill>
                <a:latin typeface="Arial" pitchFamily="34" charset="0"/>
                <a:ea typeface="Arial" pitchFamily="34" charset="-122"/>
                <a:cs typeface="Arial" pitchFamily="34" charset="-120"/>
              </a:rPr>
              <a:t>Friday</a:t>
            </a:r>
            <a:endParaRPr lang="en-US" sz="10406" dirty="0"/>
          </a:p>
        </p:txBody>
      </p:sp>
      <p:sp>
        <p:nvSpPr>
          <p:cNvPr id="7" name="Shape 5"/>
          <p:cNvSpPr/>
          <p:nvPr/>
        </p:nvSpPr>
        <p:spPr>
          <a:xfrm>
            <a:off x="6324600" y="2286747"/>
            <a:ext cx="155620" cy="155620"/>
          </a:xfrm>
          <a:prstGeom prst="rect">
            <a:avLst/>
          </a:prstGeom>
          <a:ln w="7342">
            <a:solidFill>
              <a:srgbClr val="17201F">
                <a:alpha val="25000"/>
              </a:srgbClr>
            </a:solidFill>
            <a:prstDash val="solid"/>
          </a:ln>
        </p:spPr>
      </p:sp>
      <p:sp>
        <p:nvSpPr>
          <p:cNvPr id="8" name="Shape 6"/>
          <p:cNvSpPr/>
          <p:nvPr/>
        </p:nvSpPr>
        <p:spPr>
          <a:xfrm>
            <a:off x="6533049" y="2286747"/>
            <a:ext cx="155620" cy="155620"/>
          </a:xfrm>
          <a:prstGeom prst="rect">
            <a:avLst/>
          </a:prstGeom>
          <a:ln w="7342">
            <a:solidFill>
              <a:srgbClr val="17201F">
                <a:alpha val="25000"/>
              </a:srgbClr>
            </a:solidFill>
            <a:prstDash val="solid"/>
          </a:ln>
        </p:spPr>
      </p:sp>
      <p:sp>
        <p:nvSpPr>
          <p:cNvPr id="9" name="Shape 7"/>
          <p:cNvSpPr/>
          <p:nvPr/>
        </p:nvSpPr>
        <p:spPr>
          <a:xfrm>
            <a:off x="6741499" y="2286747"/>
            <a:ext cx="155620" cy="155620"/>
          </a:xfrm>
          <a:prstGeom prst="rect">
            <a:avLst/>
          </a:prstGeom>
          <a:ln w="7342">
            <a:solidFill>
              <a:srgbClr val="17201F">
                <a:alpha val="25000"/>
              </a:srgbClr>
            </a:solidFill>
            <a:prstDash val="solid"/>
          </a:ln>
        </p:spPr>
      </p:sp>
      <p:sp>
        <p:nvSpPr>
          <p:cNvPr id="10" name="Shape 8"/>
          <p:cNvSpPr/>
          <p:nvPr/>
        </p:nvSpPr>
        <p:spPr>
          <a:xfrm>
            <a:off x="6949948" y="2286747"/>
            <a:ext cx="155620" cy="155620"/>
          </a:xfrm>
          <a:prstGeom prst="rect">
            <a:avLst/>
          </a:prstGeom>
          <a:ln w="7342">
            <a:solidFill>
              <a:srgbClr val="17201F">
                <a:alpha val="25000"/>
              </a:srgbClr>
            </a:solidFill>
            <a:prstDash val="solid"/>
          </a:ln>
        </p:spPr>
      </p:sp>
      <p:sp>
        <p:nvSpPr>
          <p:cNvPr id="11" name="Shape 9"/>
          <p:cNvSpPr/>
          <p:nvPr/>
        </p:nvSpPr>
        <p:spPr>
          <a:xfrm>
            <a:off x="7158397" y="2286747"/>
            <a:ext cx="140936" cy="140936"/>
          </a:xfrm>
          <a:prstGeom prst="rect">
            <a:avLst/>
          </a:prstGeom>
          <a:solidFill>
            <a:srgbClr val="5FD6BB"/>
          </a:solidFill>
          <a:ln/>
        </p:spPr>
      </p:sp>
      <p:sp>
        <p:nvSpPr>
          <p:cNvPr id="12" name="Shape 10"/>
          <p:cNvSpPr/>
          <p:nvPr/>
        </p:nvSpPr>
        <p:spPr>
          <a:xfrm>
            <a:off x="7352162" y="2286747"/>
            <a:ext cx="155620" cy="155620"/>
          </a:xfrm>
          <a:prstGeom prst="rect">
            <a:avLst/>
          </a:prstGeom>
          <a:ln w="7342">
            <a:solidFill>
              <a:srgbClr val="17201F">
                <a:alpha val="25000"/>
              </a:srgbClr>
            </a:solidFill>
            <a:prstDash val="solid"/>
          </a:ln>
        </p:spPr>
      </p:sp>
      <p:sp>
        <p:nvSpPr>
          <p:cNvPr id="13" name="Shape 11"/>
          <p:cNvSpPr/>
          <p:nvPr/>
        </p:nvSpPr>
        <p:spPr>
          <a:xfrm>
            <a:off x="7560612" y="2286747"/>
            <a:ext cx="155620" cy="155620"/>
          </a:xfrm>
          <a:prstGeom prst="rect">
            <a:avLst/>
          </a:prstGeom>
          <a:ln w="7342">
            <a:solidFill>
              <a:srgbClr val="17201F">
                <a:alpha val="25000"/>
              </a:srgbClr>
            </a:solidFill>
            <a:prstDash val="solid"/>
          </a:ln>
        </p:spPr>
      </p:sp>
      <p:sp>
        <p:nvSpPr>
          <p:cNvPr id="14" name="Shape 12"/>
          <p:cNvSpPr/>
          <p:nvPr/>
        </p:nvSpPr>
        <p:spPr>
          <a:xfrm>
            <a:off x="8033379" y="2286747"/>
            <a:ext cx="155620" cy="155620"/>
          </a:xfrm>
          <a:prstGeom prst="rect">
            <a:avLst/>
          </a:prstGeom>
          <a:ln w="7342">
            <a:solidFill>
              <a:srgbClr val="17201F">
                <a:alpha val="25000"/>
              </a:srgbClr>
            </a:solidFill>
            <a:prstDash val="solid"/>
          </a:ln>
        </p:spPr>
      </p:sp>
      <p:sp>
        <p:nvSpPr>
          <p:cNvPr id="15" name="Shape 13"/>
          <p:cNvSpPr/>
          <p:nvPr/>
        </p:nvSpPr>
        <p:spPr>
          <a:xfrm>
            <a:off x="8241828" y="2286747"/>
            <a:ext cx="155620" cy="155620"/>
          </a:xfrm>
          <a:prstGeom prst="rect">
            <a:avLst/>
          </a:prstGeom>
          <a:ln w="7342">
            <a:solidFill>
              <a:srgbClr val="17201F">
                <a:alpha val="25000"/>
              </a:srgbClr>
            </a:solidFill>
            <a:prstDash val="solid"/>
          </a:ln>
        </p:spPr>
      </p:sp>
      <p:sp>
        <p:nvSpPr>
          <p:cNvPr id="16" name="Shape 14"/>
          <p:cNvSpPr/>
          <p:nvPr/>
        </p:nvSpPr>
        <p:spPr>
          <a:xfrm>
            <a:off x="8450278" y="2286747"/>
            <a:ext cx="155619" cy="155620"/>
          </a:xfrm>
          <a:prstGeom prst="rect">
            <a:avLst/>
          </a:prstGeom>
          <a:ln w="7342">
            <a:solidFill>
              <a:srgbClr val="17201F">
                <a:alpha val="25000"/>
              </a:srgbClr>
            </a:solidFill>
            <a:prstDash val="solid"/>
          </a:ln>
        </p:spPr>
      </p:sp>
      <p:sp>
        <p:nvSpPr>
          <p:cNvPr id="17" name="Shape 15"/>
          <p:cNvSpPr/>
          <p:nvPr/>
        </p:nvSpPr>
        <p:spPr>
          <a:xfrm>
            <a:off x="8658727" y="2286747"/>
            <a:ext cx="155620" cy="155620"/>
          </a:xfrm>
          <a:prstGeom prst="rect">
            <a:avLst/>
          </a:prstGeom>
          <a:ln w="7342">
            <a:solidFill>
              <a:srgbClr val="17201F">
                <a:alpha val="25000"/>
              </a:srgbClr>
            </a:solidFill>
            <a:prstDash val="solid"/>
          </a:ln>
        </p:spPr>
      </p:sp>
      <p:sp>
        <p:nvSpPr>
          <p:cNvPr id="18" name="Shape 16"/>
          <p:cNvSpPr/>
          <p:nvPr/>
        </p:nvSpPr>
        <p:spPr>
          <a:xfrm>
            <a:off x="8867177" y="2286747"/>
            <a:ext cx="140936" cy="140936"/>
          </a:xfrm>
          <a:prstGeom prst="rect">
            <a:avLst/>
          </a:prstGeom>
          <a:solidFill>
            <a:srgbClr val="5FD6BB"/>
          </a:solidFill>
          <a:ln/>
        </p:spPr>
      </p:sp>
      <p:sp>
        <p:nvSpPr>
          <p:cNvPr id="19" name="Shape 17"/>
          <p:cNvSpPr/>
          <p:nvPr/>
        </p:nvSpPr>
        <p:spPr>
          <a:xfrm>
            <a:off x="9060942" y="2286747"/>
            <a:ext cx="155619" cy="155620"/>
          </a:xfrm>
          <a:prstGeom prst="rect">
            <a:avLst/>
          </a:prstGeom>
          <a:ln w="7342">
            <a:solidFill>
              <a:srgbClr val="17201F">
                <a:alpha val="25000"/>
              </a:srgbClr>
            </a:solidFill>
            <a:prstDash val="solid"/>
          </a:ln>
        </p:spPr>
      </p:sp>
      <p:sp>
        <p:nvSpPr>
          <p:cNvPr id="20" name="Shape 18"/>
          <p:cNvSpPr/>
          <p:nvPr/>
        </p:nvSpPr>
        <p:spPr>
          <a:xfrm>
            <a:off x="9269391" y="2286747"/>
            <a:ext cx="155619" cy="155620"/>
          </a:xfrm>
          <a:prstGeom prst="rect">
            <a:avLst/>
          </a:prstGeom>
          <a:ln w="7342">
            <a:solidFill>
              <a:srgbClr val="17201F">
                <a:alpha val="25000"/>
              </a:srgbClr>
            </a:solidFill>
            <a:prstDash val="solid"/>
          </a:ln>
        </p:spPr>
      </p:sp>
      <p:sp>
        <p:nvSpPr>
          <p:cNvPr id="21" name="Shape 19"/>
          <p:cNvSpPr/>
          <p:nvPr/>
        </p:nvSpPr>
        <p:spPr>
          <a:xfrm>
            <a:off x="9742159" y="2286747"/>
            <a:ext cx="155620" cy="155620"/>
          </a:xfrm>
          <a:prstGeom prst="rect">
            <a:avLst/>
          </a:prstGeom>
          <a:ln w="7342">
            <a:solidFill>
              <a:srgbClr val="17201F">
                <a:alpha val="25000"/>
              </a:srgbClr>
            </a:solidFill>
            <a:prstDash val="solid"/>
          </a:ln>
        </p:spPr>
      </p:sp>
      <p:sp>
        <p:nvSpPr>
          <p:cNvPr id="22" name="Shape 20"/>
          <p:cNvSpPr/>
          <p:nvPr/>
        </p:nvSpPr>
        <p:spPr>
          <a:xfrm>
            <a:off x="9950609" y="2286747"/>
            <a:ext cx="155619" cy="155620"/>
          </a:xfrm>
          <a:prstGeom prst="rect">
            <a:avLst/>
          </a:prstGeom>
          <a:ln w="7342">
            <a:solidFill>
              <a:srgbClr val="17201F">
                <a:alpha val="25000"/>
              </a:srgbClr>
            </a:solidFill>
            <a:prstDash val="solid"/>
          </a:ln>
        </p:spPr>
      </p:sp>
      <p:sp>
        <p:nvSpPr>
          <p:cNvPr id="23" name="Shape 21"/>
          <p:cNvSpPr/>
          <p:nvPr/>
        </p:nvSpPr>
        <p:spPr>
          <a:xfrm>
            <a:off x="10159058" y="2286747"/>
            <a:ext cx="155619" cy="155620"/>
          </a:xfrm>
          <a:prstGeom prst="rect">
            <a:avLst/>
          </a:prstGeom>
          <a:ln w="7342">
            <a:solidFill>
              <a:srgbClr val="17201F">
                <a:alpha val="25000"/>
              </a:srgbClr>
            </a:solidFill>
            <a:prstDash val="solid"/>
          </a:ln>
        </p:spPr>
      </p:sp>
      <p:sp>
        <p:nvSpPr>
          <p:cNvPr id="24" name="Shape 22"/>
          <p:cNvSpPr/>
          <p:nvPr/>
        </p:nvSpPr>
        <p:spPr>
          <a:xfrm>
            <a:off x="10367507" y="2286747"/>
            <a:ext cx="155620" cy="155620"/>
          </a:xfrm>
          <a:prstGeom prst="rect">
            <a:avLst/>
          </a:prstGeom>
          <a:ln w="7342">
            <a:solidFill>
              <a:srgbClr val="17201F">
                <a:alpha val="25000"/>
              </a:srgbClr>
            </a:solidFill>
            <a:prstDash val="solid"/>
          </a:ln>
        </p:spPr>
      </p:sp>
      <p:sp>
        <p:nvSpPr>
          <p:cNvPr id="25" name="Shape 23"/>
          <p:cNvSpPr/>
          <p:nvPr/>
        </p:nvSpPr>
        <p:spPr>
          <a:xfrm>
            <a:off x="10575956" y="2286747"/>
            <a:ext cx="140936" cy="140936"/>
          </a:xfrm>
          <a:prstGeom prst="rect">
            <a:avLst/>
          </a:prstGeom>
          <a:solidFill>
            <a:srgbClr val="5FD6BB"/>
          </a:solidFill>
          <a:ln/>
        </p:spPr>
      </p:sp>
      <p:sp>
        <p:nvSpPr>
          <p:cNvPr id="26" name="Shape 24"/>
          <p:cNvSpPr/>
          <p:nvPr/>
        </p:nvSpPr>
        <p:spPr>
          <a:xfrm>
            <a:off x="10769722" y="2286747"/>
            <a:ext cx="155619" cy="155620"/>
          </a:xfrm>
          <a:prstGeom prst="rect">
            <a:avLst/>
          </a:prstGeom>
          <a:ln w="7342">
            <a:solidFill>
              <a:srgbClr val="17201F">
                <a:alpha val="25000"/>
              </a:srgbClr>
            </a:solidFill>
            <a:prstDash val="solid"/>
          </a:ln>
        </p:spPr>
      </p:sp>
      <p:sp>
        <p:nvSpPr>
          <p:cNvPr id="27" name="Shape 25"/>
          <p:cNvSpPr/>
          <p:nvPr/>
        </p:nvSpPr>
        <p:spPr>
          <a:xfrm>
            <a:off x="10978171" y="2286747"/>
            <a:ext cx="155619" cy="155620"/>
          </a:xfrm>
          <a:prstGeom prst="rect">
            <a:avLst/>
          </a:prstGeom>
          <a:ln w="7342">
            <a:solidFill>
              <a:srgbClr val="17201F">
                <a:alpha val="25000"/>
              </a:srgbClr>
            </a:solidFill>
            <a:prstDash val="solid"/>
          </a:ln>
        </p:spPr>
      </p:sp>
      <p:sp>
        <p:nvSpPr>
          <p:cNvPr id="28" name="Shape 26"/>
          <p:cNvSpPr/>
          <p:nvPr/>
        </p:nvSpPr>
        <p:spPr>
          <a:xfrm>
            <a:off x="11450938" y="2286747"/>
            <a:ext cx="155620" cy="155620"/>
          </a:xfrm>
          <a:prstGeom prst="rect">
            <a:avLst/>
          </a:prstGeom>
          <a:ln w="7342">
            <a:solidFill>
              <a:srgbClr val="17201F">
                <a:alpha val="25000"/>
              </a:srgbClr>
            </a:solidFill>
            <a:prstDash val="solid"/>
          </a:ln>
        </p:spPr>
      </p:sp>
      <p:sp>
        <p:nvSpPr>
          <p:cNvPr id="29" name="Shape 27"/>
          <p:cNvSpPr/>
          <p:nvPr/>
        </p:nvSpPr>
        <p:spPr>
          <a:xfrm>
            <a:off x="11659388" y="2286747"/>
            <a:ext cx="155619" cy="155620"/>
          </a:xfrm>
          <a:prstGeom prst="rect">
            <a:avLst/>
          </a:prstGeom>
          <a:ln w="7342">
            <a:solidFill>
              <a:srgbClr val="17201F">
                <a:alpha val="25000"/>
              </a:srgbClr>
            </a:solidFill>
            <a:prstDash val="solid"/>
          </a:ln>
        </p:spPr>
      </p:sp>
      <p:sp>
        <p:nvSpPr>
          <p:cNvPr id="30" name="Shape 28"/>
          <p:cNvSpPr/>
          <p:nvPr/>
        </p:nvSpPr>
        <p:spPr>
          <a:xfrm>
            <a:off x="11867837" y="2286747"/>
            <a:ext cx="155619" cy="155620"/>
          </a:xfrm>
          <a:prstGeom prst="rect">
            <a:avLst/>
          </a:prstGeom>
          <a:ln w="7342">
            <a:solidFill>
              <a:srgbClr val="17201F">
                <a:alpha val="25000"/>
              </a:srgbClr>
            </a:solidFill>
            <a:prstDash val="solid"/>
          </a:ln>
        </p:spPr>
      </p:sp>
      <p:sp>
        <p:nvSpPr>
          <p:cNvPr id="31" name="Shape 29"/>
          <p:cNvSpPr/>
          <p:nvPr/>
        </p:nvSpPr>
        <p:spPr>
          <a:xfrm>
            <a:off x="12076286" y="2286747"/>
            <a:ext cx="155620" cy="155620"/>
          </a:xfrm>
          <a:prstGeom prst="rect">
            <a:avLst/>
          </a:prstGeom>
          <a:ln w="7342">
            <a:solidFill>
              <a:srgbClr val="17201F">
                <a:alpha val="25000"/>
              </a:srgbClr>
            </a:solidFill>
            <a:prstDash val="solid"/>
          </a:ln>
        </p:spPr>
      </p:sp>
      <p:sp>
        <p:nvSpPr>
          <p:cNvPr id="32" name="Shape 30"/>
          <p:cNvSpPr/>
          <p:nvPr/>
        </p:nvSpPr>
        <p:spPr>
          <a:xfrm>
            <a:off x="12284735" y="2286747"/>
            <a:ext cx="140936" cy="140936"/>
          </a:xfrm>
          <a:prstGeom prst="rect">
            <a:avLst/>
          </a:prstGeom>
          <a:solidFill>
            <a:srgbClr val="5FD6BB"/>
          </a:solidFill>
          <a:ln/>
        </p:spPr>
      </p:sp>
      <p:sp>
        <p:nvSpPr>
          <p:cNvPr id="33" name="Shape 31"/>
          <p:cNvSpPr/>
          <p:nvPr/>
        </p:nvSpPr>
        <p:spPr>
          <a:xfrm>
            <a:off x="12478501" y="2286747"/>
            <a:ext cx="155619" cy="155620"/>
          </a:xfrm>
          <a:prstGeom prst="rect">
            <a:avLst/>
          </a:prstGeom>
          <a:ln w="7342">
            <a:solidFill>
              <a:srgbClr val="17201F">
                <a:alpha val="25000"/>
              </a:srgbClr>
            </a:solidFill>
            <a:prstDash val="solid"/>
          </a:ln>
        </p:spPr>
      </p:sp>
      <p:sp>
        <p:nvSpPr>
          <p:cNvPr id="34" name="Shape 32"/>
          <p:cNvSpPr/>
          <p:nvPr/>
        </p:nvSpPr>
        <p:spPr>
          <a:xfrm>
            <a:off x="12686950" y="2286747"/>
            <a:ext cx="155619" cy="155620"/>
          </a:xfrm>
          <a:prstGeom prst="rect">
            <a:avLst/>
          </a:prstGeom>
          <a:ln w="7342">
            <a:solidFill>
              <a:srgbClr val="17201F">
                <a:alpha val="25000"/>
              </a:srgbClr>
            </a:solidFill>
            <a:prstDash val="solid"/>
          </a:ln>
        </p:spPr>
      </p:sp>
      <p:sp>
        <p:nvSpPr>
          <p:cNvPr id="35" name="Shape 33"/>
          <p:cNvSpPr/>
          <p:nvPr/>
        </p:nvSpPr>
        <p:spPr>
          <a:xfrm>
            <a:off x="13159718" y="2286747"/>
            <a:ext cx="155620" cy="155620"/>
          </a:xfrm>
          <a:prstGeom prst="rect">
            <a:avLst/>
          </a:prstGeom>
          <a:ln w="7342">
            <a:solidFill>
              <a:srgbClr val="17201F">
                <a:alpha val="25000"/>
              </a:srgbClr>
            </a:solidFill>
            <a:prstDash val="solid"/>
          </a:ln>
        </p:spPr>
      </p:sp>
      <p:sp>
        <p:nvSpPr>
          <p:cNvPr id="36" name="Shape 34"/>
          <p:cNvSpPr/>
          <p:nvPr/>
        </p:nvSpPr>
        <p:spPr>
          <a:xfrm>
            <a:off x="13368168" y="2286747"/>
            <a:ext cx="155619" cy="155620"/>
          </a:xfrm>
          <a:prstGeom prst="rect">
            <a:avLst/>
          </a:prstGeom>
          <a:ln w="7342">
            <a:solidFill>
              <a:srgbClr val="17201F">
                <a:alpha val="25000"/>
              </a:srgbClr>
            </a:solidFill>
            <a:prstDash val="solid"/>
          </a:ln>
        </p:spPr>
      </p:sp>
      <p:sp>
        <p:nvSpPr>
          <p:cNvPr id="37" name="Shape 35"/>
          <p:cNvSpPr/>
          <p:nvPr/>
        </p:nvSpPr>
        <p:spPr>
          <a:xfrm>
            <a:off x="13576617" y="2286747"/>
            <a:ext cx="155619" cy="155620"/>
          </a:xfrm>
          <a:prstGeom prst="rect">
            <a:avLst/>
          </a:prstGeom>
          <a:ln w="7342">
            <a:solidFill>
              <a:srgbClr val="17201F">
                <a:alpha val="25000"/>
              </a:srgbClr>
            </a:solidFill>
            <a:prstDash val="solid"/>
          </a:ln>
        </p:spPr>
      </p:sp>
      <p:sp>
        <p:nvSpPr>
          <p:cNvPr id="38" name="Shape 36"/>
          <p:cNvSpPr/>
          <p:nvPr/>
        </p:nvSpPr>
        <p:spPr>
          <a:xfrm>
            <a:off x="13785066" y="2286747"/>
            <a:ext cx="155620" cy="155620"/>
          </a:xfrm>
          <a:prstGeom prst="rect">
            <a:avLst/>
          </a:prstGeom>
          <a:ln w="7342">
            <a:solidFill>
              <a:srgbClr val="17201F">
                <a:alpha val="25000"/>
              </a:srgbClr>
            </a:solidFill>
            <a:prstDash val="solid"/>
          </a:ln>
        </p:spPr>
      </p:sp>
      <p:sp>
        <p:nvSpPr>
          <p:cNvPr id="39" name="Shape 37"/>
          <p:cNvSpPr/>
          <p:nvPr/>
        </p:nvSpPr>
        <p:spPr>
          <a:xfrm>
            <a:off x="13993514" y="2286747"/>
            <a:ext cx="140936" cy="140936"/>
          </a:xfrm>
          <a:prstGeom prst="rect">
            <a:avLst/>
          </a:prstGeom>
          <a:solidFill>
            <a:srgbClr val="5FD6BB"/>
          </a:solidFill>
          <a:ln/>
        </p:spPr>
      </p:sp>
      <p:sp>
        <p:nvSpPr>
          <p:cNvPr id="40" name="Shape 38"/>
          <p:cNvSpPr/>
          <p:nvPr/>
        </p:nvSpPr>
        <p:spPr>
          <a:xfrm>
            <a:off x="14187281" y="2286747"/>
            <a:ext cx="155619" cy="155620"/>
          </a:xfrm>
          <a:prstGeom prst="rect">
            <a:avLst/>
          </a:prstGeom>
          <a:ln w="7342">
            <a:solidFill>
              <a:srgbClr val="17201F">
                <a:alpha val="25000"/>
              </a:srgbClr>
            </a:solidFill>
            <a:prstDash val="solid"/>
          </a:ln>
        </p:spPr>
      </p:sp>
      <p:sp>
        <p:nvSpPr>
          <p:cNvPr id="41" name="Shape 39"/>
          <p:cNvSpPr/>
          <p:nvPr/>
        </p:nvSpPr>
        <p:spPr>
          <a:xfrm>
            <a:off x="14395729" y="2286747"/>
            <a:ext cx="155619" cy="155620"/>
          </a:xfrm>
          <a:prstGeom prst="rect">
            <a:avLst/>
          </a:prstGeom>
          <a:ln w="7342">
            <a:solidFill>
              <a:srgbClr val="17201F">
                <a:alpha val="25000"/>
              </a:srgbClr>
            </a:solidFill>
            <a:prstDash val="solid"/>
          </a:ln>
        </p:spPr>
      </p:sp>
      <p:sp>
        <p:nvSpPr>
          <p:cNvPr id="42" name="Shape 40"/>
          <p:cNvSpPr/>
          <p:nvPr/>
        </p:nvSpPr>
        <p:spPr>
          <a:xfrm>
            <a:off x="14868497" y="2286747"/>
            <a:ext cx="155620" cy="155620"/>
          </a:xfrm>
          <a:prstGeom prst="rect">
            <a:avLst/>
          </a:prstGeom>
          <a:ln w="7342">
            <a:solidFill>
              <a:srgbClr val="17201F">
                <a:alpha val="25000"/>
              </a:srgbClr>
            </a:solidFill>
            <a:prstDash val="solid"/>
          </a:ln>
        </p:spPr>
      </p:sp>
      <p:sp>
        <p:nvSpPr>
          <p:cNvPr id="43" name="Shape 41"/>
          <p:cNvSpPr/>
          <p:nvPr/>
        </p:nvSpPr>
        <p:spPr>
          <a:xfrm>
            <a:off x="15076947" y="2286747"/>
            <a:ext cx="155619" cy="155620"/>
          </a:xfrm>
          <a:prstGeom prst="rect">
            <a:avLst/>
          </a:prstGeom>
          <a:ln w="7342">
            <a:solidFill>
              <a:srgbClr val="17201F">
                <a:alpha val="25000"/>
              </a:srgbClr>
            </a:solidFill>
            <a:prstDash val="solid"/>
          </a:ln>
        </p:spPr>
      </p:sp>
      <p:sp>
        <p:nvSpPr>
          <p:cNvPr id="44" name="Shape 42"/>
          <p:cNvSpPr/>
          <p:nvPr/>
        </p:nvSpPr>
        <p:spPr>
          <a:xfrm>
            <a:off x="15285396" y="2286747"/>
            <a:ext cx="155619" cy="155620"/>
          </a:xfrm>
          <a:prstGeom prst="rect">
            <a:avLst/>
          </a:prstGeom>
          <a:ln w="7342">
            <a:solidFill>
              <a:srgbClr val="17201F">
                <a:alpha val="25000"/>
              </a:srgbClr>
            </a:solidFill>
            <a:prstDash val="solid"/>
          </a:ln>
        </p:spPr>
      </p:sp>
      <p:sp>
        <p:nvSpPr>
          <p:cNvPr id="45" name="Shape 43"/>
          <p:cNvSpPr/>
          <p:nvPr/>
        </p:nvSpPr>
        <p:spPr>
          <a:xfrm>
            <a:off x="15493845" y="2286747"/>
            <a:ext cx="155620" cy="155620"/>
          </a:xfrm>
          <a:prstGeom prst="rect">
            <a:avLst/>
          </a:prstGeom>
          <a:ln w="7342">
            <a:solidFill>
              <a:srgbClr val="17201F">
                <a:alpha val="25000"/>
              </a:srgbClr>
            </a:solidFill>
            <a:prstDash val="solid"/>
          </a:ln>
        </p:spPr>
      </p:sp>
      <p:sp>
        <p:nvSpPr>
          <p:cNvPr id="46" name="Shape 44"/>
          <p:cNvSpPr/>
          <p:nvPr/>
        </p:nvSpPr>
        <p:spPr>
          <a:xfrm>
            <a:off x="15702294" y="2286747"/>
            <a:ext cx="140936" cy="140936"/>
          </a:xfrm>
          <a:prstGeom prst="rect">
            <a:avLst/>
          </a:prstGeom>
          <a:solidFill>
            <a:srgbClr val="5FD6BB"/>
          </a:solidFill>
          <a:ln/>
        </p:spPr>
      </p:sp>
      <p:sp>
        <p:nvSpPr>
          <p:cNvPr id="47" name="Shape 45"/>
          <p:cNvSpPr/>
          <p:nvPr/>
        </p:nvSpPr>
        <p:spPr>
          <a:xfrm>
            <a:off x="15896060" y="2286747"/>
            <a:ext cx="155619" cy="155620"/>
          </a:xfrm>
          <a:prstGeom prst="rect">
            <a:avLst/>
          </a:prstGeom>
          <a:ln w="7342">
            <a:solidFill>
              <a:srgbClr val="17201F">
                <a:alpha val="25000"/>
              </a:srgbClr>
            </a:solidFill>
            <a:prstDash val="solid"/>
          </a:ln>
        </p:spPr>
      </p:sp>
      <p:sp>
        <p:nvSpPr>
          <p:cNvPr id="48" name="Shape 46"/>
          <p:cNvSpPr/>
          <p:nvPr/>
        </p:nvSpPr>
        <p:spPr>
          <a:xfrm>
            <a:off x="16104509" y="2286747"/>
            <a:ext cx="155618" cy="155620"/>
          </a:xfrm>
          <a:prstGeom prst="rect">
            <a:avLst/>
          </a:prstGeom>
          <a:ln w="7342">
            <a:solidFill>
              <a:srgbClr val="17201F">
                <a:alpha val="25000"/>
              </a:srgbClr>
            </a:solidFill>
            <a:prstDash val="solid"/>
          </a:ln>
        </p:spPr>
      </p:sp>
      <p:sp>
        <p:nvSpPr>
          <p:cNvPr id="49" name="Text 47"/>
          <p:cNvSpPr/>
          <p:nvPr/>
        </p:nvSpPr>
        <p:spPr>
          <a:xfrm>
            <a:off x="6324600" y="2636190"/>
            <a:ext cx="11436191"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0F6F5C"/>
                </a:solidFill>
                <a:latin typeface="Courier New" pitchFamily="34" charset="0"/>
                <a:ea typeface="Courier New" pitchFamily="34" charset="-122"/>
                <a:cs typeface="Courier New" pitchFamily="34" charset="-120"/>
              </a:rPr>
              <a:t>→ EVERY WEEK · SIX WEEKS SHOWN</a:t>
            </a:r>
            <a:endParaRPr lang="en-US" sz="1665" dirty="0"/>
          </a:p>
        </p:txBody>
      </p:sp>
      <p:sp>
        <p:nvSpPr>
          <p:cNvPr id="50" name="Shape 48"/>
          <p:cNvSpPr/>
          <p:nvPr/>
        </p:nvSpPr>
        <p:spPr>
          <a:xfrm>
            <a:off x="1390650" y="3612356"/>
            <a:ext cx="15330488" cy="17610"/>
          </a:xfrm>
          <a:prstGeom prst="rect">
            <a:avLst/>
          </a:prstGeom>
          <a:solidFill>
            <a:srgbClr val="5FD6BB"/>
          </a:solidFill>
          <a:ln/>
        </p:spPr>
      </p:sp>
      <p:sp>
        <p:nvSpPr>
          <p:cNvPr id="51" name="Text 49"/>
          <p:cNvSpPr/>
          <p:nvPr/>
        </p:nvSpPr>
        <p:spPr>
          <a:xfrm>
            <a:off x="1390650" y="3982391"/>
            <a:ext cx="5427345" cy="1359694"/>
          </a:xfrm>
          <a:prstGeom prst="rect">
            <a:avLst/>
          </a:prstGeom>
          <a:noFill/>
          <a:ln/>
        </p:spPr>
        <p:txBody>
          <a:bodyPr wrap="square" lIns="25400" tIns="25400" rIns="25400" bIns="25400" rtlCol="0" anchor="t">
            <a:normAutofit/>
          </a:bodyPr>
          <a:lstStyle/>
          <a:p>
            <a:pPr algn="l" indent="0" marL="0">
              <a:lnSpc>
                <a:spcPct val="86957"/>
              </a:lnSpc>
              <a:buNone/>
            </a:pPr>
            <a:r>
              <a:rPr lang="en-US" sz="10406" spc="-468" kern="0" dirty="0">
                <a:solidFill>
                  <a:srgbClr val="17201F"/>
                </a:solidFill>
                <a:latin typeface="Arial" pitchFamily="34" charset="0"/>
                <a:ea typeface="Arial" pitchFamily="34" charset="-122"/>
                <a:cs typeface="Arial" pitchFamily="34" charset="-120"/>
              </a:rPr>
              <a:t>mornings</a:t>
            </a:r>
            <a:endParaRPr lang="en-US" sz="10406" dirty="0"/>
          </a:p>
        </p:txBody>
      </p:sp>
      <p:sp>
        <p:nvSpPr>
          <p:cNvPr id="52" name="Shape 50"/>
          <p:cNvSpPr/>
          <p:nvPr/>
        </p:nvSpPr>
        <p:spPr>
          <a:xfrm>
            <a:off x="6324600" y="4775347"/>
            <a:ext cx="10396538" cy="17609"/>
          </a:xfrm>
          <a:prstGeom prst="rect">
            <a:avLst/>
          </a:prstGeom>
          <a:solidFill>
            <a:srgbClr val="17201F">
              <a:alpha val="20000"/>
            </a:srgbClr>
          </a:solidFill>
          <a:ln/>
        </p:spPr>
      </p:sp>
      <p:sp>
        <p:nvSpPr>
          <p:cNvPr id="53" name="Shape 51"/>
          <p:cNvSpPr/>
          <p:nvPr/>
        </p:nvSpPr>
        <p:spPr>
          <a:xfrm>
            <a:off x="6324600" y="4722461"/>
            <a:ext cx="9525" cy="123326"/>
          </a:xfrm>
          <a:prstGeom prst="rect">
            <a:avLst/>
          </a:prstGeom>
          <a:solidFill>
            <a:srgbClr val="17201F">
              <a:alpha val="35000"/>
            </a:srgbClr>
          </a:solidFill>
          <a:ln/>
        </p:spPr>
      </p:sp>
      <p:sp>
        <p:nvSpPr>
          <p:cNvPr id="54" name="Shape 52"/>
          <p:cNvSpPr/>
          <p:nvPr/>
        </p:nvSpPr>
        <p:spPr>
          <a:xfrm>
            <a:off x="8403873" y="4722461"/>
            <a:ext cx="9525" cy="123326"/>
          </a:xfrm>
          <a:prstGeom prst="rect">
            <a:avLst/>
          </a:prstGeom>
          <a:solidFill>
            <a:srgbClr val="17201F">
              <a:alpha val="35000"/>
            </a:srgbClr>
          </a:solidFill>
          <a:ln/>
        </p:spPr>
      </p:sp>
      <p:sp>
        <p:nvSpPr>
          <p:cNvPr id="55" name="Shape 53"/>
          <p:cNvSpPr/>
          <p:nvPr/>
        </p:nvSpPr>
        <p:spPr>
          <a:xfrm>
            <a:off x="10483204" y="4722461"/>
            <a:ext cx="9525" cy="123326"/>
          </a:xfrm>
          <a:prstGeom prst="rect">
            <a:avLst/>
          </a:prstGeom>
          <a:solidFill>
            <a:srgbClr val="17201F">
              <a:alpha val="35000"/>
            </a:srgbClr>
          </a:solidFill>
          <a:ln/>
        </p:spPr>
      </p:sp>
      <p:sp>
        <p:nvSpPr>
          <p:cNvPr id="56" name="Shape 54"/>
          <p:cNvSpPr/>
          <p:nvPr/>
        </p:nvSpPr>
        <p:spPr>
          <a:xfrm>
            <a:off x="12562477" y="4722461"/>
            <a:ext cx="9525" cy="123326"/>
          </a:xfrm>
          <a:prstGeom prst="rect">
            <a:avLst/>
          </a:prstGeom>
          <a:solidFill>
            <a:srgbClr val="17201F">
              <a:alpha val="35000"/>
            </a:srgbClr>
          </a:solidFill>
          <a:ln/>
        </p:spPr>
      </p:sp>
      <p:sp>
        <p:nvSpPr>
          <p:cNvPr id="57" name="Shape 55"/>
          <p:cNvSpPr/>
          <p:nvPr/>
        </p:nvSpPr>
        <p:spPr>
          <a:xfrm>
            <a:off x="14641807" y="4722461"/>
            <a:ext cx="9525" cy="123326"/>
          </a:xfrm>
          <a:prstGeom prst="rect">
            <a:avLst/>
          </a:prstGeom>
          <a:solidFill>
            <a:srgbClr val="17201F">
              <a:alpha val="35000"/>
            </a:srgbClr>
          </a:solidFill>
          <a:ln/>
        </p:spPr>
      </p:sp>
      <p:sp>
        <p:nvSpPr>
          <p:cNvPr id="58" name="Shape 56"/>
          <p:cNvSpPr/>
          <p:nvPr/>
        </p:nvSpPr>
        <p:spPr>
          <a:xfrm>
            <a:off x="16712305" y="4722461"/>
            <a:ext cx="9525" cy="123326"/>
          </a:xfrm>
          <a:prstGeom prst="rect">
            <a:avLst/>
          </a:prstGeom>
          <a:solidFill>
            <a:srgbClr val="17201F">
              <a:alpha val="35000"/>
            </a:srgbClr>
          </a:solidFill>
          <a:ln/>
        </p:spPr>
      </p:sp>
      <p:sp>
        <p:nvSpPr>
          <p:cNvPr id="59" name="Text 57"/>
          <p:cNvSpPr/>
          <p:nvPr/>
        </p:nvSpPr>
        <p:spPr>
          <a:xfrm>
            <a:off x="6324600" y="4933892"/>
            <a:ext cx="715888" cy="291406"/>
          </a:xfrm>
          <a:prstGeom prst="rect">
            <a:avLst/>
          </a:prstGeom>
          <a:noFill/>
          <a:ln/>
        </p:spPr>
        <p:txBody>
          <a:bodyPr wrap="square" lIns="25400" tIns="25400" rIns="25400" bIns="25400" rtlCol="0" anchor="t">
            <a:normAutofit/>
          </a:bodyPr>
          <a:lstStyle/>
          <a:p>
            <a:pPr algn="l" indent="0" marL="0">
              <a:buNone/>
            </a:pPr>
            <a:r>
              <a:rPr lang="en-US" sz="1526" spc="92" kern="0" dirty="0">
                <a:solidFill>
                  <a:srgbClr val="17201F">
                    <a:alpha val="50000"/>
                  </a:srgbClr>
                </a:solidFill>
                <a:latin typeface="Courier New" pitchFamily="34" charset="0"/>
                <a:ea typeface="Courier New" pitchFamily="34" charset="-122"/>
                <a:cs typeface="Courier New" pitchFamily="34" charset="-120"/>
              </a:rPr>
              <a:t>06:00</a:t>
            </a:r>
            <a:endParaRPr lang="en-US" sz="1526" dirty="0"/>
          </a:p>
        </p:txBody>
      </p:sp>
      <p:sp>
        <p:nvSpPr>
          <p:cNvPr id="60" name="Text 58"/>
          <p:cNvSpPr/>
          <p:nvPr/>
        </p:nvSpPr>
        <p:spPr>
          <a:xfrm>
            <a:off x="8298157" y="4933892"/>
            <a:ext cx="715889" cy="291406"/>
          </a:xfrm>
          <a:prstGeom prst="rect">
            <a:avLst/>
          </a:prstGeom>
          <a:noFill/>
          <a:ln/>
        </p:spPr>
        <p:txBody>
          <a:bodyPr wrap="square" lIns="25400" tIns="25400" rIns="25400" bIns="25400" rtlCol="0" anchor="t">
            <a:normAutofit/>
          </a:bodyPr>
          <a:lstStyle/>
          <a:p>
            <a:pPr algn="l" indent="0" marL="0">
              <a:buNone/>
            </a:pPr>
            <a:r>
              <a:rPr lang="en-US" sz="1526" spc="92" kern="0" dirty="0">
                <a:solidFill>
                  <a:srgbClr val="17201F">
                    <a:alpha val="50000"/>
                  </a:srgbClr>
                </a:solidFill>
                <a:latin typeface="Courier New" pitchFamily="34" charset="0"/>
                <a:ea typeface="Courier New" pitchFamily="34" charset="-122"/>
                <a:cs typeface="Courier New" pitchFamily="34" charset="-120"/>
              </a:rPr>
              <a:t>08:00</a:t>
            </a:r>
            <a:endParaRPr lang="en-US" sz="1526" dirty="0"/>
          </a:p>
        </p:txBody>
      </p:sp>
      <p:sp>
        <p:nvSpPr>
          <p:cNvPr id="61" name="Text 59"/>
          <p:cNvSpPr/>
          <p:nvPr/>
        </p:nvSpPr>
        <p:spPr>
          <a:xfrm>
            <a:off x="10377488" y="4933892"/>
            <a:ext cx="715889" cy="291406"/>
          </a:xfrm>
          <a:prstGeom prst="rect">
            <a:avLst/>
          </a:prstGeom>
          <a:noFill/>
          <a:ln/>
        </p:spPr>
        <p:txBody>
          <a:bodyPr wrap="square" lIns="25400" tIns="25400" rIns="25400" bIns="25400" rtlCol="0" anchor="t">
            <a:normAutofit/>
          </a:bodyPr>
          <a:lstStyle/>
          <a:p>
            <a:pPr algn="l" indent="0" marL="0">
              <a:buNone/>
            </a:pPr>
            <a:r>
              <a:rPr lang="en-US" sz="1526" spc="92" kern="0" dirty="0">
                <a:solidFill>
                  <a:srgbClr val="17201F">
                    <a:alpha val="50000"/>
                  </a:srgbClr>
                </a:solidFill>
                <a:latin typeface="Courier New" pitchFamily="34" charset="0"/>
                <a:ea typeface="Courier New" pitchFamily="34" charset="-122"/>
                <a:cs typeface="Courier New" pitchFamily="34" charset="-120"/>
              </a:rPr>
              <a:t>10:00</a:t>
            </a:r>
            <a:endParaRPr lang="en-US" sz="1526" dirty="0"/>
          </a:p>
        </p:txBody>
      </p:sp>
      <p:sp>
        <p:nvSpPr>
          <p:cNvPr id="62" name="Text 60"/>
          <p:cNvSpPr/>
          <p:nvPr/>
        </p:nvSpPr>
        <p:spPr>
          <a:xfrm>
            <a:off x="12456761" y="4933892"/>
            <a:ext cx="715888" cy="291406"/>
          </a:xfrm>
          <a:prstGeom prst="rect">
            <a:avLst/>
          </a:prstGeom>
          <a:noFill/>
          <a:ln/>
        </p:spPr>
        <p:txBody>
          <a:bodyPr wrap="square" lIns="25400" tIns="25400" rIns="25400" bIns="25400" rtlCol="0" anchor="t">
            <a:normAutofit/>
          </a:bodyPr>
          <a:lstStyle/>
          <a:p>
            <a:pPr algn="l" indent="0" marL="0">
              <a:buNone/>
            </a:pPr>
            <a:r>
              <a:rPr lang="en-US" sz="1526" spc="92" kern="0" dirty="0">
                <a:solidFill>
                  <a:srgbClr val="17201F">
                    <a:alpha val="50000"/>
                  </a:srgbClr>
                </a:solidFill>
                <a:latin typeface="Courier New" pitchFamily="34" charset="0"/>
                <a:ea typeface="Courier New" pitchFamily="34" charset="-122"/>
                <a:cs typeface="Courier New" pitchFamily="34" charset="-120"/>
              </a:rPr>
              <a:t>12:00</a:t>
            </a:r>
            <a:endParaRPr lang="en-US" sz="1526" dirty="0"/>
          </a:p>
        </p:txBody>
      </p:sp>
      <p:sp>
        <p:nvSpPr>
          <p:cNvPr id="63" name="Text 61"/>
          <p:cNvSpPr/>
          <p:nvPr/>
        </p:nvSpPr>
        <p:spPr>
          <a:xfrm>
            <a:off x="14536091" y="4933892"/>
            <a:ext cx="715888" cy="291406"/>
          </a:xfrm>
          <a:prstGeom prst="rect">
            <a:avLst/>
          </a:prstGeom>
          <a:noFill/>
          <a:ln/>
        </p:spPr>
        <p:txBody>
          <a:bodyPr wrap="square" lIns="25400" tIns="25400" rIns="25400" bIns="25400" rtlCol="0" anchor="t">
            <a:normAutofit/>
          </a:bodyPr>
          <a:lstStyle/>
          <a:p>
            <a:pPr algn="l" indent="0" marL="0">
              <a:buNone/>
            </a:pPr>
            <a:r>
              <a:rPr lang="en-US" sz="1526" spc="92" kern="0" dirty="0">
                <a:solidFill>
                  <a:srgbClr val="17201F">
                    <a:alpha val="50000"/>
                  </a:srgbClr>
                </a:solidFill>
                <a:latin typeface="Courier New" pitchFamily="34" charset="0"/>
                <a:ea typeface="Courier New" pitchFamily="34" charset="-122"/>
                <a:cs typeface="Courier New" pitchFamily="34" charset="-120"/>
              </a:rPr>
              <a:t>14:00</a:t>
            </a:r>
            <a:endParaRPr lang="en-US" sz="1526" dirty="0"/>
          </a:p>
        </p:txBody>
      </p:sp>
      <p:sp>
        <p:nvSpPr>
          <p:cNvPr id="64" name="Text 62"/>
          <p:cNvSpPr/>
          <p:nvPr/>
        </p:nvSpPr>
        <p:spPr>
          <a:xfrm>
            <a:off x="16192500" y="4933892"/>
            <a:ext cx="715890" cy="291406"/>
          </a:xfrm>
          <a:prstGeom prst="rect">
            <a:avLst/>
          </a:prstGeom>
          <a:noFill/>
          <a:ln/>
        </p:spPr>
        <p:txBody>
          <a:bodyPr wrap="square" lIns="25400" tIns="25400" rIns="25400" bIns="25400" rtlCol="0" anchor="t">
            <a:normAutofit/>
          </a:bodyPr>
          <a:lstStyle/>
          <a:p>
            <a:pPr algn="l" indent="0" marL="0">
              <a:buNone/>
            </a:pPr>
            <a:r>
              <a:rPr lang="en-US" sz="1526" spc="92" kern="0" dirty="0">
                <a:solidFill>
                  <a:srgbClr val="17201F">
                    <a:alpha val="50000"/>
                  </a:srgbClr>
                </a:solidFill>
                <a:latin typeface="Courier New" pitchFamily="34" charset="0"/>
                <a:ea typeface="Courier New" pitchFamily="34" charset="-122"/>
                <a:cs typeface="Courier New" pitchFamily="34" charset="-120"/>
              </a:rPr>
              <a:t>16:00</a:t>
            </a:r>
            <a:endParaRPr lang="en-US" sz="1526" dirty="0"/>
          </a:p>
        </p:txBody>
      </p:sp>
      <p:sp>
        <p:nvSpPr>
          <p:cNvPr id="65" name="Shape 63"/>
          <p:cNvSpPr/>
          <p:nvPr/>
        </p:nvSpPr>
        <p:spPr>
          <a:xfrm>
            <a:off x="7364208" y="4387645"/>
            <a:ext cx="3148307" cy="14684"/>
          </a:xfrm>
          <a:prstGeom prst="rect">
            <a:avLst/>
          </a:prstGeom>
          <a:solidFill>
            <a:srgbClr val="5FD6BB"/>
          </a:solidFill>
          <a:ln/>
        </p:spPr>
      </p:sp>
      <p:sp>
        <p:nvSpPr>
          <p:cNvPr id="66" name="Shape 64"/>
          <p:cNvSpPr/>
          <p:nvPr/>
        </p:nvSpPr>
        <p:spPr>
          <a:xfrm>
            <a:off x="7364208" y="4387645"/>
            <a:ext cx="14684" cy="402329"/>
          </a:xfrm>
          <a:prstGeom prst="rect">
            <a:avLst/>
          </a:prstGeom>
          <a:solidFill>
            <a:srgbClr val="5FD6BB"/>
          </a:solidFill>
          <a:ln/>
        </p:spPr>
      </p:sp>
      <p:sp>
        <p:nvSpPr>
          <p:cNvPr id="67" name="Shape 65"/>
          <p:cNvSpPr/>
          <p:nvPr/>
        </p:nvSpPr>
        <p:spPr>
          <a:xfrm>
            <a:off x="10497831" y="4387645"/>
            <a:ext cx="14684" cy="402329"/>
          </a:xfrm>
          <a:prstGeom prst="rect">
            <a:avLst/>
          </a:prstGeom>
          <a:solidFill>
            <a:srgbClr val="5FD6BB"/>
          </a:solidFill>
          <a:ln/>
        </p:spPr>
      </p:sp>
      <p:sp>
        <p:nvSpPr>
          <p:cNvPr id="68" name="Text 66"/>
          <p:cNvSpPr/>
          <p:nvPr/>
        </p:nvSpPr>
        <p:spPr>
          <a:xfrm>
            <a:off x="7364208" y="4088165"/>
            <a:ext cx="1996197"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0F6F5C"/>
                </a:solidFill>
                <a:latin typeface="Courier New" pitchFamily="34" charset="0"/>
                <a:ea typeface="Courier New" pitchFamily="34" charset="-122"/>
                <a:cs typeface="Courier New" pitchFamily="34" charset="-120"/>
              </a:rPr>
              <a:t>→ 07:00–10:00</a:t>
            </a:r>
            <a:endParaRPr lang="en-US" sz="1665" dirty="0"/>
          </a:p>
        </p:txBody>
      </p:sp>
      <p:sp>
        <p:nvSpPr>
          <p:cNvPr id="69" name="Shape 67"/>
          <p:cNvSpPr/>
          <p:nvPr/>
        </p:nvSpPr>
        <p:spPr>
          <a:xfrm>
            <a:off x="1390650" y="5656410"/>
            <a:ext cx="15330488" cy="9525"/>
          </a:xfrm>
          <a:prstGeom prst="rect">
            <a:avLst/>
          </a:prstGeom>
          <a:solidFill>
            <a:srgbClr val="17201F">
              <a:alpha val="14000"/>
            </a:srgbClr>
          </a:solidFill>
          <a:ln/>
        </p:spPr>
      </p:sp>
      <p:sp>
        <p:nvSpPr>
          <p:cNvPr id="70" name="Text 68"/>
          <p:cNvSpPr/>
          <p:nvPr/>
        </p:nvSpPr>
        <p:spPr>
          <a:xfrm>
            <a:off x="1390650" y="6017611"/>
            <a:ext cx="5427345" cy="1359694"/>
          </a:xfrm>
          <a:prstGeom prst="rect">
            <a:avLst/>
          </a:prstGeom>
          <a:noFill/>
          <a:ln/>
        </p:spPr>
        <p:txBody>
          <a:bodyPr wrap="square" lIns="25400" tIns="25400" rIns="25400" bIns="25400" rtlCol="0" anchor="t">
            <a:normAutofit/>
          </a:bodyPr>
          <a:lstStyle/>
          <a:p>
            <a:pPr algn="l" indent="0" marL="0">
              <a:lnSpc>
                <a:spcPct val="86957"/>
              </a:lnSpc>
              <a:buNone/>
            </a:pPr>
            <a:r>
              <a:rPr lang="en-US" sz="6244" spc="-468" kern="0" dirty="0">
                <a:solidFill>
                  <a:srgbClr val="17201F">
                    <a:alpha val="30000"/>
                  </a:srgbClr>
                </a:solidFill>
                <a:latin typeface="Arial" pitchFamily="34" charset="0"/>
                <a:ea typeface="Arial" pitchFamily="34" charset="-122"/>
                <a:cs typeface="Arial" pitchFamily="34" charset="-120"/>
              </a:rPr>
              <a:t>are </a:t>
            </a:r>
            <a:pPr algn="l" indent="0" marL="0">
              <a:lnSpc>
                <a:spcPct val="86957"/>
              </a:lnSpc>
              <a:buNone/>
            </a:pPr>
            <a:r>
              <a:rPr lang="en-US" sz="10406" spc="-468" kern="0" dirty="0">
                <a:solidFill>
                  <a:srgbClr val="17201F"/>
                </a:solidFill>
                <a:latin typeface="Arial" pitchFamily="34" charset="0"/>
                <a:ea typeface="Arial" pitchFamily="34" charset="-122"/>
                <a:cs typeface="Arial" pitchFamily="34" charset="-120"/>
              </a:rPr>
              <a:t>slow</a:t>
            </a:r>
            <a:endParaRPr lang="en-US" sz="10406" dirty="0"/>
          </a:p>
        </p:txBody>
      </p:sp>
      <p:sp>
        <p:nvSpPr>
          <p:cNvPr id="71" name="Shape 69"/>
          <p:cNvSpPr/>
          <p:nvPr/>
        </p:nvSpPr>
        <p:spPr>
          <a:xfrm>
            <a:off x="6324600" y="6810567"/>
            <a:ext cx="10396538" cy="17610"/>
          </a:xfrm>
          <a:prstGeom prst="rect">
            <a:avLst/>
          </a:prstGeom>
          <a:solidFill>
            <a:srgbClr val="17201F">
              <a:alpha val="20000"/>
            </a:srgbClr>
          </a:solidFill>
          <a:ln/>
        </p:spPr>
      </p:sp>
      <p:sp>
        <p:nvSpPr>
          <p:cNvPr id="72" name="Shape 70"/>
          <p:cNvSpPr/>
          <p:nvPr/>
        </p:nvSpPr>
        <p:spPr>
          <a:xfrm>
            <a:off x="7364208" y="6370036"/>
            <a:ext cx="3118939" cy="440531"/>
          </a:xfrm>
          <a:prstGeom prst="rect">
            <a:avLst/>
          </a:prstGeom>
          <a:solidFill>
            <a:srgbClr val="17201F">
              <a:alpha val="6000"/>
            </a:srgbClr>
          </a:solidFill>
          <a:ln/>
        </p:spPr>
      </p:sp>
      <p:sp>
        <p:nvSpPr>
          <p:cNvPr id="73" name="Shape 71"/>
          <p:cNvSpPr/>
          <p:nvPr/>
        </p:nvSpPr>
        <p:spPr>
          <a:xfrm>
            <a:off x="7734300" y="6616687"/>
            <a:ext cx="26386" cy="193822"/>
          </a:xfrm>
          <a:prstGeom prst="rect">
            <a:avLst/>
          </a:prstGeom>
          <a:solidFill>
            <a:srgbClr val="E2A24F"/>
          </a:solidFill>
          <a:ln/>
        </p:spPr>
      </p:sp>
      <p:sp>
        <p:nvSpPr>
          <p:cNvPr id="74" name="Shape 72"/>
          <p:cNvSpPr/>
          <p:nvPr/>
        </p:nvSpPr>
        <p:spPr>
          <a:xfrm>
            <a:off x="8967788" y="6616687"/>
            <a:ext cx="26386" cy="193822"/>
          </a:xfrm>
          <a:prstGeom prst="rect">
            <a:avLst/>
          </a:prstGeom>
          <a:solidFill>
            <a:srgbClr val="E2A24F"/>
          </a:solidFill>
          <a:ln/>
        </p:spPr>
      </p:sp>
      <p:sp>
        <p:nvSpPr>
          <p:cNvPr id="75" name="Shape 73"/>
          <p:cNvSpPr/>
          <p:nvPr/>
        </p:nvSpPr>
        <p:spPr>
          <a:xfrm>
            <a:off x="9936956" y="6616687"/>
            <a:ext cx="26386" cy="193822"/>
          </a:xfrm>
          <a:prstGeom prst="rect">
            <a:avLst/>
          </a:prstGeom>
          <a:solidFill>
            <a:srgbClr val="E2A24F"/>
          </a:solidFill>
          <a:ln/>
        </p:spPr>
      </p:sp>
      <p:sp>
        <p:nvSpPr>
          <p:cNvPr id="76" name="Shape 74"/>
          <p:cNvSpPr/>
          <p:nvPr/>
        </p:nvSpPr>
        <p:spPr>
          <a:xfrm>
            <a:off x="10641806" y="6616687"/>
            <a:ext cx="26386" cy="193822"/>
          </a:xfrm>
          <a:prstGeom prst="rect">
            <a:avLst/>
          </a:prstGeom>
          <a:solidFill>
            <a:srgbClr val="E2A24F"/>
          </a:solidFill>
          <a:ln/>
        </p:spPr>
      </p:sp>
      <p:sp>
        <p:nvSpPr>
          <p:cNvPr id="77" name="Shape 75"/>
          <p:cNvSpPr/>
          <p:nvPr/>
        </p:nvSpPr>
        <p:spPr>
          <a:xfrm>
            <a:off x="10906125" y="6616687"/>
            <a:ext cx="26386" cy="193822"/>
          </a:xfrm>
          <a:prstGeom prst="rect">
            <a:avLst/>
          </a:prstGeom>
          <a:solidFill>
            <a:srgbClr val="E2A24F"/>
          </a:solidFill>
          <a:ln/>
        </p:spPr>
      </p:sp>
      <p:sp>
        <p:nvSpPr>
          <p:cNvPr id="78" name="Shape 76"/>
          <p:cNvSpPr/>
          <p:nvPr/>
        </p:nvSpPr>
        <p:spPr>
          <a:xfrm>
            <a:off x="11082338" y="6616687"/>
            <a:ext cx="26386" cy="193822"/>
          </a:xfrm>
          <a:prstGeom prst="rect">
            <a:avLst/>
          </a:prstGeom>
          <a:solidFill>
            <a:srgbClr val="E2A24F"/>
          </a:solidFill>
          <a:ln/>
        </p:spPr>
      </p:sp>
      <p:sp>
        <p:nvSpPr>
          <p:cNvPr id="79" name="Shape 77"/>
          <p:cNvSpPr/>
          <p:nvPr/>
        </p:nvSpPr>
        <p:spPr>
          <a:xfrm>
            <a:off x="11390709" y="6616687"/>
            <a:ext cx="26386" cy="193822"/>
          </a:xfrm>
          <a:prstGeom prst="rect">
            <a:avLst/>
          </a:prstGeom>
          <a:solidFill>
            <a:srgbClr val="E2A24F"/>
          </a:solidFill>
          <a:ln/>
        </p:spPr>
      </p:sp>
      <p:sp>
        <p:nvSpPr>
          <p:cNvPr id="80" name="Shape 78"/>
          <p:cNvSpPr/>
          <p:nvPr/>
        </p:nvSpPr>
        <p:spPr>
          <a:xfrm>
            <a:off x="11522869" y="6616687"/>
            <a:ext cx="26386" cy="193822"/>
          </a:xfrm>
          <a:prstGeom prst="rect">
            <a:avLst/>
          </a:prstGeom>
          <a:solidFill>
            <a:srgbClr val="E2A24F"/>
          </a:solidFill>
          <a:ln/>
        </p:spPr>
      </p:sp>
      <p:sp>
        <p:nvSpPr>
          <p:cNvPr id="81" name="Shape 79"/>
          <p:cNvSpPr/>
          <p:nvPr/>
        </p:nvSpPr>
        <p:spPr>
          <a:xfrm>
            <a:off x="11787188" y="6616687"/>
            <a:ext cx="26386" cy="193822"/>
          </a:xfrm>
          <a:prstGeom prst="rect">
            <a:avLst/>
          </a:prstGeom>
          <a:solidFill>
            <a:srgbClr val="E2A24F"/>
          </a:solidFill>
          <a:ln/>
        </p:spPr>
      </p:sp>
      <p:sp>
        <p:nvSpPr>
          <p:cNvPr id="82" name="Shape 80"/>
          <p:cNvSpPr/>
          <p:nvPr/>
        </p:nvSpPr>
        <p:spPr>
          <a:xfrm>
            <a:off x="12051506" y="6616687"/>
            <a:ext cx="26386" cy="193822"/>
          </a:xfrm>
          <a:prstGeom prst="rect">
            <a:avLst/>
          </a:prstGeom>
          <a:solidFill>
            <a:srgbClr val="E2A24F"/>
          </a:solidFill>
          <a:ln/>
        </p:spPr>
      </p:sp>
      <p:sp>
        <p:nvSpPr>
          <p:cNvPr id="83" name="Shape 81"/>
          <p:cNvSpPr/>
          <p:nvPr/>
        </p:nvSpPr>
        <p:spPr>
          <a:xfrm>
            <a:off x="12157223" y="6616687"/>
            <a:ext cx="26386" cy="193822"/>
          </a:xfrm>
          <a:prstGeom prst="rect">
            <a:avLst/>
          </a:prstGeom>
          <a:solidFill>
            <a:srgbClr val="E2A24F"/>
          </a:solidFill>
          <a:ln/>
        </p:spPr>
      </p:sp>
      <p:sp>
        <p:nvSpPr>
          <p:cNvPr id="84" name="Shape 82"/>
          <p:cNvSpPr/>
          <p:nvPr/>
        </p:nvSpPr>
        <p:spPr>
          <a:xfrm>
            <a:off x="12492038" y="6616687"/>
            <a:ext cx="26386" cy="193822"/>
          </a:xfrm>
          <a:prstGeom prst="rect">
            <a:avLst/>
          </a:prstGeom>
          <a:solidFill>
            <a:srgbClr val="E2A24F"/>
          </a:solidFill>
          <a:ln/>
        </p:spPr>
      </p:sp>
      <p:sp>
        <p:nvSpPr>
          <p:cNvPr id="85" name="Shape 83"/>
          <p:cNvSpPr/>
          <p:nvPr/>
        </p:nvSpPr>
        <p:spPr>
          <a:xfrm>
            <a:off x="12624197" y="6616687"/>
            <a:ext cx="26386" cy="193822"/>
          </a:xfrm>
          <a:prstGeom prst="rect">
            <a:avLst/>
          </a:prstGeom>
          <a:solidFill>
            <a:srgbClr val="E2A24F"/>
          </a:solidFill>
          <a:ln/>
        </p:spPr>
      </p:sp>
      <p:sp>
        <p:nvSpPr>
          <p:cNvPr id="86" name="Shape 84"/>
          <p:cNvSpPr/>
          <p:nvPr/>
        </p:nvSpPr>
        <p:spPr>
          <a:xfrm>
            <a:off x="12844463" y="6616687"/>
            <a:ext cx="26386" cy="193822"/>
          </a:xfrm>
          <a:prstGeom prst="rect">
            <a:avLst/>
          </a:prstGeom>
          <a:solidFill>
            <a:srgbClr val="E2A24F"/>
          </a:solidFill>
          <a:ln/>
        </p:spPr>
      </p:sp>
      <p:sp>
        <p:nvSpPr>
          <p:cNvPr id="87" name="Shape 85"/>
          <p:cNvSpPr/>
          <p:nvPr/>
        </p:nvSpPr>
        <p:spPr>
          <a:xfrm>
            <a:off x="13108781" y="6616687"/>
            <a:ext cx="26386" cy="193822"/>
          </a:xfrm>
          <a:prstGeom prst="rect">
            <a:avLst/>
          </a:prstGeom>
          <a:solidFill>
            <a:srgbClr val="E2A24F"/>
          </a:solidFill>
          <a:ln/>
        </p:spPr>
      </p:sp>
      <p:sp>
        <p:nvSpPr>
          <p:cNvPr id="88" name="Shape 86"/>
          <p:cNvSpPr/>
          <p:nvPr/>
        </p:nvSpPr>
        <p:spPr>
          <a:xfrm>
            <a:off x="13284994" y="6616687"/>
            <a:ext cx="26386" cy="193822"/>
          </a:xfrm>
          <a:prstGeom prst="rect">
            <a:avLst/>
          </a:prstGeom>
          <a:solidFill>
            <a:srgbClr val="E2A24F"/>
          </a:solidFill>
          <a:ln/>
        </p:spPr>
      </p:sp>
      <p:sp>
        <p:nvSpPr>
          <p:cNvPr id="89" name="Shape 87"/>
          <p:cNvSpPr/>
          <p:nvPr/>
        </p:nvSpPr>
        <p:spPr>
          <a:xfrm>
            <a:off x="13478817" y="6616687"/>
            <a:ext cx="26386" cy="193822"/>
          </a:xfrm>
          <a:prstGeom prst="rect">
            <a:avLst/>
          </a:prstGeom>
          <a:solidFill>
            <a:srgbClr val="E2A24F"/>
          </a:solidFill>
          <a:ln/>
        </p:spPr>
      </p:sp>
      <p:sp>
        <p:nvSpPr>
          <p:cNvPr id="90" name="Shape 88"/>
          <p:cNvSpPr/>
          <p:nvPr/>
        </p:nvSpPr>
        <p:spPr>
          <a:xfrm>
            <a:off x="13813631" y="6616687"/>
            <a:ext cx="26386" cy="193822"/>
          </a:xfrm>
          <a:prstGeom prst="rect">
            <a:avLst/>
          </a:prstGeom>
          <a:solidFill>
            <a:srgbClr val="E2A24F"/>
          </a:solidFill>
          <a:ln/>
        </p:spPr>
      </p:sp>
      <p:sp>
        <p:nvSpPr>
          <p:cNvPr id="91" name="Shape 89"/>
          <p:cNvSpPr/>
          <p:nvPr/>
        </p:nvSpPr>
        <p:spPr>
          <a:xfrm>
            <a:off x="14077950" y="6616687"/>
            <a:ext cx="26386" cy="193822"/>
          </a:xfrm>
          <a:prstGeom prst="rect">
            <a:avLst/>
          </a:prstGeom>
          <a:solidFill>
            <a:srgbClr val="E2A24F"/>
          </a:solidFill>
          <a:ln/>
        </p:spPr>
      </p:sp>
      <p:sp>
        <p:nvSpPr>
          <p:cNvPr id="92" name="Shape 90"/>
          <p:cNvSpPr/>
          <p:nvPr/>
        </p:nvSpPr>
        <p:spPr>
          <a:xfrm>
            <a:off x="14298216" y="6616687"/>
            <a:ext cx="26386" cy="193822"/>
          </a:xfrm>
          <a:prstGeom prst="rect">
            <a:avLst/>
          </a:prstGeom>
          <a:solidFill>
            <a:srgbClr val="E2A24F"/>
          </a:solidFill>
          <a:ln/>
        </p:spPr>
      </p:sp>
      <p:sp>
        <p:nvSpPr>
          <p:cNvPr id="93" name="Shape 91"/>
          <p:cNvSpPr/>
          <p:nvPr/>
        </p:nvSpPr>
        <p:spPr>
          <a:xfrm>
            <a:off x="14518481" y="6616687"/>
            <a:ext cx="26386" cy="193822"/>
          </a:xfrm>
          <a:prstGeom prst="rect">
            <a:avLst/>
          </a:prstGeom>
          <a:solidFill>
            <a:srgbClr val="E2A24F"/>
          </a:solidFill>
          <a:ln/>
        </p:spPr>
      </p:sp>
      <p:sp>
        <p:nvSpPr>
          <p:cNvPr id="94" name="Shape 92"/>
          <p:cNvSpPr/>
          <p:nvPr/>
        </p:nvSpPr>
        <p:spPr>
          <a:xfrm>
            <a:off x="14782800" y="6616687"/>
            <a:ext cx="26386" cy="193822"/>
          </a:xfrm>
          <a:prstGeom prst="rect">
            <a:avLst/>
          </a:prstGeom>
          <a:solidFill>
            <a:srgbClr val="E2A24F"/>
          </a:solidFill>
          <a:ln/>
        </p:spPr>
      </p:sp>
      <p:sp>
        <p:nvSpPr>
          <p:cNvPr id="95" name="Shape 93"/>
          <p:cNvSpPr/>
          <p:nvPr/>
        </p:nvSpPr>
        <p:spPr>
          <a:xfrm>
            <a:off x="15047119" y="6616687"/>
            <a:ext cx="26386" cy="193822"/>
          </a:xfrm>
          <a:prstGeom prst="rect">
            <a:avLst/>
          </a:prstGeom>
          <a:solidFill>
            <a:srgbClr val="E2A24F"/>
          </a:solidFill>
          <a:ln/>
        </p:spPr>
      </p:sp>
      <p:sp>
        <p:nvSpPr>
          <p:cNvPr id="96" name="Shape 94"/>
          <p:cNvSpPr/>
          <p:nvPr/>
        </p:nvSpPr>
        <p:spPr>
          <a:xfrm>
            <a:off x="15223331" y="6616687"/>
            <a:ext cx="26386" cy="193822"/>
          </a:xfrm>
          <a:prstGeom prst="rect">
            <a:avLst/>
          </a:prstGeom>
          <a:solidFill>
            <a:srgbClr val="E2A24F"/>
          </a:solidFill>
          <a:ln/>
        </p:spPr>
      </p:sp>
      <p:sp>
        <p:nvSpPr>
          <p:cNvPr id="97" name="Shape 95"/>
          <p:cNvSpPr/>
          <p:nvPr/>
        </p:nvSpPr>
        <p:spPr>
          <a:xfrm>
            <a:off x="15487650" y="6616687"/>
            <a:ext cx="26386" cy="193822"/>
          </a:xfrm>
          <a:prstGeom prst="rect">
            <a:avLst/>
          </a:prstGeom>
          <a:solidFill>
            <a:srgbClr val="E2A24F"/>
          </a:solidFill>
          <a:ln/>
        </p:spPr>
      </p:sp>
      <p:sp>
        <p:nvSpPr>
          <p:cNvPr id="98" name="Shape 96"/>
          <p:cNvSpPr/>
          <p:nvPr/>
        </p:nvSpPr>
        <p:spPr>
          <a:xfrm>
            <a:off x="15796022" y="6616687"/>
            <a:ext cx="26386" cy="193822"/>
          </a:xfrm>
          <a:prstGeom prst="rect">
            <a:avLst/>
          </a:prstGeom>
          <a:solidFill>
            <a:srgbClr val="E2A24F"/>
          </a:solidFill>
          <a:ln/>
        </p:spPr>
      </p:sp>
      <p:sp>
        <p:nvSpPr>
          <p:cNvPr id="99" name="Shape 97"/>
          <p:cNvSpPr/>
          <p:nvPr/>
        </p:nvSpPr>
        <p:spPr>
          <a:xfrm>
            <a:off x="16016288" y="6616687"/>
            <a:ext cx="26386" cy="193822"/>
          </a:xfrm>
          <a:prstGeom prst="rect">
            <a:avLst/>
          </a:prstGeom>
          <a:solidFill>
            <a:srgbClr val="E2A24F"/>
          </a:solidFill>
          <a:ln/>
        </p:spPr>
      </p:sp>
      <p:sp>
        <p:nvSpPr>
          <p:cNvPr id="100" name="Shape 98"/>
          <p:cNvSpPr/>
          <p:nvPr/>
        </p:nvSpPr>
        <p:spPr>
          <a:xfrm>
            <a:off x="16280606" y="6616687"/>
            <a:ext cx="26386" cy="193822"/>
          </a:xfrm>
          <a:prstGeom prst="rect">
            <a:avLst/>
          </a:prstGeom>
          <a:solidFill>
            <a:srgbClr val="E2A24F"/>
          </a:solidFill>
          <a:ln/>
        </p:spPr>
      </p:sp>
      <p:sp>
        <p:nvSpPr>
          <p:cNvPr id="101" name="Shape 99"/>
          <p:cNvSpPr/>
          <p:nvPr/>
        </p:nvSpPr>
        <p:spPr>
          <a:xfrm>
            <a:off x="16544924" y="6616687"/>
            <a:ext cx="26386" cy="193822"/>
          </a:xfrm>
          <a:prstGeom prst="rect">
            <a:avLst/>
          </a:prstGeom>
          <a:solidFill>
            <a:srgbClr val="E2A24F"/>
          </a:solidFill>
          <a:ln/>
        </p:spPr>
      </p:sp>
      <p:sp>
        <p:nvSpPr>
          <p:cNvPr id="102" name="Text 100"/>
          <p:cNvSpPr/>
          <p:nvPr/>
        </p:nvSpPr>
        <p:spPr>
          <a:xfrm>
            <a:off x="7364208" y="6123384"/>
            <a:ext cx="3070865"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0F6F5C"/>
                </a:solidFill>
                <a:latin typeface="Courier New" pitchFamily="34" charset="0"/>
                <a:ea typeface="Courier New" pitchFamily="34" charset="-122"/>
                <a:cs typeface="Courier New" pitchFamily="34" charset="-120"/>
              </a:rPr>
              <a:t>→ 3 VISITS · THE GAP</a:t>
            </a:r>
            <a:endParaRPr lang="en-US" sz="1665" dirty="0"/>
          </a:p>
        </p:txBody>
      </p:sp>
      <p:sp>
        <p:nvSpPr>
          <p:cNvPr id="103" name="Text 101"/>
          <p:cNvSpPr/>
          <p:nvPr/>
        </p:nvSpPr>
        <p:spPr>
          <a:xfrm>
            <a:off x="12492038" y="6123384"/>
            <a:ext cx="4144963"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17201F">
                    <a:alpha val="50000"/>
                  </a:srgbClr>
                </a:solidFill>
                <a:latin typeface="Courier New" pitchFamily="34" charset="0"/>
                <a:ea typeface="Courier New" pitchFamily="34" charset="-122"/>
                <a:cs typeface="Courier New" pitchFamily="34" charset="-120"/>
              </a:rPr>
              <a:t>THE REST OF THE DAY IS FINE</a:t>
            </a:r>
            <a:endParaRPr lang="en-US" sz="1665" dirty="0"/>
          </a:p>
        </p:txBody>
      </p:sp>
      <p:sp>
        <p:nvSpPr>
          <p:cNvPr id="104" name="Text 102"/>
          <p:cNvSpPr/>
          <p:nvPr/>
        </p:nvSpPr>
        <p:spPr>
          <a:xfrm>
            <a:off x="1390650" y="8570570"/>
            <a:ext cx="6140656"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17201F">
                    <a:alpha val="50000"/>
                  </a:srgbClr>
                </a:solidFill>
                <a:latin typeface="Courier New" pitchFamily="34" charset="0"/>
                <a:ea typeface="Courier New" pitchFamily="34" charset="-122"/>
                <a:cs typeface="Courier New" pitchFamily="34" charset="-120"/>
              </a:rPr>
              <a:t>NO FORM · NO CATEGORY · NO CAMPAIGN NAME</a:t>
            </a:r>
            <a:endParaRPr lang="en-US" sz="1665" dirty="0"/>
          </a:p>
        </p:txBody>
      </p:sp>
      <p:sp>
        <p:nvSpPr>
          <p:cNvPr id="105" name="Text 103"/>
          <p:cNvSpPr/>
          <p:nvPr/>
        </p:nvSpPr>
        <p:spPr>
          <a:xfrm>
            <a:off x="685788" y="9765543"/>
            <a:ext cx="3042704"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alpha val="55000"/>
                  </a:srgbClr>
                </a:solidFill>
                <a:latin typeface="Courier New" pitchFamily="34" charset="0"/>
                <a:ea typeface="Courier New" pitchFamily="34" charset="-122"/>
                <a:cs typeface="Courier New" pitchFamily="34" charset="-120"/>
              </a:rPr>
              <a:t>SCENE 04 · 0:13–0:19</a:t>
            </a:r>
            <a:endParaRPr lang="en-US" sz="1650" dirty="0"/>
          </a:p>
        </p:txBody>
      </p:sp>
      <p:sp>
        <p:nvSpPr>
          <p:cNvPr id="106" name="Text 104"/>
          <p:cNvSpPr/>
          <p:nvPr/>
        </p:nvSpPr>
        <p:spPr>
          <a:xfrm>
            <a:off x="8590793" y="9765543"/>
            <a:ext cx="1369237"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solidFill>
                <a:latin typeface="Courier New" pitchFamily="34" charset="0"/>
                <a:ea typeface="Courier New" pitchFamily="34" charset="-122"/>
                <a:cs typeface="Courier New" pitchFamily="34" charset="-120"/>
              </a:rPr>
              <a:t>INTERPRET</a:t>
            </a:r>
            <a:endParaRPr lang="en-US" sz="1650" dirty="0"/>
          </a:p>
        </p:txBody>
      </p:sp>
      <p:sp>
        <p:nvSpPr>
          <p:cNvPr id="107" name="Text 105"/>
          <p:cNvSpPr/>
          <p:nvPr/>
        </p:nvSpPr>
        <p:spPr>
          <a:xfrm>
            <a:off x="14974403" y="9765543"/>
            <a:ext cx="2890589"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alpha val="55000"/>
                  </a:srgbClr>
                </a:solidFill>
                <a:latin typeface="Courier New" pitchFamily="34" charset="0"/>
                <a:ea typeface="Courier New" pitchFamily="34" charset="-122"/>
                <a:cs typeface="Courier New" pitchFamily="34" charset="-120"/>
              </a:rPr>
              <a:t>DIRECTION 1 · GREEN</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1013"/>
        </a:solidFill>
      </p:bgPr>
    </p:bg>
    <p:spTree>
      <p:nvGrpSpPr>
        <p:cNvPr id="1" name=""/>
        <p:cNvGrpSpPr/>
        <p:nvPr/>
      </p:nvGrpSpPr>
      <p:grpSpPr>
        <a:xfrm>
          <a:off x="0" y="0"/>
          <a:ext cx="0" cy="0"/>
          <a:chOff x="0" y="0"/>
          <a:chExt cx="0" cy="0"/>
        </a:xfrm>
      </p:grpSpPr>
      <p:sp>
        <p:nvSpPr>
          <p:cNvPr id="2" name="Shape 0"/>
          <p:cNvSpPr/>
          <p:nvPr/>
        </p:nvSpPr>
        <p:spPr>
          <a:xfrm>
            <a:off x="685800" y="0"/>
            <a:ext cx="16916401" cy="9515475"/>
          </a:xfrm>
          <a:prstGeom prst="rect">
            <a:avLst/>
          </a:prstGeom>
          <a:solidFill>
            <a:srgbClr val="FAF8F4"/>
          </a:solidFill>
          <a:ln/>
        </p:spPr>
      </p:sp>
      <p:sp>
        <p:nvSpPr>
          <p:cNvPr id="3" name="Text 1"/>
          <p:cNvSpPr/>
          <p:nvPr/>
        </p:nvSpPr>
        <p:spPr>
          <a:xfrm>
            <a:off x="1390650" y="528637"/>
            <a:ext cx="7368838"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17201F">
                    <a:alpha val="50000"/>
                  </a:srgbClr>
                </a:solidFill>
                <a:latin typeface="Courier New" pitchFamily="34" charset="0"/>
                <a:ea typeface="Courier New" pitchFamily="34" charset="-122"/>
                <a:cs typeface="Courier New" pitchFamily="34" charset="-120"/>
              </a:rPr>
              <a:t>JOE'S FUEL &amp; GO · 118 · </a:t>
            </a:r>
            <a:pPr algn="l" indent="0" marL="0">
              <a:buNone/>
            </a:pPr>
            <a:r>
              <a:rPr lang="en-US" sz="1665" spc="100" kern="0" dirty="0">
                <a:solidFill>
                  <a:srgbClr val="17201F"/>
                </a:solidFill>
                <a:latin typeface="Courier New" pitchFamily="34" charset="0"/>
                <a:ea typeface="Courier New" pitchFamily="34" charset="-122"/>
                <a:cs typeface="Courier New" pitchFamily="34" charset="-120"/>
              </a:rPr>
              <a:t>FRIDAY MORNINGS ARE SLOW</a:t>
            </a:r>
            <a:endParaRPr lang="en-US" sz="1665" dirty="0"/>
          </a:p>
        </p:txBody>
      </p:sp>
      <p:sp>
        <p:nvSpPr>
          <p:cNvPr id="4" name="Shape 2"/>
          <p:cNvSpPr/>
          <p:nvPr/>
        </p:nvSpPr>
        <p:spPr>
          <a:xfrm>
            <a:off x="8301025" y="597298"/>
            <a:ext cx="1086644" cy="14684"/>
          </a:xfrm>
          <a:prstGeom prst="rect">
            <a:avLst/>
          </a:prstGeom>
          <a:solidFill>
            <a:srgbClr val="5FD6BB"/>
          </a:solidFill>
          <a:ln/>
        </p:spPr>
      </p:sp>
      <p:sp>
        <p:nvSpPr>
          <p:cNvPr id="5" name="Shape 3"/>
          <p:cNvSpPr/>
          <p:nvPr/>
        </p:nvSpPr>
        <p:spPr>
          <a:xfrm>
            <a:off x="8301025" y="597298"/>
            <a:ext cx="14684" cy="138010"/>
          </a:xfrm>
          <a:prstGeom prst="rect">
            <a:avLst/>
          </a:prstGeom>
          <a:solidFill>
            <a:srgbClr val="5FD6BB"/>
          </a:solidFill>
          <a:ln/>
        </p:spPr>
      </p:sp>
      <p:sp>
        <p:nvSpPr>
          <p:cNvPr id="6" name="Shape 4"/>
          <p:cNvSpPr/>
          <p:nvPr/>
        </p:nvSpPr>
        <p:spPr>
          <a:xfrm>
            <a:off x="9372985" y="597298"/>
            <a:ext cx="14684" cy="138010"/>
          </a:xfrm>
          <a:prstGeom prst="rect">
            <a:avLst/>
          </a:prstGeom>
          <a:solidFill>
            <a:srgbClr val="5FD6BB"/>
          </a:solidFill>
          <a:ln/>
        </p:spPr>
      </p:sp>
      <p:sp>
        <p:nvSpPr>
          <p:cNvPr id="7" name="Text 5"/>
          <p:cNvSpPr/>
          <p:nvPr/>
        </p:nvSpPr>
        <p:spPr>
          <a:xfrm>
            <a:off x="9599101" y="528637"/>
            <a:ext cx="774052"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0F6F5C"/>
                </a:solidFill>
                <a:latin typeface="Courier New" pitchFamily="34" charset="0"/>
                <a:ea typeface="Courier New" pitchFamily="34" charset="-122"/>
                <a:cs typeface="Courier New" pitchFamily="34" charset="-120"/>
              </a:rPr>
              <a:t>07–10</a:t>
            </a:r>
            <a:endParaRPr lang="en-US" sz="1665" dirty="0"/>
          </a:p>
        </p:txBody>
      </p:sp>
      <p:sp>
        <p:nvSpPr>
          <p:cNvPr id="8" name="Text 6"/>
          <p:cNvSpPr/>
          <p:nvPr/>
        </p:nvSpPr>
        <p:spPr>
          <a:xfrm>
            <a:off x="14524791" y="528637"/>
            <a:ext cx="2609815"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0F6F5C"/>
                </a:solidFill>
                <a:latin typeface="Courier New" pitchFamily="34" charset="0"/>
                <a:ea typeface="Courier New" pitchFamily="34" charset="-122"/>
                <a:cs typeface="Courier New" pitchFamily="34" charset="-120"/>
              </a:rPr>
              <a:t>WHAT MATTERS HERE</a:t>
            </a:r>
            <a:endParaRPr lang="en-US" sz="1665" dirty="0"/>
          </a:p>
        </p:txBody>
      </p:sp>
      <p:sp>
        <p:nvSpPr>
          <p:cNvPr id="9" name="Shape 7"/>
          <p:cNvSpPr/>
          <p:nvPr/>
        </p:nvSpPr>
        <p:spPr>
          <a:xfrm>
            <a:off x="1390650" y="1092495"/>
            <a:ext cx="15506700" cy="17610"/>
          </a:xfrm>
          <a:prstGeom prst="rect">
            <a:avLst/>
          </a:prstGeom>
          <a:solidFill>
            <a:srgbClr val="17201F">
              <a:alpha val="14000"/>
            </a:srgbClr>
          </a:solidFill>
          <a:ln/>
        </p:spPr>
      </p:sp>
      <p:sp>
        <p:nvSpPr>
          <p:cNvPr id="10" name="Shape 8"/>
          <p:cNvSpPr/>
          <p:nvPr/>
        </p:nvSpPr>
        <p:spPr>
          <a:xfrm>
            <a:off x="1390650" y="1674019"/>
            <a:ext cx="4816475" cy="14684"/>
          </a:xfrm>
          <a:prstGeom prst="rect">
            <a:avLst/>
          </a:prstGeom>
          <a:solidFill>
            <a:srgbClr val="5FD6BB"/>
          </a:solidFill>
          <a:ln/>
        </p:spPr>
      </p:sp>
      <p:sp>
        <p:nvSpPr>
          <p:cNvPr id="11" name="Text 9"/>
          <p:cNvSpPr/>
          <p:nvPr/>
        </p:nvSpPr>
        <p:spPr>
          <a:xfrm>
            <a:off x="1390650" y="2005851"/>
            <a:ext cx="5298123" cy="1386080"/>
          </a:xfrm>
          <a:prstGeom prst="rect">
            <a:avLst/>
          </a:prstGeom>
          <a:noFill/>
          <a:ln/>
        </p:spPr>
        <p:txBody>
          <a:bodyPr wrap="square" lIns="25400" tIns="25400" rIns="25400" bIns="25400" rtlCol="0" anchor="t">
            <a:normAutofit/>
          </a:bodyPr>
          <a:lstStyle/>
          <a:p>
            <a:pPr algn="l" indent="0" marL="0">
              <a:lnSpc>
                <a:spcPct val="78462"/>
              </a:lnSpc>
              <a:buNone/>
            </a:pPr>
            <a:r>
              <a:rPr lang="en-US" sz="11794" spc="-590" kern="0" dirty="0">
                <a:solidFill>
                  <a:srgbClr val="17201F"/>
                </a:solidFill>
                <a:latin typeface="Arial" pitchFamily="34" charset="0"/>
                <a:ea typeface="Arial" pitchFamily="34" charset="-122"/>
                <a:cs typeface="Arial" pitchFamily="34" charset="-120"/>
              </a:rPr>
              <a:t>63</a:t>
            </a:r>
            <a:endParaRPr lang="en-US" sz="11794" dirty="0"/>
          </a:p>
        </p:txBody>
      </p:sp>
      <p:sp>
        <p:nvSpPr>
          <p:cNvPr id="12" name="Text 10"/>
          <p:cNvSpPr/>
          <p:nvPr/>
        </p:nvSpPr>
        <p:spPr>
          <a:xfrm>
            <a:off x="1390650" y="3477157"/>
            <a:ext cx="4960969" cy="698897"/>
          </a:xfrm>
          <a:prstGeom prst="rect">
            <a:avLst/>
          </a:prstGeom>
          <a:noFill/>
          <a:ln/>
        </p:spPr>
        <p:txBody>
          <a:bodyPr wrap="square" lIns="25400" tIns="25400" rIns="25400" bIns="25400" rtlCol="0" anchor="t">
            <a:normAutofit/>
          </a:bodyPr>
          <a:lstStyle/>
          <a:p>
            <a:pPr algn="l" indent="0" marL="0">
              <a:lnSpc>
                <a:spcPct val="109756"/>
              </a:lnSpc>
              <a:buNone/>
            </a:pPr>
            <a:r>
              <a:rPr lang="en-US" sz="2081" dirty="0">
                <a:solidFill>
                  <a:srgbClr val="17201F"/>
                </a:solidFill>
                <a:latin typeface="Arial" pitchFamily="34" charset="0"/>
                <a:ea typeface="Arial" pitchFamily="34" charset="-122"/>
                <a:cs typeface="Arial" pitchFamily="34" charset="-120"/>
              </a:rPr>
              <a:t>customers who tend to respond in the morning.</a:t>
            </a:r>
            <a:endParaRPr lang="en-US" sz="2081" dirty="0"/>
          </a:p>
        </p:txBody>
      </p:sp>
      <p:sp>
        <p:nvSpPr>
          <p:cNvPr id="13" name="Shape 11"/>
          <p:cNvSpPr/>
          <p:nvPr/>
        </p:nvSpPr>
        <p:spPr>
          <a:xfrm>
            <a:off x="6735763" y="1674019"/>
            <a:ext cx="4816475" cy="14684"/>
          </a:xfrm>
          <a:prstGeom prst="rect">
            <a:avLst/>
          </a:prstGeom>
          <a:solidFill>
            <a:srgbClr val="5FD6BB"/>
          </a:solidFill>
          <a:ln/>
        </p:spPr>
      </p:sp>
      <p:sp>
        <p:nvSpPr>
          <p:cNvPr id="14" name="Text 12"/>
          <p:cNvSpPr/>
          <p:nvPr/>
        </p:nvSpPr>
        <p:spPr>
          <a:xfrm>
            <a:off x="6735763" y="2005851"/>
            <a:ext cx="5298122" cy="1386080"/>
          </a:xfrm>
          <a:prstGeom prst="rect">
            <a:avLst/>
          </a:prstGeom>
          <a:noFill/>
          <a:ln/>
        </p:spPr>
        <p:txBody>
          <a:bodyPr wrap="square" lIns="25400" tIns="25400" rIns="25400" bIns="25400" rtlCol="0" anchor="t">
            <a:normAutofit/>
          </a:bodyPr>
          <a:lstStyle/>
          <a:p>
            <a:pPr algn="l" indent="0" marL="0">
              <a:lnSpc>
                <a:spcPct val="78462"/>
              </a:lnSpc>
              <a:buNone/>
            </a:pPr>
            <a:r>
              <a:rPr lang="en-US" sz="11794" spc="-590" kern="0" dirty="0">
                <a:solidFill>
                  <a:srgbClr val="17201F"/>
                </a:solidFill>
                <a:latin typeface="Arial" pitchFamily="34" charset="0"/>
                <a:ea typeface="Arial" pitchFamily="34" charset="-122"/>
                <a:cs typeface="Arial" pitchFamily="34" charset="-120"/>
              </a:rPr>
              <a:t>41</a:t>
            </a:r>
            <a:endParaRPr lang="en-US" sz="11794" dirty="0"/>
          </a:p>
        </p:txBody>
      </p:sp>
      <p:sp>
        <p:nvSpPr>
          <p:cNvPr id="15" name="Text 13"/>
          <p:cNvSpPr/>
          <p:nvPr/>
        </p:nvSpPr>
        <p:spPr>
          <a:xfrm>
            <a:off x="6735763" y="3477157"/>
            <a:ext cx="5298122" cy="368498"/>
          </a:xfrm>
          <a:prstGeom prst="rect">
            <a:avLst/>
          </a:prstGeom>
          <a:noFill/>
          <a:ln/>
        </p:spPr>
        <p:txBody>
          <a:bodyPr wrap="square" lIns="25400" tIns="25400" rIns="25400" bIns="25400" rtlCol="0" anchor="t">
            <a:normAutofit/>
          </a:bodyPr>
          <a:lstStyle/>
          <a:p>
            <a:pPr algn="l" indent="0" marL="0">
              <a:lnSpc>
                <a:spcPct val="109756"/>
              </a:lnSpc>
              <a:buNone/>
            </a:pPr>
            <a:r>
              <a:rPr lang="en-US" sz="2081" dirty="0">
                <a:solidFill>
                  <a:srgbClr val="17201F"/>
                </a:solidFill>
                <a:latin typeface="Arial" pitchFamily="34" charset="0"/>
                <a:ea typeface="Arial" pitchFamily="34" charset="-122"/>
                <a:cs typeface="Arial" pitchFamily="34" charset="-120"/>
              </a:rPr>
              <a:t>worth bringing back.</a:t>
            </a:r>
            <a:endParaRPr lang="en-US" sz="2081" dirty="0"/>
          </a:p>
        </p:txBody>
      </p:sp>
      <p:sp>
        <p:nvSpPr>
          <p:cNvPr id="16" name="Shape 14"/>
          <p:cNvSpPr/>
          <p:nvPr/>
        </p:nvSpPr>
        <p:spPr>
          <a:xfrm>
            <a:off x="12080874" y="1674019"/>
            <a:ext cx="4816475" cy="14684"/>
          </a:xfrm>
          <a:prstGeom prst="rect">
            <a:avLst/>
          </a:prstGeom>
          <a:solidFill>
            <a:srgbClr val="5FD6BB"/>
          </a:solidFill>
          <a:ln/>
        </p:spPr>
      </p:sp>
      <p:sp>
        <p:nvSpPr>
          <p:cNvPr id="17" name="Text 15"/>
          <p:cNvSpPr/>
          <p:nvPr/>
        </p:nvSpPr>
        <p:spPr>
          <a:xfrm>
            <a:off x="12080874" y="2005851"/>
            <a:ext cx="5298123" cy="1386080"/>
          </a:xfrm>
          <a:prstGeom prst="rect">
            <a:avLst/>
          </a:prstGeom>
          <a:noFill/>
          <a:ln/>
        </p:spPr>
        <p:txBody>
          <a:bodyPr wrap="square" lIns="25400" tIns="25400" rIns="25400" bIns="25400" rtlCol="0" anchor="t">
            <a:normAutofit/>
          </a:bodyPr>
          <a:lstStyle/>
          <a:p>
            <a:pPr algn="l" indent="0" marL="0">
              <a:lnSpc>
                <a:spcPct val="78462"/>
              </a:lnSpc>
              <a:buNone/>
            </a:pPr>
            <a:r>
              <a:rPr lang="en-US" sz="11794" spc="-590" kern="0" dirty="0">
                <a:solidFill>
                  <a:srgbClr val="17201F"/>
                </a:solidFill>
                <a:latin typeface="Arial" pitchFamily="34" charset="0"/>
                <a:ea typeface="Arial" pitchFamily="34" charset="-122"/>
                <a:cs typeface="Arial" pitchFamily="34" charset="-120"/>
              </a:rPr>
              <a:t>$0.62</a:t>
            </a:r>
            <a:endParaRPr lang="en-US" sz="11794" dirty="0"/>
          </a:p>
        </p:txBody>
      </p:sp>
      <p:sp>
        <p:nvSpPr>
          <p:cNvPr id="18" name="Text 16"/>
          <p:cNvSpPr/>
          <p:nvPr/>
        </p:nvSpPr>
        <p:spPr>
          <a:xfrm>
            <a:off x="12080874" y="3477157"/>
            <a:ext cx="5298123" cy="368498"/>
          </a:xfrm>
          <a:prstGeom prst="rect">
            <a:avLst/>
          </a:prstGeom>
          <a:noFill/>
          <a:ln/>
        </p:spPr>
        <p:txBody>
          <a:bodyPr wrap="square" lIns="25400" tIns="25400" rIns="25400" bIns="25400" rtlCol="0" anchor="t">
            <a:normAutofit/>
          </a:bodyPr>
          <a:lstStyle/>
          <a:p>
            <a:pPr algn="l" indent="0" marL="0">
              <a:lnSpc>
                <a:spcPct val="109756"/>
              </a:lnSpc>
              <a:buNone/>
            </a:pPr>
            <a:r>
              <a:rPr lang="en-US" sz="2081" dirty="0">
                <a:solidFill>
                  <a:srgbClr val="17201F"/>
                </a:solidFill>
                <a:latin typeface="Arial" pitchFamily="34" charset="0"/>
                <a:ea typeface="Arial" pitchFamily="34" charset="-122"/>
                <a:cs typeface="Arial" pitchFamily="34" charset="-120"/>
              </a:rPr>
              <a:t>what a large coffee costs Joe.</a:t>
            </a:r>
            <a:endParaRPr lang="en-US" sz="2081" dirty="0"/>
          </a:p>
        </p:txBody>
      </p:sp>
      <p:sp>
        <p:nvSpPr>
          <p:cNvPr id="19" name="Shape 17"/>
          <p:cNvSpPr/>
          <p:nvPr/>
        </p:nvSpPr>
        <p:spPr>
          <a:xfrm>
            <a:off x="1390650" y="4490379"/>
            <a:ext cx="4816475" cy="14684"/>
          </a:xfrm>
          <a:prstGeom prst="rect">
            <a:avLst/>
          </a:prstGeom>
          <a:solidFill>
            <a:srgbClr val="17201F">
              <a:alpha val="14000"/>
            </a:srgbClr>
          </a:solidFill>
          <a:ln/>
        </p:spPr>
      </p:sp>
      <p:sp>
        <p:nvSpPr>
          <p:cNvPr id="20" name="Text 18"/>
          <p:cNvSpPr/>
          <p:nvPr/>
        </p:nvSpPr>
        <p:spPr>
          <a:xfrm>
            <a:off x="1390650" y="4804601"/>
            <a:ext cx="5298123" cy="910329"/>
          </a:xfrm>
          <a:prstGeom prst="rect">
            <a:avLst/>
          </a:prstGeom>
          <a:noFill/>
          <a:ln/>
        </p:spPr>
        <p:txBody>
          <a:bodyPr wrap="square" lIns="25400" tIns="25400" rIns="25400" bIns="25400" rtlCol="0" anchor="t">
            <a:normAutofit/>
          </a:bodyPr>
          <a:lstStyle/>
          <a:p>
            <a:pPr algn="l" indent="0" marL="0">
              <a:lnSpc>
                <a:spcPct val="78158"/>
              </a:lnSpc>
              <a:buNone/>
            </a:pPr>
            <a:r>
              <a:rPr lang="en-US" sz="7631" spc="-382" kern="0" dirty="0">
                <a:solidFill>
                  <a:srgbClr val="17201F"/>
                </a:solidFill>
                <a:latin typeface="Arial" pitchFamily="34" charset="0"/>
                <a:ea typeface="Arial" pitchFamily="34" charset="-122"/>
                <a:cs typeface="Arial" pitchFamily="34" charset="-120"/>
              </a:rPr>
              <a:t>30</a:t>
            </a:r>
            <a:endParaRPr lang="en-US" sz="7631" dirty="0"/>
          </a:p>
        </p:txBody>
      </p:sp>
      <p:sp>
        <p:nvSpPr>
          <p:cNvPr id="21" name="Text 19"/>
          <p:cNvSpPr/>
          <p:nvPr/>
        </p:nvSpPr>
        <p:spPr>
          <a:xfrm>
            <a:off x="1390650" y="5800156"/>
            <a:ext cx="5298123" cy="368498"/>
          </a:xfrm>
          <a:prstGeom prst="rect">
            <a:avLst/>
          </a:prstGeom>
          <a:noFill/>
          <a:ln/>
        </p:spPr>
        <p:txBody>
          <a:bodyPr wrap="square" lIns="25400" tIns="25400" rIns="25400" bIns="25400" rtlCol="0" anchor="t">
            <a:normAutofit/>
          </a:bodyPr>
          <a:lstStyle/>
          <a:p>
            <a:pPr algn="l" indent="0" marL="0">
              <a:lnSpc>
                <a:spcPct val="109756"/>
              </a:lnSpc>
              <a:buNone/>
            </a:pPr>
            <a:r>
              <a:rPr lang="en-US" sz="2081" dirty="0">
                <a:solidFill>
                  <a:srgbClr val="17201F"/>
                </a:solidFill>
                <a:latin typeface="Arial" pitchFamily="34" charset="0"/>
                <a:ea typeface="Arial" pitchFamily="34" charset="-122"/>
                <a:cs typeface="Arial" pitchFamily="34" charset="-120"/>
              </a:rPr>
              <a:t>rewards, then it stops.</a:t>
            </a:r>
            <a:endParaRPr lang="en-US" sz="2081" dirty="0"/>
          </a:p>
        </p:txBody>
      </p:sp>
      <p:sp>
        <p:nvSpPr>
          <p:cNvPr id="22" name="Shape 20"/>
          <p:cNvSpPr/>
          <p:nvPr/>
        </p:nvSpPr>
        <p:spPr>
          <a:xfrm>
            <a:off x="6735763" y="4490379"/>
            <a:ext cx="4816475" cy="14684"/>
          </a:xfrm>
          <a:prstGeom prst="rect">
            <a:avLst/>
          </a:prstGeom>
          <a:solidFill>
            <a:srgbClr val="17201F">
              <a:alpha val="14000"/>
            </a:srgbClr>
          </a:solidFill>
          <a:ln/>
        </p:spPr>
      </p:sp>
      <p:sp>
        <p:nvSpPr>
          <p:cNvPr id="23" name="Text 21"/>
          <p:cNvSpPr/>
          <p:nvPr/>
        </p:nvSpPr>
        <p:spPr>
          <a:xfrm>
            <a:off x="6735763" y="4804601"/>
            <a:ext cx="5298122" cy="910329"/>
          </a:xfrm>
          <a:prstGeom prst="rect">
            <a:avLst/>
          </a:prstGeom>
          <a:noFill/>
          <a:ln/>
        </p:spPr>
        <p:txBody>
          <a:bodyPr wrap="square" lIns="25400" tIns="25400" rIns="25400" bIns="25400" rtlCol="0" anchor="t">
            <a:normAutofit/>
          </a:bodyPr>
          <a:lstStyle/>
          <a:p>
            <a:pPr algn="l" indent="0" marL="0">
              <a:lnSpc>
                <a:spcPct val="78158"/>
              </a:lnSpc>
              <a:buNone/>
            </a:pPr>
            <a:r>
              <a:rPr lang="en-US" sz="7631" spc="-343" kern="0" dirty="0">
                <a:solidFill>
                  <a:srgbClr val="17201F"/>
                </a:solidFill>
                <a:latin typeface="Arial" pitchFamily="34" charset="0"/>
                <a:ea typeface="Arial" pitchFamily="34" charset="-122"/>
                <a:cs typeface="Arial" pitchFamily="34" charset="-120"/>
              </a:rPr>
              <a:t>Fuel</a:t>
            </a:r>
            <a:endParaRPr lang="en-US" sz="7631" dirty="0"/>
          </a:p>
        </p:txBody>
      </p:sp>
      <p:sp>
        <p:nvSpPr>
          <p:cNvPr id="24" name="Text 22"/>
          <p:cNvSpPr/>
          <p:nvPr/>
        </p:nvSpPr>
        <p:spPr>
          <a:xfrm>
            <a:off x="6735763" y="5800156"/>
            <a:ext cx="5298122" cy="368498"/>
          </a:xfrm>
          <a:prstGeom prst="rect">
            <a:avLst/>
          </a:prstGeom>
          <a:noFill/>
          <a:ln/>
        </p:spPr>
        <p:txBody>
          <a:bodyPr wrap="square" lIns="25400" tIns="25400" rIns="25400" bIns="25400" rtlCol="0" anchor="t">
            <a:normAutofit/>
          </a:bodyPr>
          <a:lstStyle/>
          <a:p>
            <a:pPr algn="l" indent="0" marL="0">
              <a:lnSpc>
                <a:spcPct val="109756"/>
              </a:lnSpc>
              <a:buNone/>
            </a:pPr>
            <a:r>
              <a:rPr lang="en-US" sz="2081" dirty="0">
                <a:solidFill>
                  <a:srgbClr val="17201F"/>
                </a:solidFill>
                <a:latin typeface="Arial" pitchFamily="34" charset="0"/>
                <a:ea typeface="Arial" pitchFamily="34" charset="-122"/>
                <a:cs typeface="Arial" pitchFamily="34" charset="-120"/>
              </a:rPr>
              <a:t>is never discounted. Joe's rule.</a:t>
            </a:r>
            <a:endParaRPr lang="en-US" sz="2081" dirty="0"/>
          </a:p>
        </p:txBody>
      </p:sp>
      <p:sp>
        <p:nvSpPr>
          <p:cNvPr id="25" name="Shape 23"/>
          <p:cNvSpPr/>
          <p:nvPr/>
        </p:nvSpPr>
        <p:spPr>
          <a:xfrm>
            <a:off x="12080874" y="4490379"/>
            <a:ext cx="4816475" cy="14684"/>
          </a:xfrm>
          <a:prstGeom prst="rect">
            <a:avLst/>
          </a:prstGeom>
          <a:solidFill>
            <a:srgbClr val="17201F">
              <a:alpha val="14000"/>
            </a:srgbClr>
          </a:solidFill>
          <a:ln/>
        </p:spPr>
      </p:sp>
      <p:sp>
        <p:nvSpPr>
          <p:cNvPr id="26" name="Text 24"/>
          <p:cNvSpPr/>
          <p:nvPr/>
        </p:nvSpPr>
        <p:spPr>
          <a:xfrm>
            <a:off x="12080874" y="4804601"/>
            <a:ext cx="5298123" cy="291405"/>
          </a:xfrm>
          <a:prstGeom prst="rect">
            <a:avLst/>
          </a:prstGeom>
          <a:noFill/>
          <a:ln/>
        </p:spPr>
        <p:txBody>
          <a:bodyPr wrap="square" lIns="25400" tIns="25400" rIns="25400" bIns="25400" rtlCol="0" anchor="t">
            <a:normAutofit/>
          </a:bodyPr>
          <a:lstStyle/>
          <a:p>
            <a:pPr algn="l" indent="0" marL="0">
              <a:buNone/>
            </a:pPr>
            <a:r>
              <a:rPr lang="en-US" sz="1526" spc="92" kern="0" dirty="0">
                <a:solidFill>
                  <a:srgbClr val="17201F">
                    <a:alpha val="50000"/>
                  </a:srgbClr>
                </a:solidFill>
                <a:latin typeface="Courier New" pitchFamily="34" charset="0"/>
                <a:ea typeface="Courier New" pitchFamily="34" charset="-122"/>
                <a:cs typeface="Courier New" pitchFamily="34" charset="-120"/>
              </a:rPr>
              <a:t>AVAILABLE REACH</a:t>
            </a:r>
            <a:endParaRPr lang="en-US" sz="1526" dirty="0"/>
          </a:p>
        </p:txBody>
      </p:sp>
      <p:sp>
        <p:nvSpPr>
          <p:cNvPr id="27" name="Text 25"/>
          <p:cNvSpPr/>
          <p:nvPr/>
        </p:nvSpPr>
        <p:spPr>
          <a:xfrm>
            <a:off x="12080874" y="5234062"/>
            <a:ext cx="1783561" cy="335918"/>
          </a:xfrm>
          <a:prstGeom prst="rect">
            <a:avLst/>
          </a:prstGeom>
          <a:noFill/>
          <a:ln/>
        </p:spPr>
        <p:txBody>
          <a:bodyPr wrap="square" lIns="25400" tIns="25400" rIns="25400" bIns="25400" rtlCol="0" anchor="t">
            <a:normAutofit/>
          </a:bodyPr>
          <a:lstStyle/>
          <a:p>
            <a:pPr algn="l" indent="0" marL="0">
              <a:lnSpc>
                <a:spcPct val="114254"/>
              </a:lnSpc>
              <a:buNone/>
            </a:pPr>
            <a:r>
              <a:rPr lang="en-US" sz="1804" dirty="0">
                <a:solidFill>
                  <a:srgbClr val="17201F"/>
                </a:solidFill>
                <a:latin typeface="Arial" pitchFamily="34" charset="0"/>
                <a:ea typeface="Arial" pitchFamily="34" charset="-122"/>
                <a:cs typeface="Arial" pitchFamily="34" charset="-120"/>
              </a:rPr>
              <a:t>Your customers</a:t>
            </a:r>
            <a:endParaRPr lang="en-US" sz="1804" dirty="0"/>
          </a:p>
        </p:txBody>
      </p:sp>
      <p:sp>
        <p:nvSpPr>
          <p:cNvPr id="28" name="Text 26"/>
          <p:cNvSpPr/>
          <p:nvPr/>
        </p:nvSpPr>
        <p:spPr>
          <a:xfrm>
            <a:off x="15609886" y="5234062"/>
            <a:ext cx="1416210" cy="335918"/>
          </a:xfrm>
          <a:prstGeom prst="rect">
            <a:avLst/>
          </a:prstGeom>
          <a:noFill/>
          <a:ln/>
        </p:spPr>
        <p:txBody>
          <a:bodyPr wrap="square" lIns="25400" tIns="25400" rIns="25400" bIns="25400" rtlCol="0" anchor="t">
            <a:normAutofit/>
          </a:bodyPr>
          <a:lstStyle/>
          <a:p>
            <a:pPr algn="l" indent="0" marL="0">
              <a:lnSpc>
                <a:spcPct val="114254"/>
              </a:lnSpc>
              <a:buNone/>
            </a:pPr>
            <a:r>
              <a:rPr lang="en-US" sz="1804" dirty="0">
                <a:solidFill>
                  <a:srgbClr val="0F6F5C"/>
                </a:solidFill>
                <a:latin typeface="Arial" pitchFamily="34" charset="0"/>
                <a:ea typeface="Arial" pitchFamily="34" charset="-122"/>
                <a:cs typeface="Arial" pitchFamily="34" charset="-120"/>
              </a:rPr>
              <a:t>104 said yes</a:t>
            </a:r>
            <a:endParaRPr lang="en-US" sz="1804" dirty="0"/>
          </a:p>
        </p:txBody>
      </p:sp>
      <p:sp>
        <p:nvSpPr>
          <p:cNvPr id="29" name="Text 27"/>
          <p:cNvSpPr/>
          <p:nvPr/>
        </p:nvSpPr>
        <p:spPr>
          <a:xfrm>
            <a:off x="12080874" y="5637595"/>
            <a:ext cx="1487258" cy="335918"/>
          </a:xfrm>
          <a:prstGeom prst="rect">
            <a:avLst/>
          </a:prstGeom>
          <a:noFill/>
          <a:ln/>
        </p:spPr>
        <p:txBody>
          <a:bodyPr wrap="square" lIns="25400" tIns="25400" rIns="25400" bIns="25400" rtlCol="0" anchor="t">
            <a:normAutofit/>
          </a:bodyPr>
          <a:lstStyle/>
          <a:p>
            <a:pPr algn="l" indent="0" marL="0">
              <a:lnSpc>
                <a:spcPct val="114254"/>
              </a:lnSpc>
              <a:buNone/>
            </a:pPr>
            <a:r>
              <a:rPr lang="en-US" sz="1804" dirty="0">
                <a:solidFill>
                  <a:srgbClr val="17201F"/>
                </a:solidFill>
                <a:latin typeface="Arial" pitchFamily="34" charset="0"/>
                <a:ea typeface="Arial" pitchFamily="34" charset="-122"/>
                <a:cs typeface="Arial" pitchFamily="34" charset="-120"/>
              </a:rPr>
              <a:t>Your location</a:t>
            </a:r>
            <a:endParaRPr lang="en-US" sz="1804" dirty="0"/>
          </a:p>
        </p:txBody>
      </p:sp>
      <p:sp>
        <p:nvSpPr>
          <p:cNvPr id="30" name="Text 28"/>
          <p:cNvSpPr/>
          <p:nvPr/>
        </p:nvSpPr>
        <p:spPr>
          <a:xfrm>
            <a:off x="15227805" y="5637595"/>
            <a:ext cx="1836499" cy="335918"/>
          </a:xfrm>
          <a:prstGeom prst="rect">
            <a:avLst/>
          </a:prstGeom>
          <a:noFill/>
          <a:ln/>
        </p:spPr>
        <p:txBody>
          <a:bodyPr wrap="square" lIns="25400" tIns="25400" rIns="25400" bIns="25400" rtlCol="0" anchor="t">
            <a:normAutofit/>
          </a:bodyPr>
          <a:lstStyle/>
          <a:p>
            <a:pPr algn="l" indent="0" marL="0">
              <a:lnSpc>
                <a:spcPct val="114254"/>
              </a:lnSpc>
              <a:buNone/>
            </a:pPr>
            <a:r>
              <a:rPr lang="en-US" sz="1804" dirty="0">
                <a:solidFill>
                  <a:srgbClr val="0F6F5C"/>
                </a:solidFill>
                <a:latin typeface="Arial" pitchFamily="34" charset="0"/>
                <a:ea typeface="Arial" pitchFamily="34" charset="-122"/>
                <a:cs typeface="Arial" pitchFamily="34" charset="-120"/>
              </a:rPr>
              <a:t>Pump &amp; counter</a:t>
            </a:r>
            <a:endParaRPr lang="en-US" sz="1804" dirty="0"/>
          </a:p>
        </p:txBody>
      </p:sp>
      <p:sp>
        <p:nvSpPr>
          <p:cNvPr id="31" name="Text 29"/>
          <p:cNvSpPr/>
          <p:nvPr/>
        </p:nvSpPr>
        <p:spPr>
          <a:xfrm>
            <a:off x="12080874" y="6041129"/>
            <a:ext cx="2357869" cy="335918"/>
          </a:xfrm>
          <a:prstGeom prst="rect">
            <a:avLst/>
          </a:prstGeom>
          <a:noFill/>
          <a:ln/>
        </p:spPr>
        <p:txBody>
          <a:bodyPr wrap="square" lIns="25400" tIns="25400" rIns="25400" bIns="25400" rtlCol="0" anchor="t">
            <a:normAutofit/>
          </a:bodyPr>
          <a:lstStyle/>
          <a:p>
            <a:pPr algn="l" indent="0" marL="0">
              <a:lnSpc>
                <a:spcPct val="114254"/>
              </a:lnSpc>
              <a:buNone/>
            </a:pPr>
            <a:r>
              <a:rPr lang="en-US" sz="1804" dirty="0">
                <a:solidFill>
                  <a:srgbClr val="17201F"/>
                </a:solidFill>
                <a:latin typeface="Arial" pitchFamily="34" charset="0"/>
                <a:ea typeface="Arial" pitchFamily="34" charset="-122"/>
                <a:cs typeface="Arial" pitchFamily="34" charset="-120"/>
              </a:rPr>
              <a:t>Nearby Uptick reach</a:t>
            </a:r>
            <a:endParaRPr lang="en-US" sz="1804" dirty="0"/>
          </a:p>
        </p:txBody>
      </p:sp>
      <p:sp>
        <p:nvSpPr>
          <p:cNvPr id="32" name="Text 30"/>
          <p:cNvSpPr/>
          <p:nvPr/>
        </p:nvSpPr>
        <p:spPr>
          <a:xfrm>
            <a:off x="14230306" y="6041129"/>
            <a:ext cx="2667044" cy="335918"/>
          </a:xfrm>
          <a:prstGeom prst="rect">
            <a:avLst/>
          </a:prstGeom>
          <a:noFill/>
          <a:ln/>
        </p:spPr>
        <p:txBody>
          <a:bodyPr wrap="square" lIns="25400" tIns="25400" rIns="25400" bIns="25400" rtlCol="0" anchor="t">
            <a:normAutofit/>
          </a:bodyPr>
          <a:lstStyle/>
          <a:p>
            <a:pPr algn="r" indent="0" marL="0">
              <a:lnSpc>
                <a:spcPct val="114254"/>
              </a:lnSpc>
              <a:buNone/>
            </a:pPr>
            <a:r>
              <a:rPr lang="en-US" sz="1804" dirty="0">
                <a:solidFill>
                  <a:srgbClr val="17201F">
                    <a:alpha val="60000"/>
                  </a:srgbClr>
                </a:solidFill>
                <a:latin typeface="Arial" pitchFamily="34" charset="0"/>
                <a:ea typeface="Arial" pitchFamily="34" charset="-122"/>
                <a:cs typeface="Arial" pitchFamily="34" charset="-120"/>
              </a:rPr>
              <a:t>2 screens on this block</a:t>
            </a:r>
            <a:endParaRPr lang="en-US" sz="1804" dirty="0"/>
          </a:p>
        </p:txBody>
      </p:sp>
      <p:sp>
        <p:nvSpPr>
          <p:cNvPr id="33" name="Text 31"/>
          <p:cNvSpPr/>
          <p:nvPr/>
        </p:nvSpPr>
        <p:spPr>
          <a:xfrm>
            <a:off x="685788" y="9765543"/>
            <a:ext cx="3042704"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alpha val="55000"/>
                  </a:srgbClr>
                </a:solidFill>
                <a:latin typeface="Courier New" pitchFamily="34" charset="0"/>
                <a:ea typeface="Courier New" pitchFamily="34" charset="-122"/>
                <a:cs typeface="Courier New" pitchFamily="34" charset="-120"/>
              </a:rPr>
              <a:t>SCENE 05 · 0:19–0:22</a:t>
            </a:r>
            <a:endParaRPr lang="en-US" sz="1650" dirty="0"/>
          </a:p>
        </p:txBody>
      </p:sp>
      <p:sp>
        <p:nvSpPr>
          <p:cNvPr id="34" name="Text 32"/>
          <p:cNvSpPr/>
          <p:nvPr/>
        </p:nvSpPr>
        <p:spPr>
          <a:xfrm>
            <a:off x="8729079" y="9765543"/>
            <a:ext cx="1044327"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solidFill>
                <a:latin typeface="Courier New" pitchFamily="34" charset="0"/>
                <a:ea typeface="Courier New" pitchFamily="34" charset="-122"/>
                <a:cs typeface="Courier New" pitchFamily="34" charset="-120"/>
              </a:rPr>
              <a:t>CONTEXT</a:t>
            </a:r>
            <a:endParaRPr lang="en-US" sz="1650" dirty="0"/>
          </a:p>
        </p:txBody>
      </p:sp>
      <p:sp>
        <p:nvSpPr>
          <p:cNvPr id="35" name="Text 33"/>
          <p:cNvSpPr/>
          <p:nvPr/>
        </p:nvSpPr>
        <p:spPr>
          <a:xfrm>
            <a:off x="14974403" y="9765543"/>
            <a:ext cx="2890589"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alpha val="55000"/>
                  </a:srgbClr>
                </a:solidFill>
                <a:latin typeface="Courier New" pitchFamily="34" charset="0"/>
                <a:ea typeface="Courier New" pitchFamily="34" charset="-122"/>
                <a:cs typeface="Courier New" pitchFamily="34" charset="-120"/>
              </a:rPr>
              <a:t>DIRECTION 1 · GREEN</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1013"/>
        </a:solidFill>
      </p:bgPr>
    </p:bg>
    <p:spTree>
      <p:nvGrpSpPr>
        <p:cNvPr id="1" name=""/>
        <p:cNvGrpSpPr/>
        <p:nvPr/>
      </p:nvGrpSpPr>
      <p:grpSpPr>
        <a:xfrm>
          <a:off x="0" y="0"/>
          <a:ext cx="0" cy="0"/>
          <a:chOff x="0" y="0"/>
          <a:chExt cx="0" cy="0"/>
        </a:xfrm>
      </p:grpSpPr>
      <p:sp>
        <p:nvSpPr>
          <p:cNvPr id="2" name="Shape 0"/>
          <p:cNvSpPr/>
          <p:nvPr/>
        </p:nvSpPr>
        <p:spPr>
          <a:xfrm>
            <a:off x="685800" y="0"/>
            <a:ext cx="16916401" cy="9515475"/>
          </a:xfrm>
          <a:prstGeom prst="rect">
            <a:avLst/>
          </a:prstGeom>
          <a:solidFill>
            <a:srgbClr val="F3F0E9"/>
          </a:solidFill>
          <a:ln/>
        </p:spPr>
      </p:sp>
      <p:sp>
        <p:nvSpPr>
          <p:cNvPr id="3" name="Text 1"/>
          <p:cNvSpPr/>
          <p:nvPr/>
        </p:nvSpPr>
        <p:spPr>
          <a:xfrm>
            <a:off x="1390650" y="528637"/>
            <a:ext cx="5373082"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17201F">
                    <a:alpha val="50000"/>
                  </a:srgbClr>
                </a:solidFill>
                <a:latin typeface="Courier New" pitchFamily="34" charset="0"/>
                <a:ea typeface="Courier New" pitchFamily="34" charset="-122"/>
                <a:cs typeface="Courier New" pitchFamily="34" charset="-120"/>
              </a:rPr>
              <a:t>JOE'S FUEL &amp; GO · 118 · GROWTH PLAN</a:t>
            </a:r>
            <a:endParaRPr lang="en-US" sz="1665" dirty="0"/>
          </a:p>
        </p:txBody>
      </p:sp>
      <p:sp>
        <p:nvSpPr>
          <p:cNvPr id="4" name="Text 2"/>
          <p:cNvSpPr/>
          <p:nvPr/>
        </p:nvSpPr>
        <p:spPr>
          <a:xfrm>
            <a:off x="13687438" y="528637"/>
            <a:ext cx="3530904"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0F6F5C"/>
                </a:solidFill>
                <a:latin typeface="Courier New" pitchFamily="34" charset="0"/>
                <a:ea typeface="Courier New" pitchFamily="34" charset="-122"/>
                <a:cs typeface="Courier New" pitchFamily="34" charset="-120"/>
              </a:rPr>
              <a:t>READY FOR YOUR APPROVAL</a:t>
            </a:r>
            <a:endParaRPr lang="en-US" sz="1665" dirty="0"/>
          </a:p>
        </p:txBody>
      </p:sp>
      <p:sp>
        <p:nvSpPr>
          <p:cNvPr id="5" name="Shape 3"/>
          <p:cNvSpPr/>
          <p:nvPr/>
        </p:nvSpPr>
        <p:spPr>
          <a:xfrm>
            <a:off x="2447925" y="1321594"/>
            <a:ext cx="13392150" cy="7312819"/>
          </a:xfrm>
          <a:prstGeom prst="rect">
            <a:avLst/>
          </a:prstGeom>
          <a:solidFill>
            <a:srgbClr val="FAF8F4"/>
          </a:solidFill>
          <a:ln/>
          <a:effectLst>
            <a:outerShdw sx="100000" sy="100000" kx="0" ky="0" algn="bl" rotWithShape="0" blurRad="1143000" dist="571500" dir="5400000">
              <a:srgbClr val="17201F">
                <a:alpha val="45000"/>
              </a:srgbClr>
            </a:outerShdw>
          </a:effectLst>
        </p:spPr>
      </p:sp>
      <p:sp>
        <p:nvSpPr>
          <p:cNvPr id="6" name="Text 4"/>
          <p:cNvSpPr/>
          <p:nvPr/>
        </p:nvSpPr>
        <p:spPr>
          <a:xfrm>
            <a:off x="3240881" y="1850231"/>
            <a:ext cx="12986861" cy="778170"/>
          </a:xfrm>
          <a:prstGeom prst="rect">
            <a:avLst/>
          </a:prstGeom>
          <a:noFill/>
          <a:ln/>
        </p:spPr>
        <p:txBody>
          <a:bodyPr wrap="square" lIns="25400" tIns="25400" rIns="25400" bIns="25400" rtlCol="0" anchor="t">
            <a:normAutofit/>
          </a:bodyPr>
          <a:lstStyle/>
          <a:p>
            <a:pPr algn="l" indent="0" marL="0">
              <a:lnSpc>
                <a:spcPct val="86524"/>
              </a:lnSpc>
              <a:buNone/>
            </a:pPr>
            <a:r>
              <a:rPr lang="en-US" sz="5828" spc="-204" kern="0" dirty="0">
                <a:solidFill>
                  <a:srgbClr val="17201F"/>
                </a:solidFill>
                <a:latin typeface="Arial" pitchFamily="34" charset="0"/>
                <a:ea typeface="Arial" pitchFamily="34" charset="-122"/>
                <a:cs typeface="Arial" pitchFamily="34" charset="-120"/>
              </a:rPr>
              <a:t>Morning Coffee Drop</a:t>
            </a:r>
            <a:endParaRPr lang="en-US" sz="5828" dirty="0"/>
          </a:p>
        </p:txBody>
      </p:sp>
      <p:sp>
        <p:nvSpPr>
          <p:cNvPr id="7" name="Shape 5"/>
          <p:cNvSpPr/>
          <p:nvPr/>
        </p:nvSpPr>
        <p:spPr>
          <a:xfrm>
            <a:off x="3240881" y="2907449"/>
            <a:ext cx="11806238" cy="17610"/>
          </a:xfrm>
          <a:prstGeom prst="rect">
            <a:avLst/>
          </a:prstGeom>
          <a:solidFill>
            <a:srgbClr val="17201F">
              <a:alpha val="14000"/>
            </a:srgbClr>
          </a:solidFill>
          <a:ln/>
        </p:spPr>
      </p:sp>
      <p:sp>
        <p:nvSpPr>
          <p:cNvPr id="8" name="Text 6"/>
          <p:cNvSpPr/>
          <p:nvPr/>
        </p:nvSpPr>
        <p:spPr>
          <a:xfrm>
            <a:off x="3240881" y="3083650"/>
            <a:ext cx="2190750" cy="679417"/>
          </a:xfrm>
          <a:prstGeom prst="rect">
            <a:avLst/>
          </a:prstGeom>
          <a:noFill/>
          <a:ln/>
        </p:spPr>
        <p:txBody>
          <a:bodyPr wrap="square" lIns="25400" tIns="25400" rIns="25400" bIns="25400" rtlCol="0" anchor="t">
            <a:normAutofit/>
          </a:bodyPr>
          <a:lstStyle/>
          <a:p>
            <a:pPr algn="l" indent="0" marL="0">
              <a:buNone/>
            </a:pPr>
            <a:r>
              <a:rPr lang="en-US" sz="1526" spc="92" kern="0" dirty="0">
                <a:solidFill>
                  <a:srgbClr val="17201F">
                    <a:alpha val="50000"/>
                  </a:srgbClr>
                </a:solidFill>
                <a:latin typeface="Courier New" pitchFamily="34" charset="0"/>
                <a:ea typeface="Courier New" pitchFamily="34" charset="-122"/>
                <a:cs typeface="Courier New" pitchFamily="34" charset="-120"/>
              </a:rPr>
              <a:t>GOAL</a:t>
            </a:r>
            <a:endParaRPr lang="en-US" sz="1526" dirty="0"/>
          </a:p>
        </p:txBody>
      </p:sp>
      <p:sp>
        <p:nvSpPr>
          <p:cNvPr id="9" name="Text 7"/>
          <p:cNvSpPr/>
          <p:nvPr/>
        </p:nvSpPr>
        <p:spPr>
          <a:xfrm>
            <a:off x="5707856" y="3083650"/>
            <a:ext cx="3357729" cy="679417"/>
          </a:xfrm>
          <a:prstGeom prst="rect">
            <a:avLst/>
          </a:prstGeom>
          <a:noFill/>
          <a:ln/>
        </p:spPr>
        <p:txBody>
          <a:bodyPr wrap="square" lIns="25400" tIns="25400" rIns="25400" bIns="25400" rtlCol="0" anchor="t">
            <a:normAutofit/>
          </a:bodyPr>
          <a:lstStyle/>
          <a:p>
            <a:pPr algn="l" indent="0" marL="0">
              <a:lnSpc>
                <a:spcPct val="113455"/>
              </a:lnSpc>
              <a:buNone/>
            </a:pPr>
            <a:r>
              <a:rPr lang="en-US" sz="1943" dirty="0">
                <a:solidFill>
                  <a:srgbClr val="17201F"/>
                </a:solidFill>
                <a:latin typeface="Arial" pitchFamily="34" charset="0"/>
                <a:ea typeface="Arial" pitchFamily="34" charset="-122"/>
                <a:cs typeface="Arial" pitchFamily="34" charset="-120"/>
              </a:rPr>
              <a:t>Bring in more Friday morning visits.</a:t>
            </a:r>
            <a:endParaRPr lang="en-US" sz="1943" dirty="0"/>
          </a:p>
        </p:txBody>
      </p:sp>
      <p:sp>
        <p:nvSpPr>
          <p:cNvPr id="10" name="Text 8"/>
          <p:cNvSpPr/>
          <p:nvPr/>
        </p:nvSpPr>
        <p:spPr>
          <a:xfrm>
            <a:off x="9320213" y="3083650"/>
            <a:ext cx="2190750" cy="679417"/>
          </a:xfrm>
          <a:prstGeom prst="rect">
            <a:avLst/>
          </a:prstGeom>
          <a:noFill/>
          <a:ln/>
        </p:spPr>
        <p:txBody>
          <a:bodyPr wrap="square" lIns="25400" tIns="25400" rIns="25400" bIns="25400" rtlCol="0" anchor="t">
            <a:normAutofit/>
          </a:bodyPr>
          <a:lstStyle/>
          <a:p>
            <a:pPr algn="l" indent="0" marL="0">
              <a:buNone/>
            </a:pPr>
            <a:r>
              <a:rPr lang="en-US" sz="1526" spc="92" kern="0" dirty="0">
                <a:solidFill>
                  <a:srgbClr val="17201F">
                    <a:alpha val="50000"/>
                  </a:srgbClr>
                </a:solidFill>
                <a:latin typeface="Courier New" pitchFamily="34" charset="0"/>
                <a:ea typeface="Courier New" pitchFamily="34" charset="-122"/>
                <a:cs typeface="Courier New" pitchFamily="34" charset="-120"/>
              </a:rPr>
              <a:t>WINDOW</a:t>
            </a:r>
            <a:endParaRPr lang="en-US" sz="1526" dirty="0"/>
          </a:p>
        </p:txBody>
      </p:sp>
      <p:sp>
        <p:nvSpPr>
          <p:cNvPr id="11" name="Text 9"/>
          <p:cNvSpPr/>
          <p:nvPr/>
        </p:nvSpPr>
        <p:spPr>
          <a:xfrm>
            <a:off x="11787188" y="3083650"/>
            <a:ext cx="3357730" cy="679417"/>
          </a:xfrm>
          <a:prstGeom prst="rect">
            <a:avLst/>
          </a:prstGeom>
          <a:noFill/>
          <a:ln/>
        </p:spPr>
        <p:txBody>
          <a:bodyPr wrap="square" lIns="25400" tIns="25400" rIns="25400" bIns="25400" rtlCol="0" anchor="t">
            <a:normAutofit/>
          </a:bodyPr>
          <a:lstStyle/>
          <a:p>
            <a:pPr algn="l" indent="0" marL="0">
              <a:lnSpc>
                <a:spcPct val="113455"/>
              </a:lnSpc>
              <a:buNone/>
            </a:pPr>
            <a:r>
              <a:rPr lang="en-US" sz="1943" dirty="0">
                <a:solidFill>
                  <a:srgbClr val="17201F"/>
                </a:solidFill>
                <a:latin typeface="Arial" pitchFamily="34" charset="0"/>
                <a:ea typeface="Arial" pitchFamily="34" charset="-122"/>
                <a:cs typeface="Arial" pitchFamily="34" charset="-120"/>
              </a:rPr>
              <a:t>Friday · 7–10 AM</a:t>
            </a:r>
            <a:endParaRPr lang="en-US" sz="1943" dirty="0"/>
          </a:p>
        </p:txBody>
      </p:sp>
      <p:sp>
        <p:nvSpPr>
          <p:cNvPr id="12" name="Shape 10"/>
          <p:cNvSpPr/>
          <p:nvPr/>
        </p:nvSpPr>
        <p:spPr>
          <a:xfrm>
            <a:off x="3240881" y="3883558"/>
            <a:ext cx="11806238" cy="17610"/>
          </a:xfrm>
          <a:prstGeom prst="rect">
            <a:avLst/>
          </a:prstGeom>
          <a:solidFill>
            <a:srgbClr val="17201F">
              <a:alpha val="14000"/>
            </a:srgbClr>
          </a:solidFill>
          <a:ln/>
        </p:spPr>
      </p:sp>
      <p:sp>
        <p:nvSpPr>
          <p:cNvPr id="13" name="Text 11"/>
          <p:cNvSpPr/>
          <p:nvPr/>
        </p:nvSpPr>
        <p:spPr>
          <a:xfrm>
            <a:off x="3240881" y="4059759"/>
            <a:ext cx="2190750" cy="679417"/>
          </a:xfrm>
          <a:prstGeom prst="rect">
            <a:avLst/>
          </a:prstGeom>
          <a:noFill/>
          <a:ln/>
        </p:spPr>
        <p:txBody>
          <a:bodyPr wrap="square" lIns="25400" tIns="25400" rIns="25400" bIns="25400" rtlCol="0" anchor="t">
            <a:normAutofit/>
          </a:bodyPr>
          <a:lstStyle/>
          <a:p>
            <a:pPr algn="l" indent="0" marL="0">
              <a:buNone/>
            </a:pPr>
            <a:r>
              <a:rPr lang="en-US" sz="1526" spc="92" kern="0" dirty="0">
                <a:solidFill>
                  <a:srgbClr val="17201F">
                    <a:alpha val="50000"/>
                  </a:srgbClr>
                </a:solidFill>
                <a:latin typeface="Courier New" pitchFamily="34" charset="0"/>
                <a:ea typeface="Courier New" pitchFamily="34" charset="-122"/>
                <a:cs typeface="Courier New" pitchFamily="34" charset="-120"/>
              </a:rPr>
              <a:t>OFFER</a:t>
            </a:r>
            <a:endParaRPr lang="en-US" sz="1526" dirty="0"/>
          </a:p>
        </p:txBody>
      </p:sp>
      <p:sp>
        <p:nvSpPr>
          <p:cNvPr id="14" name="Text 12"/>
          <p:cNvSpPr/>
          <p:nvPr/>
        </p:nvSpPr>
        <p:spPr>
          <a:xfrm>
            <a:off x="5707856" y="4059759"/>
            <a:ext cx="3357729" cy="679417"/>
          </a:xfrm>
          <a:prstGeom prst="rect">
            <a:avLst/>
          </a:prstGeom>
          <a:noFill/>
          <a:ln/>
        </p:spPr>
        <p:txBody>
          <a:bodyPr wrap="square" lIns="25400" tIns="25400" rIns="25400" bIns="25400" rtlCol="0" anchor="t">
            <a:normAutofit/>
          </a:bodyPr>
          <a:lstStyle/>
          <a:p>
            <a:pPr algn="l" indent="0" marL="0">
              <a:lnSpc>
                <a:spcPct val="113455"/>
              </a:lnSpc>
              <a:buNone/>
            </a:pPr>
            <a:r>
              <a:rPr lang="en-US" sz="1943" dirty="0">
                <a:solidFill>
                  <a:srgbClr val="17201F"/>
                </a:solidFill>
                <a:latin typeface="Arial" pitchFamily="34" charset="0"/>
                <a:ea typeface="Arial" pitchFamily="34" charset="-122"/>
                <a:cs typeface="Arial" pitchFamily="34" charset="-120"/>
              </a:rPr>
              <a:t>$25+ fill-up → free large coffee.</a:t>
            </a:r>
            <a:endParaRPr lang="en-US" sz="1943" dirty="0"/>
          </a:p>
        </p:txBody>
      </p:sp>
      <p:sp>
        <p:nvSpPr>
          <p:cNvPr id="15" name="Text 13"/>
          <p:cNvSpPr/>
          <p:nvPr/>
        </p:nvSpPr>
        <p:spPr>
          <a:xfrm>
            <a:off x="9320213" y="4059759"/>
            <a:ext cx="2190750" cy="679417"/>
          </a:xfrm>
          <a:prstGeom prst="rect">
            <a:avLst/>
          </a:prstGeom>
          <a:noFill/>
          <a:ln/>
        </p:spPr>
        <p:txBody>
          <a:bodyPr wrap="square" lIns="25400" tIns="25400" rIns="25400" bIns="25400" rtlCol="0" anchor="t">
            <a:normAutofit/>
          </a:bodyPr>
          <a:lstStyle/>
          <a:p>
            <a:pPr algn="l" indent="0" marL="0">
              <a:buNone/>
            </a:pPr>
            <a:r>
              <a:rPr lang="en-US" sz="1526" spc="92" kern="0" dirty="0">
                <a:solidFill>
                  <a:srgbClr val="17201F">
                    <a:alpha val="50000"/>
                  </a:srgbClr>
                </a:solidFill>
                <a:latin typeface="Courier New" pitchFamily="34" charset="0"/>
                <a:ea typeface="Courier New" pitchFamily="34" charset="-122"/>
                <a:cs typeface="Courier New" pitchFamily="34" charset="-120"/>
              </a:rPr>
              <a:t>LIMIT</a:t>
            </a:r>
            <a:endParaRPr lang="en-US" sz="1526" dirty="0"/>
          </a:p>
        </p:txBody>
      </p:sp>
      <p:sp>
        <p:nvSpPr>
          <p:cNvPr id="16" name="Text 14"/>
          <p:cNvSpPr/>
          <p:nvPr/>
        </p:nvSpPr>
        <p:spPr>
          <a:xfrm>
            <a:off x="11787188" y="4059759"/>
            <a:ext cx="3357730" cy="679417"/>
          </a:xfrm>
          <a:prstGeom prst="rect">
            <a:avLst/>
          </a:prstGeom>
          <a:noFill/>
          <a:ln/>
        </p:spPr>
        <p:txBody>
          <a:bodyPr wrap="square" lIns="25400" tIns="25400" rIns="25400" bIns="25400" rtlCol="0" anchor="t">
            <a:normAutofit/>
          </a:bodyPr>
          <a:lstStyle/>
          <a:p>
            <a:pPr algn="l" indent="0" marL="0">
              <a:lnSpc>
                <a:spcPct val="113455"/>
              </a:lnSpc>
              <a:buNone/>
            </a:pPr>
            <a:r>
              <a:rPr lang="en-US" sz="1943" dirty="0">
                <a:solidFill>
                  <a:srgbClr val="17201F"/>
                </a:solidFill>
                <a:latin typeface="Arial" pitchFamily="34" charset="0"/>
                <a:ea typeface="Arial" pitchFamily="34" charset="-122"/>
                <a:cs typeface="Arial" pitchFamily="34" charset="-120"/>
              </a:rPr>
              <a:t>First 30.</a:t>
            </a:r>
            <a:endParaRPr lang="en-US" sz="1943" dirty="0"/>
          </a:p>
        </p:txBody>
      </p:sp>
      <p:sp>
        <p:nvSpPr>
          <p:cNvPr id="17" name="Shape 15"/>
          <p:cNvSpPr/>
          <p:nvPr/>
        </p:nvSpPr>
        <p:spPr>
          <a:xfrm>
            <a:off x="3240881" y="4859668"/>
            <a:ext cx="11806238" cy="17609"/>
          </a:xfrm>
          <a:prstGeom prst="rect">
            <a:avLst/>
          </a:prstGeom>
          <a:solidFill>
            <a:srgbClr val="17201F">
              <a:alpha val="14000"/>
            </a:srgbClr>
          </a:solidFill>
          <a:ln/>
        </p:spPr>
      </p:sp>
      <p:sp>
        <p:nvSpPr>
          <p:cNvPr id="18" name="Text 16"/>
          <p:cNvSpPr/>
          <p:nvPr/>
        </p:nvSpPr>
        <p:spPr>
          <a:xfrm>
            <a:off x="3240881" y="5035869"/>
            <a:ext cx="2190750" cy="679417"/>
          </a:xfrm>
          <a:prstGeom prst="rect">
            <a:avLst/>
          </a:prstGeom>
          <a:noFill/>
          <a:ln/>
        </p:spPr>
        <p:txBody>
          <a:bodyPr wrap="square" lIns="25400" tIns="25400" rIns="25400" bIns="25400" rtlCol="0" anchor="t">
            <a:normAutofit/>
          </a:bodyPr>
          <a:lstStyle/>
          <a:p>
            <a:pPr algn="l" indent="0" marL="0">
              <a:buNone/>
            </a:pPr>
            <a:r>
              <a:rPr lang="en-US" sz="1526" spc="92" kern="0" dirty="0">
                <a:solidFill>
                  <a:srgbClr val="17201F">
                    <a:alpha val="50000"/>
                  </a:srgbClr>
                </a:solidFill>
                <a:latin typeface="Courier New" pitchFamily="34" charset="0"/>
                <a:ea typeface="Courier New" pitchFamily="34" charset="-122"/>
                <a:cs typeface="Courier New" pitchFamily="34" charset="-120"/>
              </a:rPr>
              <a:t>AUDIENCE</a:t>
            </a:r>
            <a:endParaRPr lang="en-US" sz="1526" dirty="0"/>
          </a:p>
        </p:txBody>
      </p:sp>
      <p:sp>
        <p:nvSpPr>
          <p:cNvPr id="19" name="Text 17"/>
          <p:cNvSpPr/>
          <p:nvPr/>
        </p:nvSpPr>
        <p:spPr>
          <a:xfrm>
            <a:off x="5707856" y="5035869"/>
            <a:ext cx="3357729" cy="679417"/>
          </a:xfrm>
          <a:prstGeom prst="rect">
            <a:avLst/>
          </a:prstGeom>
          <a:noFill/>
          <a:ln/>
        </p:spPr>
        <p:txBody>
          <a:bodyPr wrap="square" lIns="25400" tIns="25400" rIns="25400" bIns="25400" rtlCol="0" anchor="t">
            <a:normAutofit/>
          </a:bodyPr>
          <a:lstStyle/>
          <a:p>
            <a:pPr algn="l" indent="0" marL="0">
              <a:lnSpc>
                <a:spcPct val="113455"/>
              </a:lnSpc>
              <a:buNone/>
            </a:pPr>
            <a:r>
              <a:rPr lang="en-US" sz="1943" dirty="0">
                <a:solidFill>
                  <a:srgbClr val="17201F"/>
                </a:solidFill>
                <a:latin typeface="Arial" pitchFamily="34" charset="0"/>
                <a:ea typeface="Arial" pitchFamily="34" charset="-122"/>
                <a:cs typeface="Arial" pitchFamily="34" charset="-120"/>
              </a:rPr>
              <a:t>63 morning responders. 41 worth bringing back.</a:t>
            </a:r>
            <a:endParaRPr lang="en-US" sz="1943" dirty="0"/>
          </a:p>
        </p:txBody>
      </p:sp>
      <p:sp>
        <p:nvSpPr>
          <p:cNvPr id="20" name="Text 18"/>
          <p:cNvSpPr/>
          <p:nvPr/>
        </p:nvSpPr>
        <p:spPr>
          <a:xfrm>
            <a:off x="9320213" y="5035869"/>
            <a:ext cx="2190750" cy="679417"/>
          </a:xfrm>
          <a:prstGeom prst="rect">
            <a:avLst/>
          </a:prstGeom>
          <a:noFill/>
          <a:ln/>
        </p:spPr>
        <p:txBody>
          <a:bodyPr wrap="square" lIns="25400" tIns="25400" rIns="25400" bIns="25400" rtlCol="0" anchor="t">
            <a:normAutofit/>
          </a:bodyPr>
          <a:lstStyle/>
          <a:p>
            <a:pPr algn="l" indent="0" marL="0">
              <a:buNone/>
            </a:pPr>
            <a:r>
              <a:rPr lang="en-US" sz="1526" spc="92" kern="0" dirty="0">
                <a:solidFill>
                  <a:srgbClr val="17201F">
                    <a:alpha val="50000"/>
                  </a:srgbClr>
                </a:solidFill>
                <a:latin typeface="Courier New" pitchFamily="34" charset="0"/>
                <a:ea typeface="Courier New" pitchFamily="34" charset="-122"/>
                <a:cs typeface="Courier New" pitchFamily="34" charset="-120"/>
              </a:rPr>
              <a:t>MAX REWARD COST</a:t>
            </a:r>
            <a:endParaRPr lang="en-US" sz="1526" dirty="0"/>
          </a:p>
        </p:txBody>
      </p:sp>
      <p:sp>
        <p:nvSpPr>
          <p:cNvPr id="21" name="Text 19"/>
          <p:cNvSpPr/>
          <p:nvPr/>
        </p:nvSpPr>
        <p:spPr>
          <a:xfrm>
            <a:off x="11787188" y="5035869"/>
            <a:ext cx="3357730" cy="679417"/>
          </a:xfrm>
          <a:prstGeom prst="rect">
            <a:avLst/>
          </a:prstGeom>
          <a:noFill/>
          <a:ln/>
        </p:spPr>
        <p:txBody>
          <a:bodyPr wrap="square" lIns="25400" tIns="25400" rIns="25400" bIns="25400" rtlCol="0" anchor="t">
            <a:normAutofit/>
          </a:bodyPr>
          <a:lstStyle/>
          <a:p>
            <a:pPr algn="l" indent="0" marL="0">
              <a:lnSpc>
                <a:spcPct val="113455"/>
              </a:lnSpc>
              <a:buNone/>
            </a:pPr>
            <a:r>
              <a:rPr lang="en-US" sz="1943" dirty="0">
                <a:solidFill>
                  <a:srgbClr val="17201F"/>
                </a:solidFill>
                <a:latin typeface="Arial" pitchFamily="34" charset="0"/>
                <a:ea typeface="Arial" pitchFamily="34" charset="-122"/>
                <a:cs typeface="Arial" pitchFamily="34" charset="-120"/>
              </a:rPr>
              <a:t>$18.60 </a:t>
            </a:r>
            <a:pPr algn="l" indent="0" marL="0">
              <a:lnSpc>
                <a:spcPct val="113455"/>
              </a:lnSpc>
              <a:buNone/>
            </a:pPr>
            <a:r>
              <a:rPr lang="en-US" sz="1943" dirty="0">
                <a:solidFill>
                  <a:srgbClr val="17201F">
                    <a:alpha val="50000"/>
                  </a:srgbClr>
                </a:solidFill>
                <a:latin typeface="Arial" pitchFamily="34" charset="0"/>
                <a:ea typeface="Arial" pitchFamily="34" charset="-122"/>
                <a:cs typeface="Arial" pitchFamily="34" charset="-120"/>
              </a:rPr>
              <a:t>30 × $0.62</a:t>
            </a:r>
            <a:endParaRPr lang="en-US" sz="1943" dirty="0"/>
          </a:p>
        </p:txBody>
      </p:sp>
      <p:sp>
        <p:nvSpPr>
          <p:cNvPr id="22" name="Shape 20"/>
          <p:cNvSpPr/>
          <p:nvPr/>
        </p:nvSpPr>
        <p:spPr>
          <a:xfrm>
            <a:off x="3240881" y="5835777"/>
            <a:ext cx="11806238" cy="17610"/>
          </a:xfrm>
          <a:prstGeom prst="rect">
            <a:avLst/>
          </a:prstGeom>
          <a:solidFill>
            <a:srgbClr val="17201F">
              <a:alpha val="14000"/>
            </a:srgbClr>
          </a:solidFill>
          <a:ln/>
        </p:spPr>
      </p:sp>
      <p:sp>
        <p:nvSpPr>
          <p:cNvPr id="23" name="Text 21"/>
          <p:cNvSpPr/>
          <p:nvPr/>
        </p:nvSpPr>
        <p:spPr>
          <a:xfrm>
            <a:off x="3240881" y="6011978"/>
            <a:ext cx="2190750" cy="679417"/>
          </a:xfrm>
          <a:prstGeom prst="rect">
            <a:avLst/>
          </a:prstGeom>
          <a:noFill/>
          <a:ln/>
        </p:spPr>
        <p:txBody>
          <a:bodyPr wrap="square" lIns="25400" tIns="25400" rIns="25400" bIns="25400" rtlCol="0" anchor="t">
            <a:normAutofit/>
          </a:bodyPr>
          <a:lstStyle/>
          <a:p>
            <a:pPr algn="l" indent="0" marL="0">
              <a:buNone/>
            </a:pPr>
            <a:r>
              <a:rPr lang="en-US" sz="1526" spc="92" kern="0" dirty="0">
                <a:solidFill>
                  <a:srgbClr val="17201F">
                    <a:alpha val="50000"/>
                  </a:srgbClr>
                </a:solidFill>
                <a:latin typeface="Courier New" pitchFamily="34" charset="0"/>
                <a:ea typeface="Courier New" pitchFamily="34" charset="-122"/>
                <a:cs typeface="Courier New" pitchFamily="34" charset="-120"/>
              </a:rPr>
              <a:t>REACH</a:t>
            </a:r>
            <a:endParaRPr lang="en-US" sz="1526" dirty="0"/>
          </a:p>
        </p:txBody>
      </p:sp>
      <p:sp>
        <p:nvSpPr>
          <p:cNvPr id="24" name="Text 22"/>
          <p:cNvSpPr/>
          <p:nvPr/>
        </p:nvSpPr>
        <p:spPr>
          <a:xfrm>
            <a:off x="5707856" y="6011932"/>
            <a:ext cx="2240367" cy="679509"/>
          </a:xfrm>
          <a:prstGeom prst="rect">
            <a:avLst/>
          </a:prstGeom>
          <a:noFill/>
          <a:ln/>
        </p:spPr>
        <p:txBody>
          <a:bodyPr wrap="square" lIns="25400" tIns="25400" rIns="25400" bIns="25400" rtlCol="0" anchor="t">
            <a:normAutofit/>
          </a:bodyPr>
          <a:lstStyle/>
          <a:p>
            <a:pPr algn="l" indent="0" marL="0">
              <a:lnSpc>
                <a:spcPct val="113455"/>
              </a:lnSpc>
              <a:buNone/>
            </a:pPr>
            <a:r>
              <a:rPr lang="en-US" sz="1943" dirty="0">
                <a:solidFill>
                  <a:srgbClr val="17201F"/>
                </a:solidFill>
                <a:latin typeface="Arial" pitchFamily="34" charset="0"/>
                <a:ea typeface="Arial" pitchFamily="34" charset="-122"/>
                <a:cs typeface="Arial" pitchFamily="34" charset="-120"/>
              </a:rPr>
              <a:t>Your customers · </a:t>
            </a:r>
            <a:pPr algn="l" indent="0" marL="0">
              <a:lnSpc>
                <a:spcPct val="113455"/>
              </a:lnSpc>
              <a:buNone/>
            </a:pPr>
            <a:r>
              <a:rPr lang="en-US" sz="1943" dirty="0">
                <a:solidFill>
                  <a:srgbClr val="17201F">
                    <a:alpha val="50000"/>
                  </a:srgbClr>
                </a:solidFill>
                <a:latin typeface="Arial" pitchFamily="34" charset="0"/>
                <a:ea typeface="Arial" pitchFamily="34" charset="-122"/>
                <a:cs typeface="Arial" pitchFamily="34" charset="-120"/>
              </a:rPr>
              <a:t>text</a:t>
            </a:r>
            <a:endParaRPr lang="en-US" sz="1943" dirty="0"/>
          </a:p>
        </p:txBody>
      </p:sp>
      <p:sp>
        <p:nvSpPr>
          <p:cNvPr id="25" name="Text 23"/>
          <p:cNvSpPr/>
          <p:nvPr/>
        </p:nvSpPr>
        <p:spPr>
          <a:xfrm>
            <a:off x="8259668" y="6011932"/>
            <a:ext cx="3220719" cy="679509"/>
          </a:xfrm>
          <a:prstGeom prst="rect">
            <a:avLst/>
          </a:prstGeom>
          <a:noFill/>
          <a:ln/>
        </p:spPr>
        <p:txBody>
          <a:bodyPr wrap="square" lIns="25400" tIns="25400" rIns="25400" bIns="25400" rtlCol="0" anchor="t">
            <a:normAutofit/>
          </a:bodyPr>
          <a:lstStyle/>
          <a:p>
            <a:pPr algn="l" indent="0" marL="0">
              <a:lnSpc>
                <a:spcPct val="113455"/>
              </a:lnSpc>
              <a:buNone/>
            </a:pPr>
            <a:r>
              <a:rPr lang="en-US" sz="1943" dirty="0">
                <a:solidFill>
                  <a:srgbClr val="17201F"/>
                </a:solidFill>
                <a:latin typeface="Arial" pitchFamily="34" charset="0"/>
                <a:ea typeface="Arial" pitchFamily="34" charset="-122"/>
                <a:cs typeface="Arial" pitchFamily="34" charset="-120"/>
              </a:rPr>
              <a:t>Your location · </a:t>
            </a:r>
            <a:pPr algn="l" indent="0" marL="0">
              <a:lnSpc>
                <a:spcPct val="113455"/>
              </a:lnSpc>
              <a:buNone/>
            </a:pPr>
            <a:r>
              <a:rPr lang="en-US" sz="1943" dirty="0">
                <a:solidFill>
                  <a:srgbClr val="17201F">
                    <a:alpha val="50000"/>
                  </a:srgbClr>
                </a:solidFill>
                <a:latin typeface="Arial" pitchFamily="34" charset="0"/>
                <a:ea typeface="Arial" pitchFamily="34" charset="-122"/>
                <a:cs typeface="Arial" pitchFamily="34" charset="-120"/>
              </a:rPr>
              <a:t>pump &amp; counter</a:t>
            </a:r>
            <a:endParaRPr lang="en-US" sz="1943" dirty="0"/>
          </a:p>
        </p:txBody>
      </p:sp>
      <p:sp>
        <p:nvSpPr>
          <p:cNvPr id="26" name="Text 24"/>
          <p:cNvSpPr/>
          <p:nvPr/>
        </p:nvSpPr>
        <p:spPr>
          <a:xfrm>
            <a:off x="11774224" y="6011932"/>
            <a:ext cx="3371082" cy="679509"/>
          </a:xfrm>
          <a:prstGeom prst="rect">
            <a:avLst/>
          </a:prstGeom>
          <a:noFill/>
          <a:ln/>
        </p:spPr>
        <p:txBody>
          <a:bodyPr wrap="square" lIns="25400" tIns="25400" rIns="25400" bIns="25400" rtlCol="0" anchor="t">
            <a:normAutofit/>
          </a:bodyPr>
          <a:lstStyle/>
          <a:p>
            <a:pPr algn="l" indent="0" marL="0">
              <a:lnSpc>
                <a:spcPct val="113455"/>
              </a:lnSpc>
              <a:buNone/>
            </a:pPr>
            <a:r>
              <a:rPr lang="en-US" sz="1943" dirty="0">
                <a:solidFill>
                  <a:srgbClr val="17201F"/>
                </a:solidFill>
                <a:latin typeface="Arial" pitchFamily="34" charset="0"/>
                <a:ea typeface="Arial" pitchFamily="34" charset="-122"/>
                <a:cs typeface="Arial" pitchFamily="34" charset="-120"/>
              </a:rPr>
              <a:t>Nearby Uptick reach · 2 screens</a:t>
            </a:r>
            <a:endParaRPr lang="en-US" sz="1943" dirty="0"/>
          </a:p>
        </p:txBody>
      </p:sp>
      <p:sp>
        <p:nvSpPr>
          <p:cNvPr id="27" name="Shape 25"/>
          <p:cNvSpPr/>
          <p:nvPr/>
        </p:nvSpPr>
        <p:spPr>
          <a:xfrm>
            <a:off x="3240881" y="6811887"/>
            <a:ext cx="11806238" cy="17610"/>
          </a:xfrm>
          <a:prstGeom prst="rect">
            <a:avLst/>
          </a:prstGeom>
          <a:solidFill>
            <a:srgbClr val="17201F">
              <a:alpha val="14000"/>
            </a:srgbClr>
          </a:solidFill>
          <a:ln/>
        </p:spPr>
      </p:sp>
      <p:sp>
        <p:nvSpPr>
          <p:cNvPr id="28" name="Text 26"/>
          <p:cNvSpPr/>
          <p:nvPr/>
        </p:nvSpPr>
        <p:spPr>
          <a:xfrm>
            <a:off x="3240881" y="6988088"/>
            <a:ext cx="2190750" cy="358713"/>
          </a:xfrm>
          <a:prstGeom prst="rect">
            <a:avLst/>
          </a:prstGeom>
          <a:noFill/>
          <a:ln/>
        </p:spPr>
        <p:txBody>
          <a:bodyPr wrap="square" lIns="25400" tIns="25400" rIns="25400" bIns="25400" rtlCol="0" anchor="t">
            <a:normAutofit/>
          </a:bodyPr>
          <a:lstStyle/>
          <a:p>
            <a:pPr algn="l" indent="0" marL="0">
              <a:buNone/>
            </a:pPr>
            <a:r>
              <a:rPr lang="en-US" sz="1526" spc="92" kern="0" dirty="0">
                <a:solidFill>
                  <a:srgbClr val="17201F">
                    <a:alpha val="50000"/>
                  </a:srgbClr>
                </a:solidFill>
                <a:latin typeface="Courier New" pitchFamily="34" charset="0"/>
                <a:ea typeface="Courier New" pitchFamily="34" charset="-122"/>
                <a:cs typeface="Courier New" pitchFamily="34" charset="-120"/>
              </a:rPr>
              <a:t>WHY</a:t>
            </a:r>
            <a:endParaRPr lang="en-US" sz="1526" dirty="0"/>
          </a:p>
        </p:txBody>
      </p:sp>
      <p:sp>
        <p:nvSpPr>
          <p:cNvPr id="29" name="Text 27"/>
          <p:cNvSpPr/>
          <p:nvPr/>
        </p:nvSpPr>
        <p:spPr>
          <a:xfrm>
            <a:off x="5707856" y="6988088"/>
            <a:ext cx="9619441" cy="358713"/>
          </a:xfrm>
          <a:prstGeom prst="rect">
            <a:avLst/>
          </a:prstGeom>
          <a:noFill/>
          <a:ln/>
        </p:spPr>
        <p:txBody>
          <a:bodyPr wrap="square" lIns="25400" tIns="25400" rIns="25400" bIns="25400" rtlCol="0" anchor="t">
            <a:normAutofit/>
          </a:bodyPr>
          <a:lstStyle/>
          <a:p>
            <a:pPr algn="l" indent="0" marL="0">
              <a:lnSpc>
                <a:spcPct val="113455"/>
              </a:lnSpc>
              <a:buNone/>
            </a:pPr>
            <a:r>
              <a:rPr lang="en-US" sz="1943" dirty="0">
                <a:solidFill>
                  <a:srgbClr val="17201F">
                    <a:alpha val="70000"/>
                  </a:srgbClr>
                </a:solidFill>
                <a:latin typeface="Arial" pitchFamily="34" charset="0"/>
                <a:ea typeface="Arial" pitchFamily="34" charset="-122"/>
                <a:cs typeface="Arial" pitchFamily="34" charset="-120"/>
              </a:rPr>
              <a:t>High perceived value. Low merchant cost. Fuel price untouched.</a:t>
            </a:r>
            <a:endParaRPr lang="en-US" sz="1943" dirty="0"/>
          </a:p>
        </p:txBody>
      </p:sp>
      <p:sp>
        <p:nvSpPr>
          <p:cNvPr id="30" name="Shape 28"/>
          <p:cNvSpPr/>
          <p:nvPr/>
        </p:nvSpPr>
        <p:spPr>
          <a:xfrm>
            <a:off x="3240881" y="7467292"/>
            <a:ext cx="11806238" cy="17609"/>
          </a:xfrm>
          <a:prstGeom prst="rect">
            <a:avLst/>
          </a:prstGeom>
          <a:solidFill>
            <a:srgbClr val="17201F">
              <a:alpha val="14000"/>
            </a:srgbClr>
          </a:solidFill>
          <a:ln/>
        </p:spPr>
      </p:sp>
      <p:sp>
        <p:nvSpPr>
          <p:cNvPr id="31" name="Shape 29"/>
          <p:cNvSpPr/>
          <p:nvPr/>
        </p:nvSpPr>
        <p:spPr>
          <a:xfrm>
            <a:off x="3240881" y="7749220"/>
            <a:ext cx="2692575" cy="860412"/>
          </a:xfrm>
          <a:prstGeom prst="rect">
            <a:avLst/>
          </a:prstGeom>
          <a:solidFill>
            <a:srgbClr val="17201F"/>
          </a:solidFill>
          <a:ln/>
        </p:spPr>
      </p:sp>
      <p:sp>
        <p:nvSpPr>
          <p:cNvPr id="32" name="Text 30"/>
          <p:cNvSpPr/>
          <p:nvPr/>
        </p:nvSpPr>
        <p:spPr>
          <a:xfrm>
            <a:off x="3734276" y="7995918"/>
            <a:ext cx="1786562" cy="405117"/>
          </a:xfrm>
          <a:prstGeom prst="rect">
            <a:avLst/>
          </a:prstGeom>
          <a:noFill/>
          <a:ln/>
        </p:spPr>
        <p:txBody>
          <a:bodyPr wrap="square" lIns="25400" tIns="25400" rIns="25400" bIns="25400" rtlCol="0" anchor="t">
            <a:normAutofit/>
          </a:bodyPr>
          <a:lstStyle/>
          <a:p>
            <a:pPr algn="l" indent="0" marL="0">
              <a:buNone/>
            </a:pPr>
            <a:r>
              <a:rPr lang="en-US" sz="2220" spc="-22" kern="0" dirty="0">
                <a:solidFill>
                  <a:srgbClr val="F1EDE5"/>
                </a:solidFill>
                <a:latin typeface="Arial" pitchFamily="34" charset="0"/>
                <a:ea typeface="Arial" pitchFamily="34" charset="-122"/>
                <a:cs typeface="Arial" pitchFamily="34" charset="-120"/>
              </a:rPr>
              <a:t>Approve plan</a:t>
            </a:r>
            <a:endParaRPr lang="en-US" sz="2220" dirty="0"/>
          </a:p>
        </p:txBody>
      </p:sp>
      <p:sp>
        <p:nvSpPr>
          <p:cNvPr id="33" name="Text 31"/>
          <p:cNvSpPr/>
          <p:nvPr/>
        </p:nvSpPr>
        <p:spPr>
          <a:xfrm>
            <a:off x="6285881" y="8017898"/>
            <a:ext cx="2339193" cy="361157"/>
          </a:xfrm>
          <a:prstGeom prst="rect">
            <a:avLst/>
          </a:prstGeom>
          <a:noFill/>
          <a:ln/>
        </p:spPr>
        <p:txBody>
          <a:bodyPr wrap="square" lIns="25400" tIns="25400" rIns="25400" bIns="25400" rtlCol="0" anchor="t">
            <a:normAutofit/>
          </a:bodyPr>
          <a:lstStyle/>
          <a:p>
            <a:pPr algn="l" indent="0" marL="0">
              <a:buNone/>
            </a:pPr>
            <a:r>
              <a:rPr lang="en-US" sz="1943" u="sng" dirty="0">
                <a:solidFill>
                  <a:srgbClr val="17201F">
                    <a:alpha val="60000"/>
                  </a:srgbClr>
                </a:solidFill>
                <a:latin typeface="Arial" pitchFamily="34" charset="0"/>
                <a:ea typeface="Arial" pitchFamily="34" charset="-122"/>
                <a:cs typeface="Arial" pitchFamily="34" charset="-120"/>
              </a:rPr>
              <a:t>Change something</a:t>
            </a:r>
            <a:endParaRPr lang="en-US" sz="1943" dirty="0"/>
          </a:p>
        </p:txBody>
      </p:sp>
      <p:sp>
        <p:nvSpPr>
          <p:cNvPr id="34" name="Text 32"/>
          <p:cNvSpPr/>
          <p:nvPr/>
        </p:nvSpPr>
        <p:spPr>
          <a:xfrm>
            <a:off x="12744369" y="8052774"/>
            <a:ext cx="2533026" cy="291406"/>
          </a:xfrm>
          <a:prstGeom prst="rect">
            <a:avLst/>
          </a:prstGeom>
          <a:noFill/>
          <a:ln/>
        </p:spPr>
        <p:txBody>
          <a:bodyPr wrap="square" lIns="25400" tIns="25400" rIns="25400" bIns="25400" rtlCol="0" anchor="t">
            <a:normAutofit/>
          </a:bodyPr>
          <a:lstStyle/>
          <a:p>
            <a:pPr algn="l" indent="0" marL="0">
              <a:buNone/>
            </a:pPr>
            <a:r>
              <a:rPr lang="en-US" sz="1526" spc="92" kern="0" dirty="0">
                <a:solidFill>
                  <a:srgbClr val="17201F">
                    <a:alpha val="50000"/>
                  </a:srgbClr>
                </a:solidFill>
                <a:latin typeface="Courier New" pitchFamily="34" charset="0"/>
                <a:ea typeface="Courier New" pitchFamily="34" charset="-122"/>
                <a:cs typeface="Courier New" pitchFamily="34" charset="-120"/>
              </a:rPr>
              <a:t>THURSDAY · 6:46 PM</a:t>
            </a:r>
            <a:endParaRPr lang="en-US" sz="1526" dirty="0"/>
          </a:p>
        </p:txBody>
      </p:sp>
      <p:sp>
        <p:nvSpPr>
          <p:cNvPr id="35" name="Text 33"/>
          <p:cNvSpPr/>
          <p:nvPr/>
        </p:nvSpPr>
        <p:spPr>
          <a:xfrm>
            <a:off x="685788" y="9765543"/>
            <a:ext cx="3042704"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alpha val="55000"/>
                  </a:srgbClr>
                </a:solidFill>
                <a:latin typeface="Courier New" pitchFamily="34" charset="0"/>
                <a:ea typeface="Courier New" pitchFamily="34" charset="-122"/>
                <a:cs typeface="Courier New" pitchFamily="34" charset="-120"/>
              </a:rPr>
              <a:t>SCENE 06 · 0:22–0:28</a:t>
            </a:r>
            <a:endParaRPr lang="en-US" sz="1650" dirty="0"/>
          </a:p>
        </p:txBody>
      </p:sp>
      <p:sp>
        <p:nvSpPr>
          <p:cNvPr id="36" name="Text 34"/>
          <p:cNvSpPr/>
          <p:nvPr/>
        </p:nvSpPr>
        <p:spPr>
          <a:xfrm>
            <a:off x="8175873" y="9765543"/>
            <a:ext cx="2282062"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solidFill>
                <a:latin typeface="Courier New" pitchFamily="34" charset="0"/>
                <a:ea typeface="Courier New" pitchFamily="34" charset="-122"/>
                <a:cs typeface="Courier New" pitchFamily="34" charset="-120"/>
              </a:rPr>
              <a:t>THE GROWTH PLAN</a:t>
            </a:r>
            <a:endParaRPr lang="en-US" sz="1650" dirty="0"/>
          </a:p>
        </p:txBody>
      </p:sp>
      <p:sp>
        <p:nvSpPr>
          <p:cNvPr id="37" name="Text 35"/>
          <p:cNvSpPr/>
          <p:nvPr/>
        </p:nvSpPr>
        <p:spPr>
          <a:xfrm>
            <a:off x="14974403" y="9765543"/>
            <a:ext cx="2890589"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alpha val="55000"/>
                  </a:srgbClr>
                </a:solidFill>
                <a:latin typeface="Courier New" pitchFamily="34" charset="0"/>
                <a:ea typeface="Courier New" pitchFamily="34" charset="-122"/>
                <a:cs typeface="Courier New" pitchFamily="34" charset="-120"/>
              </a:rPr>
              <a:t>DIRECTION 1 · GREEN</a:t>
            </a:r>
            <a:endParaRPr lang="en-US" sz="1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1013"/>
        </a:solidFill>
      </p:bgPr>
    </p:bg>
    <p:spTree>
      <p:nvGrpSpPr>
        <p:cNvPr id="1" name=""/>
        <p:cNvGrpSpPr/>
        <p:nvPr/>
      </p:nvGrpSpPr>
      <p:grpSpPr>
        <a:xfrm>
          <a:off x="0" y="0"/>
          <a:ext cx="0" cy="0"/>
          <a:chOff x="0" y="0"/>
          <a:chExt cx="0" cy="0"/>
        </a:xfrm>
      </p:grpSpPr>
      <p:sp>
        <p:nvSpPr>
          <p:cNvPr id="2" name="Shape 0"/>
          <p:cNvSpPr/>
          <p:nvPr/>
        </p:nvSpPr>
        <p:spPr>
          <a:xfrm>
            <a:off x="685800" y="0"/>
            <a:ext cx="16916401" cy="9515475"/>
          </a:xfrm>
          <a:prstGeom prst="rect">
            <a:avLst/>
          </a:prstGeom>
          <a:solidFill>
            <a:srgbClr val="F3F0E9"/>
          </a:solidFill>
          <a:ln/>
        </p:spPr>
      </p:sp>
      <p:sp>
        <p:nvSpPr>
          <p:cNvPr id="3" name="Text 1"/>
          <p:cNvSpPr/>
          <p:nvPr/>
        </p:nvSpPr>
        <p:spPr>
          <a:xfrm>
            <a:off x="1390650" y="528637"/>
            <a:ext cx="5373082"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17201F">
                    <a:alpha val="50000"/>
                  </a:srgbClr>
                </a:solidFill>
                <a:latin typeface="Courier New" pitchFamily="34" charset="0"/>
                <a:ea typeface="Courier New" pitchFamily="34" charset="-122"/>
                <a:cs typeface="Courier New" pitchFamily="34" charset="-120"/>
              </a:rPr>
              <a:t>JOE'S FUEL &amp; GO · 118 · GROWTH PLAN</a:t>
            </a:r>
            <a:endParaRPr lang="en-US" sz="1665" dirty="0"/>
          </a:p>
        </p:txBody>
      </p:sp>
      <p:sp>
        <p:nvSpPr>
          <p:cNvPr id="4" name="Text 2"/>
          <p:cNvSpPr/>
          <p:nvPr/>
        </p:nvSpPr>
        <p:spPr>
          <a:xfrm>
            <a:off x="12850083" y="528637"/>
            <a:ext cx="4451993"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0F6F5C"/>
                </a:solidFill>
                <a:latin typeface="Courier New" pitchFamily="34" charset="0"/>
                <a:ea typeface="Courier New" pitchFamily="34" charset="-122"/>
                <a:cs typeface="Courier New" pitchFamily="34" charset="-120"/>
              </a:rPr>
              <a:t>APPROVED · THURSDAY · 6:47 PM</a:t>
            </a:r>
            <a:endParaRPr lang="en-US" sz="1665" dirty="0"/>
          </a:p>
        </p:txBody>
      </p:sp>
      <p:sp>
        <p:nvSpPr>
          <p:cNvPr id="5" name="Shape 3"/>
          <p:cNvSpPr/>
          <p:nvPr/>
        </p:nvSpPr>
        <p:spPr>
          <a:xfrm>
            <a:off x="2095500" y="3453753"/>
            <a:ext cx="14097000" cy="17610"/>
          </a:xfrm>
          <a:prstGeom prst="rect">
            <a:avLst/>
          </a:prstGeom>
          <a:solidFill>
            <a:srgbClr val="17201F">
              <a:alpha val="12000"/>
            </a:srgbClr>
          </a:solidFill>
          <a:ln/>
        </p:spPr>
      </p:sp>
      <p:sp>
        <p:nvSpPr>
          <p:cNvPr id="6" name="Shape 4"/>
          <p:cNvSpPr/>
          <p:nvPr/>
        </p:nvSpPr>
        <p:spPr>
          <a:xfrm>
            <a:off x="2095500" y="3594689"/>
            <a:ext cx="14097000" cy="17610"/>
          </a:xfrm>
          <a:prstGeom prst="rect">
            <a:avLst/>
          </a:prstGeom>
          <a:solidFill>
            <a:srgbClr val="17201F">
              <a:alpha val="16000"/>
            </a:srgbClr>
          </a:solidFill>
          <a:ln/>
        </p:spPr>
      </p:sp>
      <p:sp>
        <p:nvSpPr>
          <p:cNvPr id="7" name="Shape 5"/>
          <p:cNvSpPr/>
          <p:nvPr/>
        </p:nvSpPr>
        <p:spPr>
          <a:xfrm>
            <a:off x="2095500" y="3700405"/>
            <a:ext cx="14097000" cy="17610"/>
          </a:xfrm>
          <a:prstGeom prst="rect">
            <a:avLst/>
          </a:prstGeom>
          <a:solidFill>
            <a:srgbClr val="17201F">
              <a:alpha val="22000"/>
            </a:srgbClr>
          </a:solidFill>
          <a:ln/>
        </p:spPr>
      </p:sp>
      <p:sp>
        <p:nvSpPr>
          <p:cNvPr id="8" name="Shape 6"/>
          <p:cNvSpPr/>
          <p:nvPr/>
        </p:nvSpPr>
        <p:spPr>
          <a:xfrm>
            <a:off x="2095500" y="3779678"/>
            <a:ext cx="14097000" cy="26386"/>
          </a:xfrm>
          <a:prstGeom prst="rect">
            <a:avLst/>
          </a:prstGeom>
          <a:solidFill>
            <a:srgbClr val="17201F">
              <a:alpha val="30000"/>
            </a:srgbClr>
          </a:solidFill>
          <a:ln/>
        </p:spPr>
      </p:sp>
      <p:sp>
        <p:nvSpPr>
          <p:cNvPr id="9" name="Shape 7"/>
          <p:cNvSpPr/>
          <p:nvPr/>
        </p:nvSpPr>
        <p:spPr>
          <a:xfrm>
            <a:off x="2095500" y="3841283"/>
            <a:ext cx="14097000" cy="35220"/>
          </a:xfrm>
          <a:prstGeom prst="rect">
            <a:avLst/>
          </a:prstGeom>
          <a:solidFill>
            <a:srgbClr val="17201F">
              <a:alpha val="45000"/>
            </a:srgbClr>
          </a:solidFill>
          <a:ln/>
        </p:spPr>
      </p:sp>
      <p:sp>
        <p:nvSpPr>
          <p:cNvPr id="10" name="Shape 8"/>
          <p:cNvSpPr/>
          <p:nvPr/>
        </p:nvSpPr>
        <p:spPr>
          <a:xfrm>
            <a:off x="2095500" y="3946977"/>
            <a:ext cx="14097000" cy="2537460"/>
          </a:xfrm>
          <a:prstGeom prst="rect">
            <a:avLst/>
          </a:prstGeom>
          <a:solidFill>
            <a:srgbClr val="5FD6BB"/>
          </a:solidFill>
          <a:ln/>
        </p:spPr>
      </p:sp>
      <p:sp>
        <p:nvSpPr>
          <p:cNvPr id="11" name="Text 9"/>
          <p:cNvSpPr/>
          <p:nvPr/>
        </p:nvSpPr>
        <p:spPr>
          <a:xfrm>
            <a:off x="1884045" y="3946977"/>
            <a:ext cx="14519910" cy="2575560"/>
          </a:xfrm>
          <a:prstGeom prst="rect">
            <a:avLst/>
          </a:prstGeom>
          <a:noFill/>
          <a:ln/>
        </p:spPr>
        <p:txBody>
          <a:bodyPr wrap="square" lIns="25400" tIns="25400" rIns="25400" bIns="25400" rtlCol="0" anchor="ctr">
            <a:normAutofit/>
          </a:bodyPr>
          <a:lstStyle/>
          <a:p>
            <a:pPr algn="ctr" indent="0" marL="0">
              <a:buNone/>
            </a:pPr>
            <a:r>
              <a:rPr lang="en-US" sz="7992" spc="-250" kern="0" dirty="0">
                <a:solidFill>
                  <a:srgbClr val="17201F"/>
                </a:solidFill>
                <a:latin typeface="Arial" pitchFamily="34" charset="0"/>
                <a:ea typeface="Arial" pitchFamily="34" charset="-122"/>
                <a:cs typeface="Arial" pitchFamily="34" charset="-120"/>
              </a:rPr>
              <a:t>Approve plan</a:t>
            </a:r>
            <a:endParaRPr lang="en-US" sz="7992" dirty="0"/>
          </a:p>
        </p:txBody>
      </p:sp>
      <p:sp>
        <p:nvSpPr>
          <p:cNvPr id="12" name="Text 10"/>
          <p:cNvSpPr/>
          <p:nvPr/>
        </p:nvSpPr>
        <p:spPr>
          <a:xfrm>
            <a:off x="1390650" y="8570570"/>
            <a:ext cx="6140656"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17201F">
                    <a:alpha val="50000"/>
                  </a:srgbClr>
                </a:solidFill>
                <a:latin typeface="Courier New" pitchFamily="34" charset="0"/>
                <a:ea typeface="Courier New" pitchFamily="34" charset="-122"/>
                <a:cs typeface="Courier New" pitchFamily="34" charset="-120"/>
              </a:rPr>
              <a:t>ONE ACTION. THE OWNER'S SECOND AND LAST.</a:t>
            </a:r>
            <a:endParaRPr lang="en-US" sz="1665" dirty="0"/>
          </a:p>
        </p:txBody>
      </p:sp>
      <p:sp>
        <p:nvSpPr>
          <p:cNvPr id="13" name="Text 11"/>
          <p:cNvSpPr/>
          <p:nvPr/>
        </p:nvSpPr>
        <p:spPr>
          <a:xfrm>
            <a:off x="12850083" y="8570570"/>
            <a:ext cx="4451993"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17201F">
                    <a:alpha val="50000"/>
                  </a:srgbClr>
                </a:solidFill>
                <a:latin typeface="Courier New" pitchFamily="34" charset="0"/>
                <a:ea typeface="Courier New" pitchFamily="34" charset="-122"/>
                <a:cs typeface="Courier New" pitchFamily="34" charset="-120"/>
              </a:rPr>
              <a:t>NO CURSOR · 4% PRESS · 120 MS</a:t>
            </a:r>
            <a:endParaRPr lang="en-US" sz="1665" dirty="0"/>
          </a:p>
        </p:txBody>
      </p:sp>
      <p:sp>
        <p:nvSpPr>
          <p:cNvPr id="14" name="Text 12"/>
          <p:cNvSpPr/>
          <p:nvPr/>
        </p:nvSpPr>
        <p:spPr>
          <a:xfrm>
            <a:off x="685788" y="9765543"/>
            <a:ext cx="3042704"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alpha val="55000"/>
                  </a:srgbClr>
                </a:solidFill>
                <a:latin typeface="Courier New" pitchFamily="34" charset="0"/>
                <a:ea typeface="Courier New" pitchFamily="34" charset="-122"/>
                <a:cs typeface="Courier New" pitchFamily="34" charset="-120"/>
              </a:rPr>
              <a:t>SCENE 07 · 0:28–0:30</a:t>
            </a:r>
            <a:endParaRPr lang="en-US" sz="1650" dirty="0"/>
          </a:p>
        </p:txBody>
      </p:sp>
      <p:sp>
        <p:nvSpPr>
          <p:cNvPr id="15" name="Text 13"/>
          <p:cNvSpPr/>
          <p:nvPr/>
        </p:nvSpPr>
        <p:spPr>
          <a:xfrm>
            <a:off x="8729079" y="9765543"/>
            <a:ext cx="1044327"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solidFill>
                <a:latin typeface="Courier New" pitchFamily="34" charset="0"/>
                <a:ea typeface="Courier New" pitchFamily="34" charset="-122"/>
                <a:cs typeface="Courier New" pitchFamily="34" charset="-120"/>
              </a:rPr>
              <a:t>APPROVE</a:t>
            </a:r>
            <a:endParaRPr lang="en-US" sz="1650" dirty="0"/>
          </a:p>
        </p:txBody>
      </p:sp>
      <p:sp>
        <p:nvSpPr>
          <p:cNvPr id="16" name="Text 14"/>
          <p:cNvSpPr/>
          <p:nvPr/>
        </p:nvSpPr>
        <p:spPr>
          <a:xfrm>
            <a:off x="14974403" y="9765543"/>
            <a:ext cx="2890589"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alpha val="55000"/>
                  </a:srgbClr>
                </a:solidFill>
                <a:latin typeface="Courier New" pitchFamily="34" charset="0"/>
                <a:ea typeface="Courier New" pitchFamily="34" charset="-122"/>
                <a:cs typeface="Courier New" pitchFamily="34" charset="-120"/>
              </a:rPr>
              <a:t>DIRECTION 1 · GREEN</a:t>
            </a:r>
            <a:endParaRPr lang="en-US" sz="1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1013"/>
        </a:solidFill>
      </p:bgPr>
    </p:bg>
    <p:spTree>
      <p:nvGrpSpPr>
        <p:cNvPr id="1" name=""/>
        <p:cNvGrpSpPr/>
        <p:nvPr/>
      </p:nvGrpSpPr>
      <p:grpSpPr>
        <a:xfrm>
          <a:off x="0" y="0"/>
          <a:ext cx="0" cy="0"/>
          <a:chOff x="0" y="0"/>
          <a:chExt cx="0" cy="0"/>
        </a:xfrm>
      </p:grpSpPr>
      <p:sp>
        <p:nvSpPr>
          <p:cNvPr id="2" name="Shape 0"/>
          <p:cNvSpPr/>
          <p:nvPr/>
        </p:nvSpPr>
        <p:spPr>
          <a:xfrm>
            <a:off x="685800" y="0"/>
            <a:ext cx="16916401" cy="9515475"/>
          </a:xfrm>
          <a:prstGeom prst="rect">
            <a:avLst/>
          </a:prstGeom>
          <a:solidFill>
            <a:srgbClr val="0A1820"/>
          </a:solidFill>
          <a:ln/>
        </p:spPr>
      </p:sp>
      <p:sp>
        <p:nvSpPr>
          <p:cNvPr id="3" name="Shape 1"/>
          <p:cNvSpPr/>
          <p:nvPr/>
        </p:nvSpPr>
        <p:spPr>
          <a:xfrm>
            <a:off x="3674014" y="2648356"/>
            <a:ext cx="11445628" cy="3482265"/>
          </a:xfrm>
          <a:prstGeom prst="rect">
            <a:avLst/>
          </a:prstGeom>
          <a:solidFill>
            <a:srgbClr val="F1EDE5">
              <a:alpha val="3000"/>
            </a:srgbClr>
          </a:solidFill>
          <a:ln/>
        </p:spPr>
      </p:sp>
      <p:sp>
        <p:nvSpPr>
          <p:cNvPr id="4" name="Shape 2"/>
          <p:cNvSpPr/>
          <p:nvPr/>
        </p:nvSpPr>
        <p:spPr>
          <a:xfrm>
            <a:off x="4270226" y="3272603"/>
            <a:ext cx="11871561" cy="3868930"/>
          </a:xfrm>
          <a:prstGeom prst="rect">
            <a:avLst/>
          </a:prstGeom>
          <a:solidFill>
            <a:srgbClr val="F1EDE5">
              <a:alpha val="3000"/>
            </a:srgbClr>
          </a:solidFill>
          <a:ln/>
        </p:spPr>
      </p:sp>
      <p:sp>
        <p:nvSpPr>
          <p:cNvPr id="5" name="Shape 3"/>
          <p:cNvSpPr/>
          <p:nvPr/>
        </p:nvSpPr>
        <p:spPr>
          <a:xfrm>
            <a:off x="3775978" y="2756182"/>
            <a:ext cx="12197680" cy="4217360"/>
          </a:xfrm>
          <a:prstGeom prst="rect">
            <a:avLst/>
          </a:prstGeom>
          <a:solidFill>
            <a:srgbClr val="F1EDE5">
              <a:alpha val="2000"/>
            </a:srgbClr>
          </a:solidFill>
          <a:ln/>
        </p:spPr>
      </p:sp>
      <p:sp>
        <p:nvSpPr>
          <p:cNvPr id="6" name="Shape 4"/>
          <p:cNvSpPr/>
          <p:nvPr/>
        </p:nvSpPr>
        <p:spPr>
          <a:xfrm>
            <a:off x="3775978" y="6955186"/>
            <a:ext cx="12197680" cy="18355"/>
          </a:xfrm>
          <a:prstGeom prst="rect">
            <a:avLst/>
          </a:prstGeom>
          <a:solidFill>
            <a:srgbClr val="F1EDE5">
              <a:alpha val="14000"/>
            </a:srgbClr>
          </a:solidFill>
          <a:ln/>
        </p:spPr>
      </p:sp>
      <p:sp>
        <p:nvSpPr>
          <p:cNvPr id="7" name="Shape 5"/>
          <p:cNvSpPr/>
          <p:nvPr/>
        </p:nvSpPr>
        <p:spPr>
          <a:xfrm>
            <a:off x="3775978" y="2756182"/>
            <a:ext cx="12197680" cy="18355"/>
          </a:xfrm>
          <a:prstGeom prst="rect">
            <a:avLst/>
          </a:prstGeom>
          <a:solidFill>
            <a:srgbClr val="F1EDE5">
              <a:alpha val="14000"/>
            </a:srgbClr>
          </a:solidFill>
          <a:ln/>
        </p:spPr>
      </p:sp>
      <p:sp>
        <p:nvSpPr>
          <p:cNvPr id="8" name="Shape 6"/>
          <p:cNvSpPr/>
          <p:nvPr/>
        </p:nvSpPr>
        <p:spPr>
          <a:xfrm>
            <a:off x="4009450" y="3001409"/>
            <a:ext cx="11515891" cy="18355"/>
          </a:xfrm>
          <a:prstGeom prst="rect">
            <a:avLst/>
          </a:prstGeom>
          <a:solidFill>
            <a:srgbClr val="F1EDE5">
              <a:alpha val="8000"/>
            </a:srgbClr>
          </a:solidFill>
          <a:ln/>
        </p:spPr>
      </p:sp>
      <p:sp>
        <p:nvSpPr>
          <p:cNvPr id="9" name="Shape 7"/>
          <p:cNvSpPr/>
          <p:nvPr/>
        </p:nvSpPr>
        <p:spPr>
          <a:xfrm>
            <a:off x="4694051" y="3695439"/>
            <a:ext cx="3318956" cy="1730942"/>
          </a:xfrm>
          <a:prstGeom prst="rect">
            <a:avLst/>
          </a:prstGeom>
          <a:gradFill rotWithShape="1">
            <a:gsLst>
              <a:gs pos="0">
                <a:srgbClr val="E2A24F">
                  <a:alpha val="10000"/>
                </a:srgbClr>
              </a:gs>
              <a:gs pos="100000">
                <a:srgbClr val="E2A24F">
                  <a:alpha val="0"/>
                </a:srgbClr>
              </a:gs>
            </a:gsLst>
            <a:path path="circle">
              <a:fillToRect l="50000" t="100000" r="50000" b="0"/>
            </a:path>
          </a:gradFill>
          <a:ln/>
        </p:spPr>
      </p:sp>
      <p:sp>
        <p:nvSpPr>
          <p:cNvPr id="10" name="Shape 8"/>
          <p:cNvSpPr/>
          <p:nvPr/>
        </p:nvSpPr>
        <p:spPr>
          <a:xfrm>
            <a:off x="4694051" y="5389670"/>
            <a:ext cx="3318956" cy="36711"/>
          </a:xfrm>
          <a:prstGeom prst="rect">
            <a:avLst/>
          </a:prstGeom>
          <a:solidFill>
            <a:srgbClr val="F1EDE5">
              <a:alpha val="25000"/>
            </a:srgbClr>
          </a:solidFill>
          <a:ln/>
        </p:spPr>
      </p:sp>
      <p:sp>
        <p:nvSpPr>
          <p:cNvPr id="11" name="Shape 9"/>
          <p:cNvSpPr/>
          <p:nvPr/>
        </p:nvSpPr>
        <p:spPr>
          <a:xfrm>
            <a:off x="4694051" y="3695439"/>
            <a:ext cx="3318956" cy="18355"/>
          </a:xfrm>
          <a:prstGeom prst="rect">
            <a:avLst/>
          </a:prstGeom>
          <a:solidFill>
            <a:srgbClr val="F1EDE5">
              <a:alpha val="10000"/>
            </a:srgbClr>
          </a:solidFill>
          <a:ln/>
        </p:spPr>
      </p:sp>
      <p:sp>
        <p:nvSpPr>
          <p:cNvPr id="12" name="Shape 10"/>
          <p:cNvSpPr/>
          <p:nvPr/>
        </p:nvSpPr>
        <p:spPr>
          <a:xfrm>
            <a:off x="4694051" y="3695439"/>
            <a:ext cx="18355" cy="1730942"/>
          </a:xfrm>
          <a:prstGeom prst="rect">
            <a:avLst/>
          </a:prstGeom>
          <a:solidFill>
            <a:srgbClr val="F1EDE5">
              <a:alpha val="10000"/>
            </a:srgbClr>
          </a:solidFill>
          <a:ln/>
        </p:spPr>
      </p:sp>
      <p:sp>
        <p:nvSpPr>
          <p:cNvPr id="13" name="Shape 11"/>
          <p:cNvSpPr/>
          <p:nvPr/>
        </p:nvSpPr>
        <p:spPr>
          <a:xfrm>
            <a:off x="7994651" y="3695439"/>
            <a:ext cx="18355" cy="1730942"/>
          </a:xfrm>
          <a:prstGeom prst="rect">
            <a:avLst/>
          </a:prstGeom>
          <a:solidFill>
            <a:srgbClr val="F1EDE5">
              <a:alpha val="10000"/>
            </a:srgbClr>
          </a:solidFill>
          <a:ln/>
        </p:spPr>
      </p:sp>
      <p:sp>
        <p:nvSpPr>
          <p:cNvPr id="14" name="Shape 12"/>
          <p:cNvSpPr/>
          <p:nvPr/>
        </p:nvSpPr>
        <p:spPr>
          <a:xfrm>
            <a:off x="7461714" y="2872095"/>
            <a:ext cx="3743911" cy="1697206"/>
          </a:xfrm>
          <a:prstGeom prst="rect">
            <a:avLst/>
          </a:prstGeom>
          <a:gradFill rotWithShape="1">
            <a:gsLst>
              <a:gs pos="0">
                <a:srgbClr val="E2A24F">
                  <a:alpha val="16000"/>
                </a:srgbClr>
              </a:gs>
              <a:gs pos="100000">
                <a:srgbClr val="E2A24F">
                  <a:alpha val="0"/>
                </a:srgbClr>
              </a:gs>
            </a:gsLst>
            <a:path path="circle">
              <a:fillToRect l="50000" t="100000" r="50000" b="0"/>
            </a:path>
          </a:gradFill>
          <a:ln/>
        </p:spPr>
      </p:sp>
      <p:sp>
        <p:nvSpPr>
          <p:cNvPr id="15" name="Shape 13"/>
          <p:cNvSpPr/>
          <p:nvPr/>
        </p:nvSpPr>
        <p:spPr>
          <a:xfrm>
            <a:off x="7461714" y="4532590"/>
            <a:ext cx="3743911" cy="36711"/>
          </a:xfrm>
          <a:prstGeom prst="rect">
            <a:avLst/>
          </a:prstGeom>
          <a:solidFill>
            <a:srgbClr val="F1EDE5">
              <a:alpha val="30000"/>
            </a:srgbClr>
          </a:solidFill>
          <a:ln/>
        </p:spPr>
      </p:sp>
      <p:sp>
        <p:nvSpPr>
          <p:cNvPr id="16" name="Shape 14"/>
          <p:cNvSpPr/>
          <p:nvPr/>
        </p:nvSpPr>
        <p:spPr>
          <a:xfrm>
            <a:off x="7461714" y="2872095"/>
            <a:ext cx="3743911" cy="18355"/>
          </a:xfrm>
          <a:prstGeom prst="rect">
            <a:avLst/>
          </a:prstGeom>
          <a:solidFill>
            <a:srgbClr val="F1EDE5">
              <a:alpha val="14000"/>
            </a:srgbClr>
          </a:solidFill>
          <a:ln/>
        </p:spPr>
      </p:sp>
      <p:sp>
        <p:nvSpPr>
          <p:cNvPr id="17" name="Shape 15"/>
          <p:cNvSpPr/>
          <p:nvPr/>
        </p:nvSpPr>
        <p:spPr>
          <a:xfrm>
            <a:off x="7461714" y="2872095"/>
            <a:ext cx="18355" cy="1697206"/>
          </a:xfrm>
          <a:prstGeom prst="rect">
            <a:avLst/>
          </a:prstGeom>
          <a:solidFill>
            <a:srgbClr val="F1EDE5">
              <a:alpha val="14000"/>
            </a:srgbClr>
          </a:solidFill>
          <a:ln/>
        </p:spPr>
      </p:sp>
      <p:sp>
        <p:nvSpPr>
          <p:cNvPr id="18" name="Shape 16"/>
          <p:cNvSpPr/>
          <p:nvPr/>
        </p:nvSpPr>
        <p:spPr>
          <a:xfrm>
            <a:off x="11187269" y="2872095"/>
            <a:ext cx="18355" cy="1697206"/>
          </a:xfrm>
          <a:prstGeom prst="rect">
            <a:avLst/>
          </a:prstGeom>
          <a:solidFill>
            <a:srgbClr val="F1EDE5">
              <a:alpha val="14000"/>
            </a:srgbClr>
          </a:solidFill>
          <a:ln/>
        </p:spPr>
      </p:sp>
      <p:sp>
        <p:nvSpPr>
          <p:cNvPr id="19" name="Shape 17"/>
          <p:cNvSpPr/>
          <p:nvPr/>
        </p:nvSpPr>
        <p:spPr>
          <a:xfrm>
            <a:off x="9592051" y="4111831"/>
            <a:ext cx="292520" cy="105246"/>
          </a:xfrm>
          <a:prstGeom prst="rect">
            <a:avLst/>
          </a:prstGeom>
          <a:solidFill>
            <a:srgbClr val="E2A24F">
              <a:alpha val="60000"/>
            </a:srgbClr>
          </a:solidFill>
          <a:ln/>
        </p:spPr>
      </p:sp>
      <p:sp>
        <p:nvSpPr>
          <p:cNvPr id="20" name="Shape 18"/>
          <p:cNvSpPr/>
          <p:nvPr/>
        </p:nvSpPr>
        <p:spPr>
          <a:xfrm>
            <a:off x="9034260" y="3921763"/>
            <a:ext cx="1731217" cy="543205"/>
          </a:xfrm>
          <a:prstGeom prst="rect">
            <a:avLst/>
          </a:prstGeom>
          <a:solidFill>
            <a:srgbClr val="E2A24F">
              <a:alpha val="16000"/>
            </a:srgbClr>
          </a:solidFill>
          <a:ln/>
        </p:spPr>
      </p:sp>
      <p:sp>
        <p:nvSpPr>
          <p:cNvPr id="21" name="Shape 19"/>
          <p:cNvSpPr/>
          <p:nvPr/>
        </p:nvSpPr>
        <p:spPr>
          <a:xfrm>
            <a:off x="8456882" y="3517343"/>
            <a:ext cx="2025315" cy="583366"/>
          </a:xfrm>
          <a:prstGeom prst="rect">
            <a:avLst/>
          </a:prstGeom>
          <a:solidFill>
            <a:srgbClr val="F1EDE5">
              <a:alpha val="14000"/>
            </a:srgbClr>
          </a:solidFill>
          <a:ln/>
        </p:spPr>
      </p:sp>
      <p:sp>
        <p:nvSpPr>
          <p:cNvPr id="22" name="Shape 20"/>
          <p:cNvSpPr/>
          <p:nvPr/>
        </p:nvSpPr>
        <p:spPr>
          <a:xfrm>
            <a:off x="9765790" y="3470813"/>
            <a:ext cx="544159" cy="201269"/>
          </a:xfrm>
          <a:prstGeom prst="rect">
            <a:avLst/>
          </a:prstGeom>
          <a:solidFill>
            <a:srgbClr val="5FD6BB"/>
          </a:solidFill>
          <a:ln/>
          <a:effectLst>
            <a:outerShdw sx="100000" sy="100000" kx="0" ky="0" algn="bl" rotWithShape="0" blurRad="95250" dist="50800" dir="16200000">
              <a:srgbClr val="5FD6BB">
                <a:alpha val="60000"/>
              </a:srgbClr>
            </a:outerShdw>
          </a:effectLst>
        </p:spPr>
      </p:sp>
      <p:sp>
        <p:nvSpPr>
          <p:cNvPr id="23" name="Shape 21"/>
          <p:cNvSpPr/>
          <p:nvPr/>
        </p:nvSpPr>
        <p:spPr>
          <a:xfrm>
            <a:off x="10469763" y="2304125"/>
            <a:ext cx="2923303" cy="1340746"/>
          </a:xfrm>
          <a:prstGeom prst="rect">
            <a:avLst/>
          </a:prstGeom>
          <a:gradFill rotWithShape="1">
            <a:gsLst>
              <a:gs pos="0">
                <a:srgbClr val="E2A24F">
                  <a:alpha val="12000"/>
                </a:srgbClr>
              </a:gs>
              <a:gs pos="100000">
                <a:srgbClr val="E2A24F">
                  <a:alpha val="0"/>
                </a:srgbClr>
              </a:gs>
            </a:gsLst>
            <a:path path="circle">
              <a:fillToRect l="50000" t="100000" r="50000" b="0"/>
            </a:path>
          </a:gradFill>
          <a:ln/>
        </p:spPr>
      </p:sp>
      <p:sp>
        <p:nvSpPr>
          <p:cNvPr id="24" name="Shape 22"/>
          <p:cNvSpPr/>
          <p:nvPr/>
        </p:nvSpPr>
        <p:spPr>
          <a:xfrm>
            <a:off x="10469763" y="3608160"/>
            <a:ext cx="2923303" cy="36711"/>
          </a:xfrm>
          <a:prstGeom prst="rect">
            <a:avLst/>
          </a:prstGeom>
          <a:solidFill>
            <a:srgbClr val="F1EDE5">
              <a:alpha val="25000"/>
            </a:srgbClr>
          </a:solidFill>
          <a:ln/>
        </p:spPr>
      </p:sp>
      <p:sp>
        <p:nvSpPr>
          <p:cNvPr id="25" name="Shape 23"/>
          <p:cNvSpPr/>
          <p:nvPr/>
        </p:nvSpPr>
        <p:spPr>
          <a:xfrm>
            <a:off x="10469763" y="2304125"/>
            <a:ext cx="2923303" cy="18355"/>
          </a:xfrm>
          <a:prstGeom prst="rect">
            <a:avLst/>
          </a:prstGeom>
          <a:solidFill>
            <a:srgbClr val="F1EDE5">
              <a:alpha val="10000"/>
            </a:srgbClr>
          </a:solidFill>
          <a:ln/>
        </p:spPr>
      </p:sp>
      <p:sp>
        <p:nvSpPr>
          <p:cNvPr id="26" name="Shape 24"/>
          <p:cNvSpPr/>
          <p:nvPr/>
        </p:nvSpPr>
        <p:spPr>
          <a:xfrm>
            <a:off x="10469763" y="2304125"/>
            <a:ext cx="18355" cy="1340746"/>
          </a:xfrm>
          <a:prstGeom prst="rect">
            <a:avLst/>
          </a:prstGeom>
          <a:solidFill>
            <a:srgbClr val="F1EDE5">
              <a:alpha val="10000"/>
            </a:srgbClr>
          </a:solidFill>
          <a:ln/>
        </p:spPr>
      </p:sp>
      <p:sp>
        <p:nvSpPr>
          <p:cNvPr id="27" name="Shape 25"/>
          <p:cNvSpPr/>
          <p:nvPr/>
        </p:nvSpPr>
        <p:spPr>
          <a:xfrm>
            <a:off x="13374711" y="2304125"/>
            <a:ext cx="18355" cy="1340746"/>
          </a:xfrm>
          <a:prstGeom prst="rect">
            <a:avLst/>
          </a:prstGeom>
          <a:solidFill>
            <a:srgbClr val="F1EDE5">
              <a:alpha val="10000"/>
            </a:srgbClr>
          </a:solidFill>
          <a:ln/>
        </p:spPr>
      </p:sp>
      <p:sp>
        <p:nvSpPr>
          <p:cNvPr id="28" name="Shape 26"/>
          <p:cNvSpPr/>
          <p:nvPr/>
        </p:nvSpPr>
        <p:spPr>
          <a:xfrm>
            <a:off x="6306183" y="5293866"/>
            <a:ext cx="5154574" cy="2679847"/>
          </a:xfrm>
          <a:prstGeom prst="rect">
            <a:avLst/>
          </a:prstGeom>
          <a:gradFill rotWithShape="1">
            <a:gsLst>
              <a:gs pos="0">
                <a:srgbClr val="E2A24F">
                  <a:alpha val="10000"/>
                </a:srgbClr>
              </a:gs>
              <a:gs pos="100000">
                <a:srgbClr val="E2A24F">
                  <a:alpha val="0"/>
                </a:srgbClr>
              </a:gs>
            </a:gsLst>
            <a:path path="circle">
              <a:fillToRect l="50000" t="0" r="50000" b="100000"/>
            </a:path>
          </a:gradFill>
          <a:ln/>
        </p:spPr>
      </p:sp>
      <p:sp>
        <p:nvSpPr>
          <p:cNvPr id="29" name="Shape 27"/>
          <p:cNvSpPr/>
          <p:nvPr/>
        </p:nvSpPr>
        <p:spPr>
          <a:xfrm>
            <a:off x="6306183" y="7955357"/>
            <a:ext cx="5154574" cy="18355"/>
          </a:xfrm>
          <a:prstGeom prst="rect">
            <a:avLst/>
          </a:prstGeom>
          <a:solidFill>
            <a:srgbClr val="F1EDE5">
              <a:alpha val="14000"/>
            </a:srgbClr>
          </a:solidFill>
          <a:ln/>
        </p:spPr>
      </p:sp>
      <p:sp>
        <p:nvSpPr>
          <p:cNvPr id="30" name="Shape 28"/>
          <p:cNvSpPr/>
          <p:nvPr/>
        </p:nvSpPr>
        <p:spPr>
          <a:xfrm>
            <a:off x="6306183" y="5293866"/>
            <a:ext cx="5154574" cy="36711"/>
          </a:xfrm>
          <a:prstGeom prst="rect">
            <a:avLst/>
          </a:prstGeom>
          <a:solidFill>
            <a:srgbClr val="F1EDE5">
              <a:alpha val="30000"/>
            </a:srgbClr>
          </a:solidFill>
          <a:ln/>
        </p:spPr>
      </p:sp>
      <p:sp>
        <p:nvSpPr>
          <p:cNvPr id="31" name="Shape 29"/>
          <p:cNvSpPr/>
          <p:nvPr/>
        </p:nvSpPr>
        <p:spPr>
          <a:xfrm>
            <a:off x="6306183" y="5293866"/>
            <a:ext cx="18355" cy="2679847"/>
          </a:xfrm>
          <a:prstGeom prst="rect">
            <a:avLst/>
          </a:prstGeom>
          <a:solidFill>
            <a:srgbClr val="F1EDE5">
              <a:alpha val="14000"/>
            </a:srgbClr>
          </a:solidFill>
          <a:ln/>
        </p:spPr>
      </p:sp>
      <p:sp>
        <p:nvSpPr>
          <p:cNvPr id="32" name="Shape 30"/>
          <p:cNvSpPr/>
          <p:nvPr/>
        </p:nvSpPr>
        <p:spPr>
          <a:xfrm>
            <a:off x="11442401" y="5293866"/>
            <a:ext cx="18355" cy="2679847"/>
          </a:xfrm>
          <a:prstGeom prst="rect">
            <a:avLst/>
          </a:prstGeom>
          <a:solidFill>
            <a:srgbClr val="F1EDE5">
              <a:alpha val="14000"/>
            </a:srgbClr>
          </a:solidFill>
          <a:ln/>
        </p:spPr>
      </p:sp>
      <p:sp>
        <p:nvSpPr>
          <p:cNvPr id="33" name="Shape 31"/>
          <p:cNvSpPr/>
          <p:nvPr/>
        </p:nvSpPr>
        <p:spPr>
          <a:xfrm>
            <a:off x="8113143" y="5851089"/>
            <a:ext cx="332820" cy="131878"/>
          </a:xfrm>
          <a:prstGeom prst="rect">
            <a:avLst/>
          </a:prstGeom>
          <a:solidFill>
            <a:srgbClr val="E2A24F">
              <a:alpha val="50000"/>
            </a:srgbClr>
          </a:solidFill>
          <a:ln/>
        </p:spPr>
      </p:sp>
      <p:sp>
        <p:nvSpPr>
          <p:cNvPr id="34" name="Shape 32"/>
          <p:cNvSpPr/>
          <p:nvPr/>
        </p:nvSpPr>
        <p:spPr>
          <a:xfrm>
            <a:off x="8366474" y="6181034"/>
            <a:ext cx="657504" cy="287638"/>
          </a:xfrm>
          <a:prstGeom prst="rect">
            <a:avLst/>
          </a:prstGeom>
          <a:solidFill>
            <a:srgbClr val="5FD6BB"/>
          </a:solidFill>
          <a:ln/>
          <a:effectLst>
            <a:outerShdw sx="100000" sy="100000" kx="0" ky="0" algn="bl" rotWithShape="0" blurRad="95250" dist="50800" dir="16200000">
              <a:srgbClr val="5FD6BB">
                <a:alpha val="60000"/>
              </a:srgbClr>
            </a:outerShdw>
          </a:effectLst>
        </p:spPr>
      </p:sp>
      <p:sp>
        <p:nvSpPr>
          <p:cNvPr id="35" name="Shape 33"/>
          <p:cNvSpPr/>
          <p:nvPr/>
        </p:nvSpPr>
        <p:spPr>
          <a:xfrm>
            <a:off x="10572448" y="3901325"/>
            <a:ext cx="5441398" cy="2481588"/>
          </a:xfrm>
          <a:prstGeom prst="rect">
            <a:avLst/>
          </a:prstGeom>
          <a:solidFill>
            <a:srgbClr val="5FD6BB">
              <a:alpha val="6000"/>
            </a:srgbClr>
          </a:solidFill>
          <a:ln/>
        </p:spPr>
      </p:sp>
      <p:sp>
        <p:nvSpPr>
          <p:cNvPr id="36" name="Shape 34"/>
          <p:cNvSpPr/>
          <p:nvPr/>
        </p:nvSpPr>
        <p:spPr>
          <a:xfrm>
            <a:off x="10572448" y="6364558"/>
            <a:ext cx="5441398" cy="18355"/>
          </a:xfrm>
          <a:prstGeom prst="rect">
            <a:avLst/>
          </a:prstGeom>
          <a:solidFill>
            <a:srgbClr val="5FD6BB"/>
          </a:solidFill>
          <a:ln/>
        </p:spPr>
      </p:sp>
      <p:sp>
        <p:nvSpPr>
          <p:cNvPr id="37" name="Shape 35"/>
          <p:cNvSpPr/>
          <p:nvPr/>
        </p:nvSpPr>
        <p:spPr>
          <a:xfrm>
            <a:off x="10572448" y="3901325"/>
            <a:ext cx="5441398" cy="36711"/>
          </a:xfrm>
          <a:prstGeom prst="rect">
            <a:avLst/>
          </a:prstGeom>
          <a:solidFill>
            <a:srgbClr val="5FD6BB"/>
          </a:solidFill>
          <a:ln/>
        </p:spPr>
      </p:sp>
      <p:sp>
        <p:nvSpPr>
          <p:cNvPr id="38" name="Shape 36"/>
          <p:cNvSpPr/>
          <p:nvPr/>
        </p:nvSpPr>
        <p:spPr>
          <a:xfrm>
            <a:off x="10572448" y="3901325"/>
            <a:ext cx="18355" cy="2481588"/>
          </a:xfrm>
          <a:prstGeom prst="rect">
            <a:avLst/>
          </a:prstGeom>
          <a:solidFill>
            <a:srgbClr val="5FD6BB"/>
          </a:solidFill>
          <a:ln/>
        </p:spPr>
      </p:sp>
      <p:sp>
        <p:nvSpPr>
          <p:cNvPr id="39" name="Shape 37"/>
          <p:cNvSpPr/>
          <p:nvPr/>
        </p:nvSpPr>
        <p:spPr>
          <a:xfrm>
            <a:off x="15995490" y="3901325"/>
            <a:ext cx="18355" cy="2481588"/>
          </a:xfrm>
          <a:prstGeom prst="rect">
            <a:avLst/>
          </a:prstGeom>
          <a:solidFill>
            <a:srgbClr val="5FD6BB"/>
          </a:solidFill>
          <a:ln/>
        </p:spPr>
      </p:sp>
      <p:sp>
        <p:nvSpPr>
          <p:cNvPr id="40" name="Shape 38"/>
          <p:cNvSpPr/>
          <p:nvPr/>
        </p:nvSpPr>
        <p:spPr>
          <a:xfrm>
            <a:off x="11340094" y="5792728"/>
            <a:ext cx="2903958" cy="18355"/>
          </a:xfrm>
          <a:prstGeom prst="rect">
            <a:avLst/>
          </a:prstGeom>
          <a:solidFill>
            <a:srgbClr val="F1EDE5">
              <a:alpha val="30000"/>
            </a:srgbClr>
          </a:solidFill>
          <a:ln/>
        </p:spPr>
      </p:sp>
      <p:sp>
        <p:nvSpPr>
          <p:cNvPr id="41" name="Shape 39"/>
          <p:cNvSpPr/>
          <p:nvPr/>
        </p:nvSpPr>
        <p:spPr>
          <a:xfrm>
            <a:off x="11340094" y="4533693"/>
            <a:ext cx="2903958" cy="18355"/>
          </a:xfrm>
          <a:prstGeom prst="rect">
            <a:avLst/>
          </a:prstGeom>
          <a:solidFill>
            <a:srgbClr val="F1EDE5">
              <a:alpha val="30000"/>
            </a:srgbClr>
          </a:solidFill>
          <a:ln/>
        </p:spPr>
      </p:sp>
      <p:sp>
        <p:nvSpPr>
          <p:cNvPr id="42" name="Shape 40"/>
          <p:cNvSpPr/>
          <p:nvPr/>
        </p:nvSpPr>
        <p:spPr>
          <a:xfrm>
            <a:off x="11340094" y="4533693"/>
            <a:ext cx="18355" cy="1277390"/>
          </a:xfrm>
          <a:prstGeom prst="rect">
            <a:avLst/>
          </a:prstGeom>
          <a:solidFill>
            <a:srgbClr val="F1EDE5">
              <a:alpha val="30000"/>
            </a:srgbClr>
          </a:solidFill>
          <a:ln/>
        </p:spPr>
      </p:sp>
      <p:sp>
        <p:nvSpPr>
          <p:cNvPr id="43" name="Shape 41"/>
          <p:cNvSpPr/>
          <p:nvPr/>
        </p:nvSpPr>
        <p:spPr>
          <a:xfrm>
            <a:off x="14225697" y="4533693"/>
            <a:ext cx="18355" cy="1277390"/>
          </a:xfrm>
          <a:prstGeom prst="rect">
            <a:avLst/>
          </a:prstGeom>
          <a:solidFill>
            <a:srgbClr val="F1EDE5">
              <a:alpha val="30000"/>
            </a:srgbClr>
          </a:solidFill>
          <a:ln/>
        </p:spPr>
      </p:sp>
      <p:sp>
        <p:nvSpPr>
          <p:cNvPr id="44" name="Shape 42"/>
          <p:cNvSpPr/>
          <p:nvPr/>
        </p:nvSpPr>
        <p:spPr>
          <a:xfrm>
            <a:off x="12054930" y="5445657"/>
            <a:ext cx="439265" cy="18355"/>
          </a:xfrm>
          <a:prstGeom prst="rect">
            <a:avLst/>
          </a:prstGeom>
          <a:solidFill>
            <a:srgbClr val="5FD6BB"/>
          </a:solidFill>
          <a:ln/>
        </p:spPr>
      </p:sp>
      <p:sp>
        <p:nvSpPr>
          <p:cNvPr id="45" name="Shape 43"/>
          <p:cNvSpPr/>
          <p:nvPr/>
        </p:nvSpPr>
        <p:spPr>
          <a:xfrm>
            <a:off x="12054930" y="5184804"/>
            <a:ext cx="439265" cy="18355"/>
          </a:xfrm>
          <a:prstGeom prst="rect">
            <a:avLst/>
          </a:prstGeom>
          <a:solidFill>
            <a:srgbClr val="5FD6BB"/>
          </a:solidFill>
          <a:ln/>
        </p:spPr>
      </p:sp>
      <p:sp>
        <p:nvSpPr>
          <p:cNvPr id="46" name="Shape 44"/>
          <p:cNvSpPr/>
          <p:nvPr/>
        </p:nvSpPr>
        <p:spPr>
          <a:xfrm>
            <a:off x="12054930" y="5184804"/>
            <a:ext cx="18355" cy="279208"/>
          </a:xfrm>
          <a:prstGeom prst="rect">
            <a:avLst/>
          </a:prstGeom>
          <a:solidFill>
            <a:srgbClr val="5FD6BB"/>
          </a:solidFill>
          <a:ln/>
        </p:spPr>
      </p:sp>
      <p:sp>
        <p:nvSpPr>
          <p:cNvPr id="47" name="Shape 45"/>
          <p:cNvSpPr/>
          <p:nvPr/>
        </p:nvSpPr>
        <p:spPr>
          <a:xfrm>
            <a:off x="12475840" y="5184804"/>
            <a:ext cx="18355" cy="279208"/>
          </a:xfrm>
          <a:prstGeom prst="rect">
            <a:avLst/>
          </a:prstGeom>
          <a:solidFill>
            <a:srgbClr val="5FD6BB"/>
          </a:solidFill>
          <a:ln/>
        </p:spPr>
      </p:sp>
      <p:sp>
        <p:nvSpPr>
          <p:cNvPr id="48" name="Shape 46"/>
          <p:cNvSpPr/>
          <p:nvPr/>
        </p:nvSpPr>
        <p:spPr>
          <a:xfrm>
            <a:off x="13102635" y="5089766"/>
            <a:ext cx="439644" cy="18355"/>
          </a:xfrm>
          <a:prstGeom prst="rect">
            <a:avLst/>
          </a:prstGeom>
          <a:solidFill>
            <a:srgbClr val="5FD6BB"/>
          </a:solidFill>
          <a:ln/>
        </p:spPr>
      </p:sp>
      <p:sp>
        <p:nvSpPr>
          <p:cNvPr id="49" name="Shape 47"/>
          <p:cNvSpPr/>
          <p:nvPr/>
        </p:nvSpPr>
        <p:spPr>
          <a:xfrm>
            <a:off x="13102635" y="4841108"/>
            <a:ext cx="439644" cy="18355"/>
          </a:xfrm>
          <a:prstGeom prst="rect">
            <a:avLst/>
          </a:prstGeom>
          <a:solidFill>
            <a:srgbClr val="5FD6BB"/>
          </a:solidFill>
          <a:ln/>
        </p:spPr>
      </p:sp>
      <p:sp>
        <p:nvSpPr>
          <p:cNvPr id="50" name="Shape 48"/>
          <p:cNvSpPr/>
          <p:nvPr/>
        </p:nvSpPr>
        <p:spPr>
          <a:xfrm>
            <a:off x="13102635" y="4841108"/>
            <a:ext cx="18355" cy="267013"/>
          </a:xfrm>
          <a:prstGeom prst="rect">
            <a:avLst/>
          </a:prstGeom>
          <a:solidFill>
            <a:srgbClr val="5FD6BB"/>
          </a:solidFill>
          <a:ln/>
        </p:spPr>
      </p:sp>
      <p:sp>
        <p:nvSpPr>
          <p:cNvPr id="51" name="Shape 49"/>
          <p:cNvSpPr/>
          <p:nvPr/>
        </p:nvSpPr>
        <p:spPr>
          <a:xfrm>
            <a:off x="13523923" y="4841108"/>
            <a:ext cx="18355" cy="267013"/>
          </a:xfrm>
          <a:prstGeom prst="rect">
            <a:avLst/>
          </a:prstGeom>
          <a:solidFill>
            <a:srgbClr val="5FD6BB"/>
          </a:solidFill>
          <a:ln/>
        </p:spPr>
      </p:sp>
      <p:sp>
        <p:nvSpPr>
          <p:cNvPr id="52" name="Shape 50"/>
          <p:cNvSpPr/>
          <p:nvPr/>
        </p:nvSpPr>
        <p:spPr>
          <a:xfrm>
            <a:off x="13742281" y="5154367"/>
            <a:ext cx="1947672" cy="18355"/>
          </a:xfrm>
          <a:prstGeom prst="rect">
            <a:avLst/>
          </a:prstGeom>
          <a:solidFill>
            <a:srgbClr val="F1EDE5">
              <a:alpha val="35000"/>
            </a:srgbClr>
          </a:solidFill>
          <a:ln/>
        </p:spPr>
      </p:sp>
      <p:sp>
        <p:nvSpPr>
          <p:cNvPr id="53" name="Shape 51"/>
          <p:cNvSpPr/>
          <p:nvPr/>
        </p:nvSpPr>
        <p:spPr>
          <a:xfrm>
            <a:off x="13742281" y="4097814"/>
            <a:ext cx="1947672" cy="18355"/>
          </a:xfrm>
          <a:prstGeom prst="rect">
            <a:avLst/>
          </a:prstGeom>
          <a:solidFill>
            <a:srgbClr val="F1EDE5">
              <a:alpha val="35000"/>
            </a:srgbClr>
          </a:solidFill>
          <a:ln/>
        </p:spPr>
      </p:sp>
      <p:sp>
        <p:nvSpPr>
          <p:cNvPr id="54" name="Shape 52"/>
          <p:cNvSpPr/>
          <p:nvPr/>
        </p:nvSpPr>
        <p:spPr>
          <a:xfrm>
            <a:off x="13742281" y="4097814"/>
            <a:ext cx="18355" cy="1074908"/>
          </a:xfrm>
          <a:prstGeom prst="rect">
            <a:avLst/>
          </a:prstGeom>
          <a:solidFill>
            <a:srgbClr val="F1EDE5">
              <a:alpha val="35000"/>
            </a:srgbClr>
          </a:solidFill>
          <a:ln/>
        </p:spPr>
      </p:sp>
      <p:sp>
        <p:nvSpPr>
          <p:cNvPr id="55" name="Shape 53"/>
          <p:cNvSpPr/>
          <p:nvPr/>
        </p:nvSpPr>
        <p:spPr>
          <a:xfrm>
            <a:off x="15671597" y="4097814"/>
            <a:ext cx="18355" cy="1074908"/>
          </a:xfrm>
          <a:prstGeom prst="rect">
            <a:avLst/>
          </a:prstGeom>
          <a:solidFill>
            <a:srgbClr val="F1EDE5">
              <a:alpha val="35000"/>
            </a:srgbClr>
          </a:solidFill>
          <a:ln/>
        </p:spPr>
      </p:sp>
      <p:sp>
        <p:nvSpPr>
          <p:cNvPr id="56" name="Shape 54"/>
          <p:cNvSpPr/>
          <p:nvPr/>
        </p:nvSpPr>
        <p:spPr>
          <a:xfrm>
            <a:off x="13810043" y="4054247"/>
            <a:ext cx="277555" cy="104416"/>
          </a:xfrm>
          <a:prstGeom prst="rect">
            <a:avLst/>
          </a:prstGeom>
          <a:solidFill>
            <a:srgbClr val="5FD6BB"/>
          </a:solidFill>
          <a:ln/>
        </p:spPr>
      </p:sp>
      <p:sp>
        <p:nvSpPr>
          <p:cNvPr id="57" name="Shape 55"/>
          <p:cNvSpPr/>
          <p:nvPr/>
        </p:nvSpPr>
        <p:spPr>
          <a:xfrm>
            <a:off x="9035748" y="1633574"/>
            <a:ext cx="3691199" cy="2914217"/>
          </a:xfrm>
          <a:prstGeom prst="rect">
            <a:avLst/>
          </a:prstGeom>
          <a:gradFill rotWithShape="1">
            <a:gsLst>
              <a:gs pos="0">
                <a:srgbClr val="5FD6BB">
                  <a:alpha val="0"/>
                </a:srgbClr>
              </a:gs>
              <a:gs pos="100000">
                <a:srgbClr val="5FD6BB">
                  <a:alpha val="100000"/>
                </a:srgbClr>
              </a:gs>
            </a:gsLst>
            <a:lin ang="5400000" scaled="0"/>
          </a:gradFill>
          <a:ln/>
        </p:spPr>
      </p:sp>
      <p:sp>
        <p:nvSpPr>
          <p:cNvPr id="58" name="Shape 56"/>
          <p:cNvSpPr/>
          <p:nvPr/>
        </p:nvSpPr>
        <p:spPr>
          <a:xfrm rot="-2279998">
            <a:off x="10496298" y="4373954"/>
            <a:ext cx="2422921" cy="18355"/>
          </a:xfrm>
          <a:prstGeom prst="rect">
            <a:avLst/>
          </a:prstGeom>
          <a:solidFill>
            <a:srgbClr val="5FD6BB">
              <a:alpha val="80000"/>
            </a:srgbClr>
          </a:solidFill>
          <a:ln/>
        </p:spPr>
      </p:sp>
      <p:sp>
        <p:nvSpPr>
          <p:cNvPr id="59" name="Shape 57"/>
          <p:cNvSpPr/>
          <p:nvPr/>
        </p:nvSpPr>
        <p:spPr>
          <a:xfrm rot="-840000">
            <a:off x="8847892" y="6136870"/>
            <a:ext cx="2731294" cy="18355"/>
          </a:xfrm>
          <a:prstGeom prst="rect">
            <a:avLst/>
          </a:prstGeom>
          <a:solidFill>
            <a:srgbClr val="5FD6BB">
              <a:alpha val="80000"/>
            </a:srgbClr>
          </a:solidFill>
          <a:ln/>
        </p:spPr>
      </p:sp>
      <p:sp>
        <p:nvSpPr>
          <p:cNvPr id="60" name="Shape 58"/>
          <p:cNvSpPr/>
          <p:nvPr/>
        </p:nvSpPr>
        <p:spPr>
          <a:xfrm rot="359998">
            <a:off x="3253285" y="6981643"/>
            <a:ext cx="7929561" cy="18355"/>
          </a:xfrm>
          <a:prstGeom prst="rect">
            <a:avLst/>
          </a:prstGeom>
          <a:solidFill>
            <a:srgbClr val="5FD6BB">
              <a:alpha val="55000"/>
            </a:srgbClr>
          </a:solidFill>
          <a:ln/>
        </p:spPr>
      </p:sp>
      <p:sp>
        <p:nvSpPr>
          <p:cNvPr id="61" name="Shape 59"/>
          <p:cNvSpPr/>
          <p:nvPr/>
        </p:nvSpPr>
        <p:spPr>
          <a:xfrm rot="-1800001">
            <a:off x="14621791" y="4072876"/>
            <a:ext cx="3964779" cy="18355"/>
          </a:xfrm>
          <a:prstGeom prst="rect">
            <a:avLst/>
          </a:prstGeom>
          <a:solidFill>
            <a:srgbClr val="5FD6BB">
              <a:alpha val="55000"/>
            </a:srgbClr>
          </a:solidFill>
          <a:ln/>
        </p:spPr>
      </p:sp>
      <p:sp>
        <p:nvSpPr>
          <p:cNvPr id="62" name="Shape 60"/>
          <p:cNvSpPr/>
          <p:nvPr/>
        </p:nvSpPr>
        <p:spPr>
          <a:xfrm rot="2400002">
            <a:off x="15922513" y="5278249"/>
            <a:ext cx="2643187" cy="18355"/>
          </a:xfrm>
          <a:prstGeom prst="rect">
            <a:avLst/>
          </a:prstGeom>
          <a:solidFill>
            <a:srgbClr val="5FD6BB">
              <a:alpha val="55000"/>
            </a:srgbClr>
          </a:solidFill>
          <a:ln/>
        </p:spPr>
      </p:sp>
      <p:sp>
        <p:nvSpPr>
          <p:cNvPr id="63" name="Shape 61"/>
          <p:cNvSpPr/>
          <p:nvPr/>
        </p:nvSpPr>
        <p:spPr>
          <a:xfrm>
            <a:off x="2776511" y="8437699"/>
            <a:ext cx="246583" cy="176490"/>
          </a:xfrm>
          <a:prstGeom prst="roundRect">
            <a:avLst>
              <a:gd name="adj" fmla="val 50000"/>
            </a:avLst>
          </a:prstGeom>
          <a:solidFill>
            <a:srgbClr val="E2A24F"/>
          </a:solidFill>
          <a:ln/>
        </p:spPr>
      </p:sp>
      <p:sp>
        <p:nvSpPr>
          <p:cNvPr id="64" name="Shape 62"/>
          <p:cNvSpPr/>
          <p:nvPr/>
        </p:nvSpPr>
        <p:spPr>
          <a:xfrm>
            <a:off x="4515233" y="9530333"/>
            <a:ext cx="265462" cy="197533"/>
          </a:xfrm>
          <a:prstGeom prst="roundRect">
            <a:avLst>
              <a:gd name="adj" fmla="val 50000"/>
            </a:avLst>
          </a:prstGeom>
          <a:solidFill>
            <a:srgbClr val="E2A24F">
              <a:alpha val="70000"/>
            </a:srgbClr>
          </a:solidFill>
          <a:ln/>
        </p:spPr>
      </p:sp>
      <p:sp>
        <p:nvSpPr>
          <p:cNvPr id="65" name="Shape 63"/>
          <p:cNvSpPr/>
          <p:nvPr/>
        </p:nvSpPr>
        <p:spPr>
          <a:xfrm>
            <a:off x="17186489" y="3202806"/>
            <a:ext cx="204077" cy="92220"/>
          </a:xfrm>
          <a:prstGeom prst="roundRect">
            <a:avLst>
              <a:gd name="adj" fmla="val 50000"/>
            </a:avLst>
          </a:prstGeom>
          <a:solidFill>
            <a:srgbClr val="E2A24F"/>
          </a:solidFill>
          <a:ln/>
        </p:spPr>
      </p:sp>
      <p:sp>
        <p:nvSpPr>
          <p:cNvPr id="66" name="Shape 64"/>
          <p:cNvSpPr/>
          <p:nvPr/>
        </p:nvSpPr>
        <p:spPr>
          <a:xfrm>
            <a:off x="19165357" y="5224347"/>
            <a:ext cx="238385" cy="121524"/>
          </a:xfrm>
          <a:prstGeom prst="roundRect">
            <a:avLst>
              <a:gd name="adj" fmla="val 50000"/>
            </a:avLst>
          </a:prstGeom>
          <a:solidFill>
            <a:srgbClr val="E2A24F">
              <a:alpha val="70000"/>
            </a:srgbClr>
          </a:solidFill>
          <a:ln/>
        </p:spPr>
      </p:sp>
      <p:sp>
        <p:nvSpPr>
          <p:cNvPr id="67" name="Shape 65"/>
          <p:cNvSpPr/>
          <p:nvPr/>
        </p:nvSpPr>
        <p:spPr>
          <a:xfrm>
            <a:off x="19899823" y="4433879"/>
            <a:ext cx="227792" cy="109581"/>
          </a:xfrm>
          <a:prstGeom prst="roundRect">
            <a:avLst>
              <a:gd name="adj" fmla="val 50000"/>
            </a:avLst>
          </a:prstGeom>
          <a:solidFill>
            <a:srgbClr val="E2A24F">
              <a:alpha val="50000"/>
            </a:srgbClr>
          </a:solidFill>
          <a:ln/>
        </p:spPr>
      </p:sp>
      <p:sp>
        <p:nvSpPr>
          <p:cNvPr id="68" name="Shape 66"/>
          <p:cNvSpPr/>
          <p:nvPr/>
        </p:nvSpPr>
        <p:spPr>
          <a:xfrm>
            <a:off x="11414860" y="4721610"/>
            <a:ext cx="184294" cy="97442"/>
          </a:xfrm>
          <a:prstGeom prst="roundRect">
            <a:avLst>
              <a:gd name="adj" fmla="val 50000"/>
            </a:avLst>
          </a:prstGeom>
          <a:solidFill>
            <a:srgbClr val="E2A24F">
              <a:alpha val="50000"/>
            </a:srgbClr>
          </a:solidFill>
          <a:ln/>
        </p:spPr>
      </p:sp>
      <p:sp>
        <p:nvSpPr>
          <p:cNvPr id="69" name="Shape 67"/>
          <p:cNvSpPr/>
          <p:nvPr/>
        </p:nvSpPr>
        <p:spPr>
          <a:xfrm>
            <a:off x="6837426" y="5074600"/>
            <a:ext cx="180573" cy="102024"/>
          </a:xfrm>
          <a:prstGeom prst="roundRect">
            <a:avLst>
              <a:gd name="adj" fmla="val 50000"/>
            </a:avLst>
          </a:prstGeom>
          <a:solidFill>
            <a:srgbClr val="E2A24F">
              <a:alpha val="50000"/>
            </a:srgbClr>
          </a:solidFill>
          <a:ln/>
        </p:spPr>
      </p:sp>
      <p:sp>
        <p:nvSpPr>
          <p:cNvPr id="70" name="Text 68"/>
          <p:cNvSpPr/>
          <p:nvPr/>
        </p:nvSpPr>
        <p:spPr>
          <a:xfrm>
            <a:off x="1390650" y="528637"/>
            <a:ext cx="2763330"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F1EDE5">
                    <a:alpha val="50000"/>
                  </a:srgbClr>
                </a:solidFill>
                <a:latin typeface="Courier New" pitchFamily="34" charset="0"/>
                <a:ea typeface="Courier New" pitchFamily="34" charset="-122"/>
                <a:cs typeface="Courier New" pitchFamily="34" charset="-120"/>
              </a:rPr>
              <a:t>THURSDAY · 6:48 PM</a:t>
            </a:r>
            <a:endParaRPr lang="en-US" sz="1665" dirty="0"/>
          </a:p>
        </p:txBody>
      </p:sp>
      <p:sp>
        <p:nvSpPr>
          <p:cNvPr id="71" name="Text 69"/>
          <p:cNvSpPr/>
          <p:nvPr/>
        </p:nvSpPr>
        <p:spPr>
          <a:xfrm>
            <a:off x="12989643" y="528637"/>
            <a:ext cx="4298478"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5FD6BB"/>
                </a:solidFill>
                <a:latin typeface="Courier New" pitchFamily="34" charset="0"/>
                <a:ea typeface="Courier New" pitchFamily="34" charset="-122"/>
                <a:cs typeface="Courier New" pitchFamily="34" charset="-120"/>
              </a:rPr>
              <a:t>MORNING COFFEE DROP · ACTIVE</a:t>
            </a:r>
            <a:endParaRPr lang="en-US" sz="1665" dirty="0"/>
          </a:p>
        </p:txBody>
      </p:sp>
      <p:sp>
        <p:nvSpPr>
          <p:cNvPr id="72" name="Text 70"/>
          <p:cNvSpPr/>
          <p:nvPr/>
        </p:nvSpPr>
        <p:spPr>
          <a:xfrm>
            <a:off x="1390650" y="2290763"/>
            <a:ext cx="5427345" cy="291406"/>
          </a:xfrm>
          <a:prstGeom prst="rect">
            <a:avLst/>
          </a:prstGeom>
          <a:noFill/>
          <a:ln/>
        </p:spPr>
        <p:txBody>
          <a:bodyPr wrap="square" lIns="25400" tIns="25400" rIns="25400" bIns="25400" rtlCol="0" anchor="t">
            <a:normAutofit/>
          </a:bodyPr>
          <a:lstStyle/>
          <a:p>
            <a:pPr algn="l" indent="0" marL="0">
              <a:buNone/>
            </a:pPr>
            <a:r>
              <a:rPr lang="en-US" sz="1526" spc="92" kern="0" dirty="0">
                <a:solidFill>
                  <a:srgbClr val="F1EDE5">
                    <a:alpha val="50000"/>
                  </a:srgbClr>
                </a:solidFill>
                <a:latin typeface="Courier New" pitchFamily="34" charset="0"/>
                <a:ea typeface="Courier New" pitchFamily="34" charset="-122"/>
                <a:cs typeface="Courier New" pitchFamily="34" charset="-120"/>
              </a:rPr>
              <a:t>AVAILABLE REACH</a:t>
            </a:r>
            <a:endParaRPr lang="en-US" sz="1526" dirty="0"/>
          </a:p>
        </p:txBody>
      </p:sp>
      <p:sp>
        <p:nvSpPr>
          <p:cNvPr id="73" name="Text 71"/>
          <p:cNvSpPr/>
          <p:nvPr/>
        </p:nvSpPr>
        <p:spPr>
          <a:xfrm>
            <a:off x="1390650" y="2896493"/>
            <a:ext cx="5427345" cy="291406"/>
          </a:xfrm>
          <a:prstGeom prst="rect">
            <a:avLst/>
          </a:prstGeom>
          <a:noFill/>
          <a:ln/>
        </p:spPr>
        <p:txBody>
          <a:bodyPr wrap="square" lIns="25400" tIns="25400" rIns="25400" bIns="25400" rtlCol="0" anchor="t">
            <a:normAutofit/>
          </a:bodyPr>
          <a:lstStyle/>
          <a:p>
            <a:pPr algn="l" indent="0" marL="0">
              <a:buNone/>
            </a:pPr>
            <a:r>
              <a:rPr lang="en-US" sz="1526" spc="92" kern="0" dirty="0">
                <a:solidFill>
                  <a:srgbClr val="5FD6BB"/>
                </a:solidFill>
                <a:latin typeface="Courier New" pitchFamily="34" charset="0"/>
                <a:ea typeface="Courier New" pitchFamily="34" charset="-122"/>
                <a:cs typeface="Courier New" pitchFamily="34" charset="-120"/>
              </a:rPr>
              <a:t>YOUR CUSTOMERS</a:t>
            </a:r>
            <a:endParaRPr lang="en-US" sz="1526" dirty="0"/>
          </a:p>
        </p:txBody>
      </p:sp>
      <p:sp>
        <p:nvSpPr>
          <p:cNvPr id="74" name="Text 72"/>
          <p:cNvSpPr/>
          <p:nvPr/>
        </p:nvSpPr>
        <p:spPr>
          <a:xfrm>
            <a:off x="1390650" y="3220237"/>
            <a:ext cx="5081969" cy="714728"/>
          </a:xfrm>
          <a:prstGeom prst="rect">
            <a:avLst/>
          </a:prstGeom>
          <a:noFill/>
          <a:ln/>
        </p:spPr>
        <p:txBody>
          <a:bodyPr wrap="square" lIns="25400" tIns="25400" rIns="25400" bIns="25400" rtlCol="0" anchor="t">
            <a:normAutofit/>
          </a:bodyPr>
          <a:lstStyle/>
          <a:p>
            <a:pPr algn="l" indent="0" marL="0">
              <a:lnSpc>
                <a:spcPct val="103551"/>
              </a:lnSpc>
              <a:buNone/>
            </a:pPr>
            <a:r>
              <a:rPr lang="en-US" sz="2220" dirty="0">
                <a:solidFill>
                  <a:srgbClr val="F1EDE5"/>
                </a:solidFill>
                <a:latin typeface="Arial" pitchFamily="34" charset="0"/>
                <a:ea typeface="Arial" pitchFamily="34" charset="-122"/>
                <a:cs typeface="Arial" pitchFamily="34" charset="-120"/>
              </a:rPr>
              <a:t>104 people who said yes to hearing from Joe's.</a:t>
            </a:r>
            <a:endParaRPr lang="en-US" sz="2220" dirty="0"/>
          </a:p>
        </p:txBody>
      </p:sp>
      <p:sp>
        <p:nvSpPr>
          <p:cNvPr id="75" name="Text 73"/>
          <p:cNvSpPr/>
          <p:nvPr/>
        </p:nvSpPr>
        <p:spPr>
          <a:xfrm>
            <a:off x="1390650" y="3967305"/>
            <a:ext cx="5427345" cy="291406"/>
          </a:xfrm>
          <a:prstGeom prst="rect">
            <a:avLst/>
          </a:prstGeom>
          <a:noFill/>
          <a:ln/>
        </p:spPr>
        <p:txBody>
          <a:bodyPr wrap="square" lIns="25400" tIns="25400" rIns="25400" bIns="25400" rtlCol="0" anchor="t">
            <a:normAutofit/>
          </a:bodyPr>
          <a:lstStyle/>
          <a:p>
            <a:pPr algn="l" indent="0" marL="0">
              <a:buNone/>
            </a:pPr>
            <a:r>
              <a:rPr lang="en-US" sz="1526" spc="92" kern="0" dirty="0">
                <a:solidFill>
                  <a:srgbClr val="F1EDE5">
                    <a:alpha val="50000"/>
                  </a:srgbClr>
                </a:solidFill>
                <a:latin typeface="Courier New" pitchFamily="34" charset="0"/>
                <a:ea typeface="Courier New" pitchFamily="34" charset="-122"/>
                <a:cs typeface="Courier New" pitchFamily="34" charset="-120"/>
              </a:rPr>
              <a:t>TEXT · TONIGHT</a:t>
            </a:r>
            <a:endParaRPr lang="en-US" sz="1526" dirty="0"/>
          </a:p>
        </p:txBody>
      </p:sp>
      <p:sp>
        <p:nvSpPr>
          <p:cNvPr id="76" name="Text 74"/>
          <p:cNvSpPr/>
          <p:nvPr/>
        </p:nvSpPr>
        <p:spPr>
          <a:xfrm>
            <a:off x="1390650" y="4573036"/>
            <a:ext cx="5427345" cy="291405"/>
          </a:xfrm>
          <a:prstGeom prst="rect">
            <a:avLst/>
          </a:prstGeom>
          <a:noFill/>
          <a:ln/>
        </p:spPr>
        <p:txBody>
          <a:bodyPr wrap="square" lIns="25400" tIns="25400" rIns="25400" bIns="25400" rtlCol="0" anchor="t">
            <a:normAutofit/>
          </a:bodyPr>
          <a:lstStyle/>
          <a:p>
            <a:pPr algn="l" indent="0" marL="0">
              <a:buNone/>
            </a:pPr>
            <a:r>
              <a:rPr lang="en-US" sz="1526" spc="92" kern="0" dirty="0">
                <a:solidFill>
                  <a:srgbClr val="5FD6BB"/>
                </a:solidFill>
                <a:latin typeface="Courier New" pitchFamily="34" charset="0"/>
                <a:ea typeface="Courier New" pitchFamily="34" charset="-122"/>
                <a:cs typeface="Courier New" pitchFamily="34" charset="-120"/>
              </a:rPr>
              <a:t>YOUR LOCATION</a:t>
            </a:r>
            <a:endParaRPr lang="en-US" sz="1526" dirty="0"/>
          </a:p>
        </p:txBody>
      </p:sp>
      <p:sp>
        <p:nvSpPr>
          <p:cNvPr id="77" name="Text 75"/>
          <p:cNvSpPr/>
          <p:nvPr/>
        </p:nvSpPr>
        <p:spPr>
          <a:xfrm>
            <a:off x="1390650" y="4896780"/>
            <a:ext cx="5081969" cy="714729"/>
          </a:xfrm>
          <a:prstGeom prst="rect">
            <a:avLst/>
          </a:prstGeom>
          <a:noFill/>
          <a:ln/>
        </p:spPr>
        <p:txBody>
          <a:bodyPr wrap="square" lIns="25400" tIns="25400" rIns="25400" bIns="25400" rtlCol="0" anchor="t">
            <a:normAutofit/>
          </a:bodyPr>
          <a:lstStyle/>
          <a:p>
            <a:pPr algn="l" indent="0" marL="0">
              <a:lnSpc>
                <a:spcPct val="103551"/>
              </a:lnSpc>
              <a:buNone/>
            </a:pPr>
            <a:r>
              <a:rPr lang="en-US" sz="2220" dirty="0">
                <a:solidFill>
                  <a:srgbClr val="F1EDE5"/>
                </a:solidFill>
                <a:latin typeface="Arial" pitchFamily="34" charset="0"/>
                <a:ea typeface="Arial" pitchFamily="34" charset="-122"/>
                <a:cs typeface="Arial" pitchFamily="34" charset="-120"/>
              </a:rPr>
              <a:t>The code at the pump and the counter.</a:t>
            </a:r>
            <a:endParaRPr lang="en-US" sz="2220" dirty="0"/>
          </a:p>
        </p:txBody>
      </p:sp>
      <p:sp>
        <p:nvSpPr>
          <p:cNvPr id="78" name="Text 76"/>
          <p:cNvSpPr/>
          <p:nvPr/>
        </p:nvSpPr>
        <p:spPr>
          <a:xfrm>
            <a:off x="1390650" y="5643848"/>
            <a:ext cx="5427345" cy="291405"/>
          </a:xfrm>
          <a:prstGeom prst="rect">
            <a:avLst/>
          </a:prstGeom>
          <a:noFill/>
          <a:ln/>
        </p:spPr>
        <p:txBody>
          <a:bodyPr wrap="square" lIns="25400" tIns="25400" rIns="25400" bIns="25400" rtlCol="0" anchor="t">
            <a:normAutofit/>
          </a:bodyPr>
          <a:lstStyle/>
          <a:p>
            <a:pPr algn="l" indent="0" marL="0">
              <a:buNone/>
            </a:pPr>
            <a:r>
              <a:rPr lang="en-US" sz="1526" spc="92" kern="0" dirty="0">
                <a:solidFill>
                  <a:srgbClr val="F1EDE5">
                    <a:alpha val="50000"/>
                  </a:srgbClr>
                </a:solidFill>
                <a:latin typeface="Courier New" pitchFamily="34" charset="0"/>
                <a:ea typeface="Courier New" pitchFamily="34" charset="-122"/>
                <a:cs typeface="Courier New" pitchFamily="34" charset="-120"/>
              </a:rPr>
              <a:t>FRIDAY 7–10</a:t>
            </a:r>
            <a:endParaRPr lang="en-US" sz="1526" dirty="0"/>
          </a:p>
        </p:txBody>
      </p:sp>
      <p:sp>
        <p:nvSpPr>
          <p:cNvPr id="79" name="Text 77"/>
          <p:cNvSpPr/>
          <p:nvPr/>
        </p:nvSpPr>
        <p:spPr>
          <a:xfrm>
            <a:off x="1390650" y="6249578"/>
            <a:ext cx="5427345" cy="291405"/>
          </a:xfrm>
          <a:prstGeom prst="rect">
            <a:avLst/>
          </a:prstGeom>
          <a:noFill/>
          <a:ln/>
        </p:spPr>
        <p:txBody>
          <a:bodyPr wrap="square" lIns="25400" tIns="25400" rIns="25400" bIns="25400" rtlCol="0" anchor="t">
            <a:normAutofit/>
          </a:bodyPr>
          <a:lstStyle/>
          <a:p>
            <a:pPr algn="l" indent="0" marL="0">
              <a:buNone/>
            </a:pPr>
            <a:r>
              <a:rPr lang="en-US" sz="1526" spc="92" kern="0" dirty="0">
                <a:solidFill>
                  <a:srgbClr val="5FD6BB"/>
                </a:solidFill>
                <a:latin typeface="Courier New" pitchFamily="34" charset="0"/>
                <a:ea typeface="Courier New" pitchFamily="34" charset="-122"/>
                <a:cs typeface="Courier New" pitchFamily="34" charset="-120"/>
              </a:rPr>
              <a:t>NEARBY UPTICK REACH</a:t>
            </a:r>
            <a:endParaRPr lang="en-US" sz="1526" dirty="0"/>
          </a:p>
        </p:txBody>
      </p:sp>
      <p:sp>
        <p:nvSpPr>
          <p:cNvPr id="80" name="Text 78"/>
          <p:cNvSpPr/>
          <p:nvPr/>
        </p:nvSpPr>
        <p:spPr>
          <a:xfrm>
            <a:off x="1390650" y="6573323"/>
            <a:ext cx="5081969" cy="714728"/>
          </a:xfrm>
          <a:prstGeom prst="rect">
            <a:avLst/>
          </a:prstGeom>
          <a:noFill/>
          <a:ln/>
        </p:spPr>
        <p:txBody>
          <a:bodyPr wrap="square" lIns="25400" tIns="25400" rIns="25400" bIns="25400" rtlCol="0" anchor="t">
            <a:normAutofit/>
          </a:bodyPr>
          <a:lstStyle/>
          <a:p>
            <a:pPr algn="l" indent="0" marL="0">
              <a:lnSpc>
                <a:spcPct val="103551"/>
              </a:lnSpc>
              <a:buNone/>
            </a:pPr>
            <a:r>
              <a:rPr lang="en-US" sz="2220" dirty="0">
                <a:solidFill>
                  <a:srgbClr val="F1EDE5"/>
                </a:solidFill>
                <a:latin typeface="Arial" pitchFamily="34" charset="0"/>
                <a:ea typeface="Arial" pitchFamily="34" charset="-122"/>
                <a:cs typeface="Arial" pitchFamily="34" charset="-120"/>
              </a:rPr>
              <a:t>Two counters on this block carry an Uptick screen.</a:t>
            </a:r>
            <a:endParaRPr lang="en-US" sz="2220" dirty="0"/>
          </a:p>
        </p:txBody>
      </p:sp>
      <p:sp>
        <p:nvSpPr>
          <p:cNvPr id="81" name="Text 79"/>
          <p:cNvSpPr/>
          <p:nvPr/>
        </p:nvSpPr>
        <p:spPr>
          <a:xfrm>
            <a:off x="1390650" y="7320390"/>
            <a:ext cx="5427345" cy="291406"/>
          </a:xfrm>
          <a:prstGeom prst="rect">
            <a:avLst/>
          </a:prstGeom>
          <a:noFill/>
          <a:ln/>
        </p:spPr>
        <p:txBody>
          <a:bodyPr wrap="square" lIns="25400" tIns="25400" rIns="25400" bIns="25400" rtlCol="0" anchor="t">
            <a:normAutofit/>
          </a:bodyPr>
          <a:lstStyle/>
          <a:p>
            <a:pPr algn="l" indent="0" marL="0">
              <a:buNone/>
            </a:pPr>
            <a:r>
              <a:rPr lang="en-US" sz="1526" spc="92" kern="0" dirty="0">
                <a:solidFill>
                  <a:srgbClr val="F1EDE5">
                    <a:alpha val="50000"/>
                  </a:srgbClr>
                </a:solidFill>
                <a:latin typeface="Courier New" pitchFamily="34" charset="0"/>
                <a:ea typeface="Courier New" pitchFamily="34" charset="-122"/>
                <a:cs typeface="Courier New" pitchFamily="34" charset="-120"/>
              </a:rPr>
              <a:t>2 SCREENS · FRIDAY 7–10</a:t>
            </a:r>
            <a:endParaRPr lang="en-US" sz="1526" dirty="0"/>
          </a:p>
        </p:txBody>
      </p:sp>
      <p:sp>
        <p:nvSpPr>
          <p:cNvPr id="82" name="Shape 80"/>
          <p:cNvSpPr/>
          <p:nvPr/>
        </p:nvSpPr>
        <p:spPr>
          <a:xfrm rot="-1320001">
            <a:off x="11514741" y="6200980"/>
            <a:ext cx="2643188" cy="9525"/>
          </a:xfrm>
          <a:prstGeom prst="rect">
            <a:avLst/>
          </a:prstGeom>
          <a:solidFill>
            <a:srgbClr val="F1EDE5">
              <a:alpha val="35000"/>
            </a:srgbClr>
          </a:solidFill>
          <a:ln/>
        </p:spPr>
      </p:sp>
      <p:sp>
        <p:nvSpPr>
          <p:cNvPr id="83" name="Text 81"/>
          <p:cNvSpPr/>
          <p:nvPr/>
        </p:nvSpPr>
        <p:spPr>
          <a:xfrm>
            <a:off x="14430375" y="5374481"/>
            <a:ext cx="2955208" cy="291405"/>
          </a:xfrm>
          <a:prstGeom prst="rect">
            <a:avLst/>
          </a:prstGeom>
          <a:noFill/>
          <a:ln/>
        </p:spPr>
        <p:txBody>
          <a:bodyPr wrap="square" lIns="25400" tIns="25400" rIns="25400" bIns="25400" rtlCol="0" anchor="t">
            <a:normAutofit/>
          </a:bodyPr>
          <a:lstStyle/>
          <a:p>
            <a:pPr algn="l" indent="0" marL="0">
              <a:buNone/>
            </a:pPr>
            <a:r>
              <a:rPr lang="en-US" sz="1526" spc="92" kern="0" dirty="0">
                <a:solidFill>
                  <a:srgbClr val="F1EDE5"/>
                </a:solidFill>
                <a:latin typeface="Courier New" pitchFamily="34" charset="0"/>
                <a:ea typeface="Courier New" pitchFamily="34" charset="-122"/>
                <a:cs typeface="Courier New" pitchFamily="34" charset="-120"/>
              </a:rPr>
              <a:t>JOE'S FUEL &amp; GO · 118</a:t>
            </a:r>
            <a:endParaRPr lang="en-US" sz="1526" dirty="0"/>
          </a:p>
        </p:txBody>
      </p:sp>
      <p:sp>
        <p:nvSpPr>
          <p:cNvPr id="84" name="Text 82"/>
          <p:cNvSpPr/>
          <p:nvPr/>
        </p:nvSpPr>
        <p:spPr>
          <a:xfrm>
            <a:off x="10117012" y="8592596"/>
            <a:ext cx="7458372" cy="291405"/>
          </a:xfrm>
          <a:prstGeom prst="rect">
            <a:avLst/>
          </a:prstGeom>
          <a:noFill/>
          <a:ln/>
        </p:spPr>
        <p:txBody>
          <a:bodyPr wrap="square" lIns="25400" tIns="25400" rIns="25400" bIns="25400" rtlCol="0" anchor="t">
            <a:normAutofit/>
          </a:bodyPr>
          <a:lstStyle/>
          <a:p>
            <a:pPr algn="l" indent="0" marL="0">
              <a:buNone/>
            </a:pPr>
            <a:r>
              <a:rPr lang="en-US" sz="1526" spc="92" kern="0" dirty="0">
                <a:solidFill>
                  <a:srgbClr val="F1EDE5">
                    <a:alpha val="50000"/>
                  </a:srgbClr>
                </a:solidFill>
                <a:latin typeface="Courier New" pitchFamily="34" charset="0"/>
                <a:ea typeface="Courier New" pitchFamily="34" charset="-122"/>
                <a:cs typeface="Courier New" pitchFamily="34" charset="-120"/>
              </a:rPr>
              <a:t>ONE PLAN · EVERY CHANNEL JOE HAS · NOTHING HE DOESN'T</a:t>
            </a:r>
            <a:endParaRPr lang="en-US" sz="1526" dirty="0"/>
          </a:p>
        </p:txBody>
      </p:sp>
      <p:sp>
        <p:nvSpPr>
          <p:cNvPr id="85" name="Text 83"/>
          <p:cNvSpPr/>
          <p:nvPr/>
        </p:nvSpPr>
        <p:spPr>
          <a:xfrm>
            <a:off x="685788" y="9765543"/>
            <a:ext cx="3042704"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alpha val="55000"/>
                  </a:srgbClr>
                </a:solidFill>
                <a:latin typeface="Courier New" pitchFamily="34" charset="0"/>
                <a:ea typeface="Courier New" pitchFamily="34" charset="-122"/>
                <a:cs typeface="Courier New" pitchFamily="34" charset="-120"/>
              </a:rPr>
              <a:t>SCENE 08 · 0:30–0:34</a:t>
            </a:r>
            <a:endParaRPr lang="en-US" sz="1650" dirty="0"/>
          </a:p>
        </p:txBody>
      </p:sp>
      <p:sp>
        <p:nvSpPr>
          <p:cNvPr id="86" name="Text 84"/>
          <p:cNvSpPr/>
          <p:nvPr/>
        </p:nvSpPr>
        <p:spPr>
          <a:xfrm>
            <a:off x="8452507" y="9765543"/>
            <a:ext cx="1521352"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solidFill>
                <a:latin typeface="Courier New" pitchFamily="34" charset="0"/>
                <a:ea typeface="Courier New" pitchFamily="34" charset="-122"/>
                <a:cs typeface="Courier New" pitchFamily="34" charset="-120"/>
              </a:rPr>
              <a:t>DISTRIBUTE</a:t>
            </a:r>
            <a:endParaRPr lang="en-US" sz="1650" dirty="0"/>
          </a:p>
        </p:txBody>
      </p:sp>
      <p:sp>
        <p:nvSpPr>
          <p:cNvPr id="87" name="Text 85"/>
          <p:cNvSpPr/>
          <p:nvPr/>
        </p:nvSpPr>
        <p:spPr>
          <a:xfrm>
            <a:off x="14836118" y="9765543"/>
            <a:ext cx="3042704"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alpha val="55000"/>
                  </a:srgbClr>
                </a:solidFill>
                <a:latin typeface="Courier New" pitchFamily="34" charset="0"/>
                <a:ea typeface="Courier New" pitchFamily="34" charset="-122"/>
                <a:cs typeface="Courier New" pitchFamily="34" charset="-120"/>
              </a:rPr>
              <a:t>DIRECTION 2 · YELLOW</a:t>
            </a:r>
            <a:endParaRPr lang="en-US" sz="1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1013"/>
        </a:solidFill>
      </p:bgPr>
    </p:bg>
    <p:spTree>
      <p:nvGrpSpPr>
        <p:cNvPr id="1" name=""/>
        <p:cNvGrpSpPr/>
        <p:nvPr/>
      </p:nvGrpSpPr>
      <p:grpSpPr>
        <a:xfrm>
          <a:off x="0" y="0"/>
          <a:ext cx="0" cy="0"/>
          <a:chOff x="0" y="0"/>
          <a:chExt cx="0" cy="0"/>
        </a:xfrm>
      </p:grpSpPr>
      <p:sp>
        <p:nvSpPr>
          <p:cNvPr id="2" name="Shape 0"/>
          <p:cNvSpPr/>
          <p:nvPr/>
        </p:nvSpPr>
        <p:spPr>
          <a:xfrm>
            <a:off x="685800" y="0"/>
            <a:ext cx="16916401" cy="9515475"/>
          </a:xfrm>
          <a:prstGeom prst="rect">
            <a:avLst/>
          </a:prstGeom>
          <a:solidFill>
            <a:srgbClr val="0F1C24"/>
          </a:solidFill>
          <a:ln/>
        </p:spPr>
      </p:sp>
      <p:sp>
        <p:nvSpPr>
          <p:cNvPr id="3" name="Shape 1"/>
          <p:cNvSpPr/>
          <p:nvPr/>
        </p:nvSpPr>
        <p:spPr>
          <a:xfrm>
            <a:off x="-2920097" y="10215117"/>
            <a:ext cx="12197680" cy="18355"/>
          </a:xfrm>
          <a:prstGeom prst="rect">
            <a:avLst/>
          </a:prstGeom>
          <a:solidFill>
            <a:srgbClr val="F1EDE5">
              <a:alpha val="7000"/>
            </a:srgbClr>
          </a:solidFill>
          <a:ln/>
        </p:spPr>
      </p:sp>
      <p:sp>
        <p:nvSpPr>
          <p:cNvPr id="4" name="Shape 2"/>
          <p:cNvSpPr/>
          <p:nvPr/>
        </p:nvSpPr>
        <p:spPr>
          <a:xfrm>
            <a:off x="-2920097" y="6016113"/>
            <a:ext cx="12197680" cy="18355"/>
          </a:xfrm>
          <a:prstGeom prst="rect">
            <a:avLst/>
          </a:prstGeom>
          <a:solidFill>
            <a:srgbClr val="F1EDE5">
              <a:alpha val="7000"/>
            </a:srgbClr>
          </a:solidFill>
          <a:ln/>
        </p:spPr>
      </p:sp>
      <p:sp>
        <p:nvSpPr>
          <p:cNvPr id="5" name="Shape 3"/>
          <p:cNvSpPr/>
          <p:nvPr/>
        </p:nvSpPr>
        <p:spPr>
          <a:xfrm>
            <a:off x="3876372" y="9645501"/>
            <a:ext cx="5495320" cy="18355"/>
          </a:xfrm>
          <a:prstGeom prst="rect">
            <a:avLst/>
          </a:prstGeom>
          <a:solidFill>
            <a:srgbClr val="5FD6BB">
              <a:alpha val="13000"/>
            </a:srgbClr>
          </a:solidFill>
          <a:ln/>
        </p:spPr>
      </p:sp>
      <p:sp>
        <p:nvSpPr>
          <p:cNvPr id="6" name="Shape 4"/>
          <p:cNvSpPr/>
          <p:nvPr/>
        </p:nvSpPr>
        <p:spPr>
          <a:xfrm>
            <a:off x="3876372" y="7152443"/>
            <a:ext cx="5495320" cy="18355"/>
          </a:xfrm>
          <a:prstGeom prst="rect">
            <a:avLst/>
          </a:prstGeom>
          <a:solidFill>
            <a:srgbClr val="5FD6BB">
              <a:alpha val="13000"/>
            </a:srgbClr>
          </a:solidFill>
          <a:ln/>
        </p:spPr>
      </p:sp>
      <p:sp>
        <p:nvSpPr>
          <p:cNvPr id="7" name="Shape 5"/>
          <p:cNvSpPr/>
          <p:nvPr/>
        </p:nvSpPr>
        <p:spPr>
          <a:xfrm>
            <a:off x="3876372" y="7152443"/>
            <a:ext cx="18355" cy="2511414"/>
          </a:xfrm>
          <a:prstGeom prst="rect">
            <a:avLst/>
          </a:prstGeom>
          <a:solidFill>
            <a:srgbClr val="5FD6BB">
              <a:alpha val="13000"/>
            </a:srgbClr>
          </a:solidFill>
          <a:ln/>
        </p:spPr>
      </p:sp>
      <p:sp>
        <p:nvSpPr>
          <p:cNvPr id="8" name="Shape 6"/>
          <p:cNvSpPr/>
          <p:nvPr/>
        </p:nvSpPr>
        <p:spPr>
          <a:xfrm>
            <a:off x="9353337" y="7152443"/>
            <a:ext cx="18355" cy="2511414"/>
          </a:xfrm>
          <a:prstGeom prst="rect">
            <a:avLst/>
          </a:prstGeom>
          <a:solidFill>
            <a:srgbClr val="5FD6BB">
              <a:alpha val="13000"/>
            </a:srgbClr>
          </a:solidFill>
          <a:ln/>
        </p:spPr>
      </p:sp>
      <p:sp>
        <p:nvSpPr>
          <p:cNvPr id="9" name="Shape 7"/>
          <p:cNvSpPr/>
          <p:nvPr/>
        </p:nvSpPr>
        <p:spPr>
          <a:xfrm>
            <a:off x="6324600" y="-528637"/>
            <a:ext cx="5668169" cy="10954543"/>
          </a:xfrm>
          <a:prstGeom prst="roundRect">
            <a:avLst>
              <a:gd name="adj" fmla="val 13990"/>
            </a:avLst>
          </a:prstGeom>
          <a:ln w="14684">
            <a:solidFill>
              <a:srgbClr val="F1EDE5">
                <a:alpha val="10000"/>
              </a:srgbClr>
            </a:solidFill>
            <a:prstDash val="solid"/>
          </a:ln>
        </p:spPr>
      </p:sp>
      <p:sp>
        <p:nvSpPr>
          <p:cNvPr id="10" name="Text 8"/>
          <p:cNvSpPr/>
          <p:nvPr/>
        </p:nvSpPr>
        <p:spPr>
          <a:xfrm>
            <a:off x="7205663" y="740070"/>
            <a:ext cx="3876674" cy="291405"/>
          </a:xfrm>
          <a:prstGeom prst="rect">
            <a:avLst/>
          </a:prstGeom>
          <a:noFill/>
          <a:ln/>
        </p:spPr>
        <p:txBody>
          <a:bodyPr wrap="square" lIns="25400" tIns="25400" rIns="25400" bIns="25400" rtlCol="0" anchor="t">
            <a:normAutofit/>
          </a:bodyPr>
          <a:lstStyle/>
          <a:p>
            <a:pPr algn="ctr" indent="0" marL="0">
              <a:buNone/>
            </a:pPr>
            <a:r>
              <a:rPr lang="en-US" sz="1526" spc="92" kern="0" dirty="0">
                <a:solidFill>
                  <a:srgbClr val="F1EDE5">
                    <a:alpha val="45000"/>
                  </a:srgbClr>
                </a:solidFill>
                <a:latin typeface="Courier New" pitchFamily="34" charset="0"/>
                <a:ea typeface="Courier New" pitchFamily="34" charset="-122"/>
                <a:cs typeface="Courier New" pitchFamily="34" charset="-120"/>
              </a:rPr>
              <a:t>MESSAGES · THU 6:48 PM</a:t>
            </a:r>
            <a:endParaRPr lang="en-US" sz="1526" dirty="0"/>
          </a:p>
        </p:txBody>
      </p:sp>
      <p:sp>
        <p:nvSpPr>
          <p:cNvPr id="11" name="Shape 9"/>
          <p:cNvSpPr/>
          <p:nvPr/>
        </p:nvSpPr>
        <p:spPr>
          <a:xfrm>
            <a:off x="6853238" y="2643188"/>
            <a:ext cx="4581526" cy="3940116"/>
          </a:xfrm>
          <a:custGeom>
            <a:avLst/>
            <a:gdLst/>
            <a:ahLst/>
            <a:cxnLst/>
            <a:rect l="l" t="t" r="r" b="b"/>
            <a:pathLst>
              <a:path w="4581526" h="3940116">
                <a:moveTo>
                  <a:pt x="352425" y="0"/>
                </a:moveTo>
                <a:lnTo>
                  <a:pt x="4229101" y="0"/>
                </a:lnTo>
                <a:arcTo hR="352425" wR="352425" stAng="16200000" swAng="5400000"/>
                <a:lnTo>
                  <a:pt x="4581526" y="3587691"/>
                </a:lnTo>
                <a:arcTo hR="352425" wR="352425" stAng="0" swAng="5400000"/>
                <a:lnTo>
                  <a:pt x="88106" y="3940116"/>
                </a:lnTo>
                <a:arcTo hR="88106" wR="88106" stAng="5400000" swAng="5400000"/>
                <a:lnTo>
                  <a:pt x="0" y="352425"/>
                </a:lnTo>
                <a:arcTo hR="352425" wR="352425" stAng="10800000" swAng="5400000"/>
                <a:close/>
              </a:path>
            </a:pathLst>
          </a:custGeom>
          <a:solidFill>
            <a:srgbClr val="182933"/>
          </a:solidFill>
          <a:ln/>
          <a:effectLst>
            <a:outerShdw sx="100000" sy="100000" kx="0" ky="0" algn="bl" rotWithShape="0" blurRad="762000" dist="381000" dir="5400000">
              <a:srgbClr val="000000">
                <a:alpha val="60000"/>
              </a:srgbClr>
            </a:outerShdw>
          </a:effectLst>
        </p:spPr>
      </p:sp>
      <p:sp>
        <p:nvSpPr>
          <p:cNvPr id="12" name="Text 10"/>
          <p:cNvSpPr/>
          <p:nvPr/>
        </p:nvSpPr>
        <p:spPr>
          <a:xfrm>
            <a:off x="7258492" y="3030832"/>
            <a:ext cx="4148119" cy="291405"/>
          </a:xfrm>
          <a:prstGeom prst="rect">
            <a:avLst/>
          </a:prstGeom>
          <a:noFill/>
          <a:ln/>
        </p:spPr>
        <p:txBody>
          <a:bodyPr wrap="square" lIns="25400" tIns="25400" rIns="25400" bIns="25400" rtlCol="0" anchor="t">
            <a:normAutofit/>
          </a:bodyPr>
          <a:lstStyle/>
          <a:p>
            <a:pPr algn="l" indent="0" marL="0">
              <a:buNone/>
            </a:pPr>
            <a:r>
              <a:rPr lang="en-US" sz="1526" spc="92" kern="0" dirty="0">
                <a:solidFill>
                  <a:srgbClr val="F1EDE5">
                    <a:alpha val="50000"/>
                  </a:srgbClr>
                </a:solidFill>
                <a:latin typeface="Courier New" pitchFamily="34" charset="0"/>
                <a:ea typeface="Courier New" pitchFamily="34" charset="-122"/>
                <a:cs typeface="Courier New" pitchFamily="34" charset="-120"/>
              </a:rPr>
              <a:t>JOE'S FUEL &amp; GO</a:t>
            </a:r>
            <a:endParaRPr lang="en-US" sz="1526" dirty="0"/>
          </a:p>
        </p:txBody>
      </p:sp>
      <p:sp>
        <p:nvSpPr>
          <p:cNvPr id="13" name="Text 11"/>
          <p:cNvSpPr/>
          <p:nvPr/>
        </p:nvSpPr>
        <p:spPr>
          <a:xfrm>
            <a:off x="7258492" y="3477960"/>
            <a:ext cx="3884147" cy="970213"/>
          </a:xfrm>
          <a:prstGeom prst="rect">
            <a:avLst/>
          </a:prstGeom>
          <a:noFill/>
          <a:ln/>
        </p:spPr>
        <p:txBody>
          <a:bodyPr wrap="square" lIns="25400" tIns="25400" rIns="25400" bIns="25400" rtlCol="0" anchor="t">
            <a:normAutofit/>
          </a:bodyPr>
          <a:lstStyle/>
          <a:p>
            <a:pPr algn="l" indent="0" marL="0">
              <a:lnSpc>
                <a:spcPct val="99969"/>
              </a:lnSpc>
              <a:buNone/>
            </a:pPr>
            <a:r>
              <a:rPr lang="en-US" sz="3191" spc="-64" kern="0" dirty="0">
                <a:solidFill>
                  <a:srgbClr val="F1EDE5"/>
                </a:solidFill>
                <a:latin typeface="Arial" pitchFamily="34" charset="0"/>
                <a:ea typeface="Arial" pitchFamily="34" charset="-122"/>
                <a:cs typeface="Arial" pitchFamily="34" charset="-120"/>
              </a:rPr>
              <a:t>Coffee's on us tomorrow morning.</a:t>
            </a:r>
            <a:endParaRPr lang="en-US" sz="3191" dirty="0"/>
          </a:p>
        </p:txBody>
      </p:sp>
      <p:sp>
        <p:nvSpPr>
          <p:cNvPr id="14" name="Text 12"/>
          <p:cNvSpPr/>
          <p:nvPr/>
        </p:nvSpPr>
        <p:spPr>
          <a:xfrm>
            <a:off x="7258492" y="4603896"/>
            <a:ext cx="3884147" cy="1148204"/>
          </a:xfrm>
          <a:prstGeom prst="rect">
            <a:avLst/>
          </a:prstGeom>
          <a:noFill/>
          <a:ln/>
        </p:spPr>
        <p:txBody>
          <a:bodyPr wrap="square" lIns="25400" tIns="25400" rIns="25400" bIns="25400" rtlCol="0" anchor="t">
            <a:normAutofit/>
          </a:bodyPr>
          <a:lstStyle/>
          <a:p>
            <a:pPr algn="l" indent="0" marL="0">
              <a:lnSpc>
                <a:spcPct val="130909"/>
              </a:lnSpc>
              <a:buNone/>
            </a:pPr>
            <a:r>
              <a:rPr lang="en-US" sz="1943" dirty="0">
                <a:solidFill>
                  <a:srgbClr val="F1EDE5">
                    <a:alpha val="72000"/>
                  </a:srgbClr>
                </a:solidFill>
                <a:latin typeface="Arial" pitchFamily="34" charset="0"/>
                <a:ea typeface="Arial" pitchFamily="34" charset="-122"/>
                <a:cs typeface="Arial" pitchFamily="34" charset="-120"/>
              </a:rPr>
              <a:t>$25+ fill-up 7–10 AM First 30</a:t>
            </a:r>
            <a:endParaRPr lang="en-US" sz="1943" dirty="0"/>
          </a:p>
        </p:txBody>
      </p:sp>
      <p:sp>
        <p:nvSpPr>
          <p:cNvPr id="15" name="Text 13"/>
          <p:cNvSpPr/>
          <p:nvPr/>
        </p:nvSpPr>
        <p:spPr>
          <a:xfrm>
            <a:off x="7258492" y="5907823"/>
            <a:ext cx="4148119" cy="361156"/>
          </a:xfrm>
          <a:prstGeom prst="rect">
            <a:avLst/>
          </a:prstGeom>
          <a:noFill/>
          <a:ln/>
        </p:spPr>
        <p:txBody>
          <a:bodyPr wrap="square" lIns="25400" tIns="25400" rIns="25400" bIns="25400" rtlCol="0" anchor="t">
            <a:normAutofit/>
          </a:bodyPr>
          <a:lstStyle/>
          <a:p>
            <a:pPr algn="l" indent="0" marL="0">
              <a:buNone/>
            </a:pPr>
            <a:r>
              <a:rPr lang="en-US" sz="1943" u="sng" dirty="0">
                <a:solidFill>
                  <a:srgbClr val="5FD6BB"/>
                </a:solidFill>
                <a:latin typeface="Arial" pitchFamily="34" charset="0"/>
                <a:ea typeface="Arial" pitchFamily="34" charset="-122"/>
                <a:cs typeface="Arial" pitchFamily="34" charset="-120"/>
              </a:rPr>
              <a:t>Open offer</a:t>
            </a:r>
            <a:endParaRPr lang="en-US" sz="1943" dirty="0"/>
          </a:p>
        </p:txBody>
      </p:sp>
      <p:sp>
        <p:nvSpPr>
          <p:cNvPr id="16" name="Text 14"/>
          <p:cNvSpPr/>
          <p:nvPr/>
        </p:nvSpPr>
        <p:spPr>
          <a:xfrm>
            <a:off x="1390650" y="528637"/>
            <a:ext cx="4912537"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E2A24F"/>
                </a:solidFill>
                <a:latin typeface="Courier New" pitchFamily="34" charset="0"/>
                <a:ea typeface="Courier New" pitchFamily="34" charset="-122"/>
                <a:cs typeface="Courier New" pitchFamily="34" charset="-120"/>
              </a:rPr>
              <a:t>EXISTING RELATIONSHIP · 1 OF 104</a:t>
            </a:r>
            <a:endParaRPr lang="en-US" sz="1665" dirty="0"/>
          </a:p>
        </p:txBody>
      </p:sp>
      <p:sp>
        <p:nvSpPr>
          <p:cNvPr id="17" name="Text 15"/>
          <p:cNvSpPr/>
          <p:nvPr/>
        </p:nvSpPr>
        <p:spPr>
          <a:xfrm>
            <a:off x="1390650" y="8570570"/>
            <a:ext cx="3530904"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F1EDE5">
                    <a:alpha val="50000"/>
                  </a:srgbClr>
                </a:solidFill>
                <a:latin typeface="Courier New" pitchFamily="34" charset="0"/>
                <a:ea typeface="Courier New" pitchFamily="34" charset="-122"/>
                <a:cs typeface="Courier New" pitchFamily="34" charset="-120"/>
              </a:rPr>
              <a:t>AT HOME · A NORMAL TEXT</a:t>
            </a:r>
            <a:endParaRPr lang="en-US" sz="1665" dirty="0"/>
          </a:p>
        </p:txBody>
      </p:sp>
      <p:sp>
        <p:nvSpPr>
          <p:cNvPr id="18" name="Text 16"/>
          <p:cNvSpPr/>
          <p:nvPr/>
        </p:nvSpPr>
        <p:spPr>
          <a:xfrm>
            <a:off x="13966556" y="8570570"/>
            <a:ext cx="3223874"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F1EDE5">
                    <a:alpha val="50000"/>
                  </a:srgbClr>
                </a:solidFill>
                <a:latin typeface="Courier New" pitchFamily="34" charset="0"/>
                <a:ea typeface="Courier New" pitchFamily="34" charset="-122"/>
                <a:cs typeface="Courier New" pitchFamily="34" charset="-120"/>
              </a:rPr>
              <a:t>REPLY STOP TO OPT OUT</a:t>
            </a:r>
            <a:endParaRPr lang="en-US" sz="1665" dirty="0"/>
          </a:p>
        </p:txBody>
      </p:sp>
      <p:sp>
        <p:nvSpPr>
          <p:cNvPr id="19" name="Text 17"/>
          <p:cNvSpPr/>
          <p:nvPr/>
        </p:nvSpPr>
        <p:spPr>
          <a:xfrm>
            <a:off x="685788" y="9765543"/>
            <a:ext cx="3194819"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alpha val="55000"/>
                  </a:srgbClr>
                </a:solidFill>
                <a:latin typeface="Courier New" pitchFamily="34" charset="0"/>
                <a:ea typeface="Courier New" pitchFamily="34" charset="-122"/>
                <a:cs typeface="Courier New" pitchFamily="34" charset="-120"/>
              </a:rPr>
              <a:t>SCENE 09A · 0:34–0:38</a:t>
            </a:r>
            <a:endParaRPr lang="en-US" sz="1650" dirty="0"/>
          </a:p>
        </p:txBody>
      </p:sp>
      <p:sp>
        <p:nvSpPr>
          <p:cNvPr id="20" name="Text 18"/>
          <p:cNvSpPr/>
          <p:nvPr/>
        </p:nvSpPr>
        <p:spPr>
          <a:xfrm>
            <a:off x="7276889" y="9765543"/>
            <a:ext cx="4259759"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solidFill>
                <a:latin typeface="Courier New" pitchFamily="34" charset="0"/>
                <a:ea typeface="Courier New" pitchFamily="34" charset="-122"/>
                <a:cs typeface="Courier New" pitchFamily="34" charset="-120"/>
              </a:rPr>
              <a:t>EXISTING RELATIONSHIP · TEXT</a:t>
            </a:r>
            <a:endParaRPr lang="en-US" sz="1650" dirty="0"/>
          </a:p>
        </p:txBody>
      </p:sp>
      <p:sp>
        <p:nvSpPr>
          <p:cNvPr id="21" name="Text 19"/>
          <p:cNvSpPr/>
          <p:nvPr/>
        </p:nvSpPr>
        <p:spPr>
          <a:xfrm>
            <a:off x="14836118" y="9765543"/>
            <a:ext cx="3042704"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alpha val="55000"/>
                  </a:srgbClr>
                </a:solidFill>
                <a:latin typeface="Courier New" pitchFamily="34" charset="0"/>
                <a:ea typeface="Courier New" pitchFamily="34" charset="-122"/>
                <a:cs typeface="Courier New" pitchFamily="34" charset="-120"/>
              </a:rPr>
              <a:t>FOCUSED DARK · GREEN</a:t>
            </a:r>
            <a:endParaRPr lang="en-US" sz="16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1013"/>
        </a:solidFill>
      </p:bgPr>
    </p:bg>
    <p:spTree>
      <p:nvGrpSpPr>
        <p:cNvPr id="1" name=""/>
        <p:cNvGrpSpPr/>
        <p:nvPr/>
      </p:nvGrpSpPr>
      <p:grpSpPr>
        <a:xfrm>
          <a:off x="0" y="0"/>
          <a:ext cx="0" cy="0"/>
          <a:chOff x="0" y="0"/>
          <a:chExt cx="0" cy="0"/>
        </a:xfrm>
      </p:grpSpPr>
      <p:sp>
        <p:nvSpPr>
          <p:cNvPr id="2" name="Shape 0"/>
          <p:cNvSpPr/>
          <p:nvPr/>
        </p:nvSpPr>
        <p:spPr>
          <a:xfrm>
            <a:off x="685800" y="0"/>
            <a:ext cx="16916401" cy="9515475"/>
          </a:xfrm>
          <a:prstGeom prst="rect">
            <a:avLst/>
          </a:prstGeom>
          <a:solidFill>
            <a:srgbClr val="0A1820"/>
          </a:solidFill>
          <a:ln/>
        </p:spPr>
      </p:sp>
      <p:sp>
        <p:nvSpPr>
          <p:cNvPr id="3" name="Shape 1"/>
          <p:cNvSpPr/>
          <p:nvPr/>
        </p:nvSpPr>
        <p:spPr>
          <a:xfrm>
            <a:off x="685800" y="7753350"/>
            <a:ext cx="16916401" cy="1769467"/>
          </a:xfrm>
          <a:prstGeom prst="rect">
            <a:avLst/>
          </a:prstGeom>
          <a:solidFill>
            <a:srgbClr val="F1EDE5">
              <a:alpha val="3000"/>
            </a:srgbClr>
          </a:solidFill>
          <a:ln/>
        </p:spPr>
      </p:sp>
      <p:sp>
        <p:nvSpPr>
          <p:cNvPr id="4" name="Shape 2"/>
          <p:cNvSpPr/>
          <p:nvPr/>
        </p:nvSpPr>
        <p:spPr>
          <a:xfrm>
            <a:off x="685800" y="7753350"/>
            <a:ext cx="16916401" cy="9525"/>
          </a:xfrm>
          <a:prstGeom prst="rect">
            <a:avLst/>
          </a:prstGeom>
          <a:solidFill>
            <a:srgbClr val="F1EDE5">
              <a:alpha val="18000"/>
            </a:srgbClr>
          </a:solidFill>
          <a:ln/>
        </p:spPr>
      </p:sp>
      <p:sp>
        <p:nvSpPr>
          <p:cNvPr id="5" name="Shape 3"/>
          <p:cNvSpPr/>
          <p:nvPr/>
        </p:nvSpPr>
        <p:spPr>
          <a:xfrm>
            <a:off x="685800" y="8458199"/>
            <a:ext cx="16916401" cy="9525"/>
          </a:xfrm>
          <a:prstGeom prst="rect">
            <a:avLst/>
          </a:prstGeom>
          <a:solidFill>
            <a:srgbClr val="F1EDE5">
              <a:alpha val="10000"/>
            </a:srgbClr>
          </a:solidFill>
          <a:ln/>
        </p:spPr>
      </p:sp>
      <p:sp>
        <p:nvSpPr>
          <p:cNvPr id="6" name="Shape 4"/>
          <p:cNvSpPr/>
          <p:nvPr/>
        </p:nvSpPr>
        <p:spPr>
          <a:xfrm>
            <a:off x="2271713" y="1497806"/>
            <a:ext cx="13744575" cy="6255543"/>
          </a:xfrm>
          <a:prstGeom prst="rect">
            <a:avLst/>
          </a:prstGeom>
          <a:gradFill rotWithShape="1">
            <a:gsLst>
              <a:gs pos="0">
                <a:srgbClr val="E2A24F">
                  <a:alpha val="22000"/>
                </a:srgbClr>
              </a:gs>
              <a:gs pos="80000">
                <a:srgbClr val="E2A24F">
                  <a:alpha val="0"/>
                </a:srgbClr>
              </a:gs>
            </a:gsLst>
            <a:path path="circle">
              <a:fillToRect l="50000" t="100000" r="50000" b="0"/>
            </a:path>
          </a:gradFill>
          <a:ln/>
        </p:spPr>
      </p:sp>
      <p:sp>
        <p:nvSpPr>
          <p:cNvPr id="7" name="Shape 5"/>
          <p:cNvSpPr/>
          <p:nvPr/>
        </p:nvSpPr>
        <p:spPr>
          <a:xfrm>
            <a:off x="2271713" y="7738665"/>
            <a:ext cx="13744575" cy="14684"/>
          </a:xfrm>
          <a:prstGeom prst="rect">
            <a:avLst/>
          </a:prstGeom>
          <a:solidFill>
            <a:srgbClr val="F1EDE5">
              <a:alpha val="45000"/>
            </a:srgbClr>
          </a:solidFill>
          <a:ln/>
        </p:spPr>
      </p:sp>
      <p:sp>
        <p:nvSpPr>
          <p:cNvPr id="8" name="Shape 6"/>
          <p:cNvSpPr/>
          <p:nvPr/>
        </p:nvSpPr>
        <p:spPr>
          <a:xfrm>
            <a:off x="2271713" y="1497806"/>
            <a:ext cx="13744575" cy="9525"/>
          </a:xfrm>
          <a:prstGeom prst="rect">
            <a:avLst/>
          </a:prstGeom>
          <a:solidFill>
            <a:srgbClr val="F1EDE5">
              <a:alpha val="22000"/>
            </a:srgbClr>
          </a:solidFill>
          <a:ln/>
        </p:spPr>
      </p:sp>
      <p:sp>
        <p:nvSpPr>
          <p:cNvPr id="9" name="Shape 7"/>
          <p:cNvSpPr/>
          <p:nvPr/>
        </p:nvSpPr>
        <p:spPr>
          <a:xfrm>
            <a:off x="2271713" y="1497806"/>
            <a:ext cx="9525" cy="6255543"/>
          </a:xfrm>
          <a:prstGeom prst="rect">
            <a:avLst/>
          </a:prstGeom>
          <a:solidFill>
            <a:srgbClr val="F1EDE5">
              <a:alpha val="22000"/>
            </a:srgbClr>
          </a:solidFill>
          <a:ln/>
        </p:spPr>
      </p:sp>
      <p:sp>
        <p:nvSpPr>
          <p:cNvPr id="10" name="Shape 8"/>
          <p:cNvSpPr/>
          <p:nvPr/>
        </p:nvSpPr>
        <p:spPr>
          <a:xfrm>
            <a:off x="16008945" y="1497806"/>
            <a:ext cx="9525" cy="6255543"/>
          </a:xfrm>
          <a:prstGeom prst="rect">
            <a:avLst/>
          </a:prstGeom>
          <a:solidFill>
            <a:srgbClr val="F1EDE5">
              <a:alpha val="22000"/>
            </a:srgbClr>
          </a:solidFill>
          <a:ln/>
        </p:spPr>
      </p:sp>
      <p:sp>
        <p:nvSpPr>
          <p:cNvPr id="11" name="Shape 9"/>
          <p:cNvSpPr/>
          <p:nvPr/>
        </p:nvSpPr>
        <p:spPr>
          <a:xfrm>
            <a:off x="2014736" y="888405"/>
            <a:ext cx="14258527" cy="624086"/>
          </a:xfrm>
          <a:prstGeom prst="rect">
            <a:avLst/>
          </a:prstGeom>
          <a:solidFill>
            <a:srgbClr val="E2A24F">
              <a:alpha val="8000"/>
            </a:srgbClr>
          </a:solidFill>
          <a:ln/>
        </p:spPr>
      </p:sp>
      <p:sp>
        <p:nvSpPr>
          <p:cNvPr id="12" name="Shape 10"/>
          <p:cNvSpPr/>
          <p:nvPr/>
        </p:nvSpPr>
        <p:spPr>
          <a:xfrm>
            <a:off x="2014736" y="888405"/>
            <a:ext cx="14258527" cy="9525"/>
          </a:xfrm>
          <a:prstGeom prst="rect">
            <a:avLst/>
          </a:prstGeom>
          <a:solidFill>
            <a:srgbClr val="E2A24F">
              <a:alpha val="35000"/>
            </a:srgbClr>
          </a:solidFill>
          <a:ln/>
        </p:spPr>
      </p:sp>
      <p:sp>
        <p:nvSpPr>
          <p:cNvPr id="13" name="Shape 11"/>
          <p:cNvSpPr/>
          <p:nvPr/>
        </p:nvSpPr>
        <p:spPr>
          <a:xfrm>
            <a:off x="2014736" y="888405"/>
            <a:ext cx="9525" cy="624086"/>
          </a:xfrm>
          <a:prstGeom prst="rect">
            <a:avLst/>
          </a:prstGeom>
          <a:solidFill>
            <a:srgbClr val="E2A24F">
              <a:alpha val="35000"/>
            </a:srgbClr>
          </a:solidFill>
          <a:ln/>
        </p:spPr>
      </p:sp>
      <p:sp>
        <p:nvSpPr>
          <p:cNvPr id="14" name="Shape 12"/>
          <p:cNvSpPr/>
          <p:nvPr/>
        </p:nvSpPr>
        <p:spPr>
          <a:xfrm>
            <a:off x="16265921" y="888405"/>
            <a:ext cx="9525" cy="624086"/>
          </a:xfrm>
          <a:prstGeom prst="rect">
            <a:avLst/>
          </a:prstGeom>
          <a:solidFill>
            <a:srgbClr val="E2A24F">
              <a:alpha val="35000"/>
            </a:srgbClr>
          </a:solidFill>
          <a:ln/>
        </p:spPr>
      </p:sp>
      <p:sp>
        <p:nvSpPr>
          <p:cNvPr id="15" name="Shape 13"/>
          <p:cNvSpPr/>
          <p:nvPr/>
        </p:nvSpPr>
        <p:spPr>
          <a:xfrm>
            <a:off x="2279055" y="1505148"/>
            <a:ext cx="13729890" cy="9525"/>
          </a:xfrm>
          <a:prstGeom prst="rect">
            <a:avLst/>
          </a:prstGeom>
          <a:solidFill>
            <a:srgbClr val="E2A24F">
              <a:alpha val="35000"/>
            </a:srgbClr>
          </a:solidFill>
          <a:ln/>
        </p:spPr>
      </p:sp>
      <p:sp>
        <p:nvSpPr>
          <p:cNvPr id="16" name="Shape 14"/>
          <p:cNvSpPr/>
          <p:nvPr/>
        </p:nvSpPr>
        <p:spPr>
          <a:xfrm>
            <a:off x="5627093" y="1505148"/>
            <a:ext cx="9525" cy="6233517"/>
          </a:xfrm>
          <a:prstGeom prst="rect">
            <a:avLst/>
          </a:prstGeom>
          <a:solidFill>
            <a:srgbClr val="F1EDE5">
              <a:alpha val="14000"/>
            </a:srgbClr>
          </a:solidFill>
          <a:ln/>
        </p:spPr>
      </p:sp>
      <p:sp>
        <p:nvSpPr>
          <p:cNvPr id="17" name="Shape 15"/>
          <p:cNvSpPr/>
          <p:nvPr/>
        </p:nvSpPr>
        <p:spPr>
          <a:xfrm>
            <a:off x="8975130" y="1505148"/>
            <a:ext cx="9525" cy="6233517"/>
          </a:xfrm>
          <a:prstGeom prst="rect">
            <a:avLst/>
          </a:prstGeom>
          <a:solidFill>
            <a:srgbClr val="F1EDE5">
              <a:alpha val="14000"/>
            </a:srgbClr>
          </a:solidFill>
          <a:ln/>
        </p:spPr>
      </p:sp>
      <p:sp>
        <p:nvSpPr>
          <p:cNvPr id="18" name="Shape 16"/>
          <p:cNvSpPr/>
          <p:nvPr/>
        </p:nvSpPr>
        <p:spPr>
          <a:xfrm>
            <a:off x="12323168" y="1505148"/>
            <a:ext cx="9525" cy="6233517"/>
          </a:xfrm>
          <a:prstGeom prst="rect">
            <a:avLst/>
          </a:prstGeom>
          <a:solidFill>
            <a:srgbClr val="F1EDE5">
              <a:alpha val="14000"/>
            </a:srgbClr>
          </a:solidFill>
          <a:ln/>
        </p:spPr>
      </p:sp>
      <p:sp>
        <p:nvSpPr>
          <p:cNvPr id="19" name="Shape 17"/>
          <p:cNvSpPr/>
          <p:nvPr/>
        </p:nvSpPr>
        <p:spPr>
          <a:xfrm>
            <a:off x="13204230" y="2474317"/>
            <a:ext cx="2305447" cy="5293718"/>
          </a:xfrm>
          <a:prstGeom prst="rect">
            <a:avLst/>
          </a:prstGeom>
          <a:gradFill rotWithShape="1">
            <a:gsLst>
              <a:gs pos="0">
                <a:srgbClr val="E2A24F">
                  <a:alpha val="28000"/>
                </a:srgbClr>
              </a:gs>
              <a:gs pos="100000">
                <a:srgbClr val="E2A24F">
                  <a:alpha val="0"/>
                </a:srgbClr>
              </a:gs>
            </a:gsLst>
            <a:lin ang="16200000" scaled="0"/>
          </a:gradFill>
          <a:ln/>
        </p:spPr>
      </p:sp>
      <p:sp>
        <p:nvSpPr>
          <p:cNvPr id="20" name="Shape 18"/>
          <p:cNvSpPr/>
          <p:nvPr/>
        </p:nvSpPr>
        <p:spPr>
          <a:xfrm>
            <a:off x="13204230" y="2474317"/>
            <a:ext cx="2305447" cy="9525"/>
          </a:xfrm>
          <a:prstGeom prst="rect">
            <a:avLst/>
          </a:prstGeom>
          <a:solidFill>
            <a:srgbClr val="F1EDE5">
              <a:alpha val="30000"/>
            </a:srgbClr>
          </a:solidFill>
          <a:ln/>
        </p:spPr>
      </p:sp>
      <p:sp>
        <p:nvSpPr>
          <p:cNvPr id="21" name="Shape 19"/>
          <p:cNvSpPr/>
          <p:nvPr/>
        </p:nvSpPr>
        <p:spPr>
          <a:xfrm>
            <a:off x="13204230" y="2474317"/>
            <a:ext cx="9525" cy="5293718"/>
          </a:xfrm>
          <a:prstGeom prst="rect">
            <a:avLst/>
          </a:prstGeom>
          <a:solidFill>
            <a:srgbClr val="F1EDE5">
              <a:alpha val="30000"/>
            </a:srgbClr>
          </a:solidFill>
          <a:ln/>
        </p:spPr>
      </p:sp>
      <p:sp>
        <p:nvSpPr>
          <p:cNvPr id="22" name="Shape 20"/>
          <p:cNvSpPr/>
          <p:nvPr/>
        </p:nvSpPr>
        <p:spPr>
          <a:xfrm>
            <a:off x="15502335" y="2474317"/>
            <a:ext cx="9525" cy="5293718"/>
          </a:xfrm>
          <a:prstGeom prst="rect">
            <a:avLst/>
          </a:prstGeom>
          <a:solidFill>
            <a:srgbClr val="F1EDE5">
              <a:alpha val="30000"/>
            </a:srgbClr>
          </a:solidFill>
          <a:ln/>
        </p:spPr>
      </p:sp>
      <p:sp>
        <p:nvSpPr>
          <p:cNvPr id="23" name="Shape 21"/>
          <p:cNvSpPr/>
          <p:nvPr/>
        </p:nvSpPr>
        <p:spPr>
          <a:xfrm>
            <a:off x="14261505" y="5029398"/>
            <a:ext cx="123326" cy="123326"/>
          </a:xfrm>
          <a:prstGeom prst="ellipse">
            <a:avLst/>
          </a:prstGeom>
          <a:solidFill>
            <a:srgbClr val="E2A24F">
              <a:alpha val="60000"/>
            </a:srgbClr>
          </a:solidFill>
          <a:ln/>
        </p:spPr>
      </p:sp>
      <p:sp>
        <p:nvSpPr>
          <p:cNvPr id="24" name="Shape 22"/>
          <p:cNvSpPr/>
          <p:nvPr/>
        </p:nvSpPr>
        <p:spPr>
          <a:xfrm>
            <a:off x="2279055" y="5293717"/>
            <a:ext cx="10044113" cy="9525"/>
          </a:xfrm>
          <a:prstGeom prst="rect">
            <a:avLst/>
          </a:prstGeom>
          <a:solidFill>
            <a:srgbClr val="F1EDE5">
              <a:alpha val="35000"/>
            </a:srgbClr>
          </a:solidFill>
          <a:ln/>
        </p:spPr>
      </p:sp>
      <p:sp>
        <p:nvSpPr>
          <p:cNvPr id="25" name="Shape 23"/>
          <p:cNvSpPr/>
          <p:nvPr/>
        </p:nvSpPr>
        <p:spPr>
          <a:xfrm>
            <a:off x="2279055" y="5293717"/>
            <a:ext cx="10044113" cy="2449308"/>
          </a:xfrm>
          <a:prstGeom prst="rect">
            <a:avLst/>
          </a:prstGeom>
          <a:solidFill>
            <a:srgbClr val="0A1820">
              <a:alpha val="75000"/>
            </a:srgbClr>
          </a:solidFill>
          <a:ln/>
        </p:spPr>
      </p:sp>
      <p:sp>
        <p:nvSpPr>
          <p:cNvPr id="26" name="Shape 24"/>
          <p:cNvSpPr/>
          <p:nvPr/>
        </p:nvSpPr>
        <p:spPr>
          <a:xfrm>
            <a:off x="2807692" y="2826742"/>
            <a:ext cx="6182122" cy="2481660"/>
          </a:xfrm>
          <a:prstGeom prst="rect">
            <a:avLst/>
          </a:prstGeom>
          <a:solidFill>
            <a:srgbClr val="F1EDE5">
              <a:alpha val="6000"/>
            </a:srgbClr>
          </a:solidFill>
          <a:ln w="7342">
            <a:solidFill>
              <a:srgbClr val="F1EDE5">
                <a:alpha val="15000"/>
              </a:srgbClr>
            </a:solidFill>
            <a:prstDash val="solid"/>
          </a:ln>
        </p:spPr>
      </p:sp>
      <p:sp>
        <p:nvSpPr>
          <p:cNvPr id="27" name="Shape 25"/>
          <p:cNvSpPr/>
          <p:nvPr/>
        </p:nvSpPr>
        <p:spPr>
          <a:xfrm>
            <a:off x="9503768" y="3355380"/>
            <a:ext cx="2643188" cy="1938337"/>
          </a:xfrm>
          <a:prstGeom prst="rect">
            <a:avLst/>
          </a:prstGeom>
          <a:solidFill>
            <a:srgbClr val="0C1418"/>
          </a:solidFill>
          <a:ln w="14684">
            <a:solidFill>
              <a:srgbClr val="5FD6BB"/>
            </a:solidFill>
            <a:prstDash val="solid"/>
          </a:ln>
          <a:effectLst>
            <a:outerShdw sx="100000" sy="100000" kx="0" ky="0" algn="bl" rotWithShape="0" blurRad="571500" dist="50800" dir="16200000">
              <a:srgbClr val="5FD6BB">
                <a:alpha val="25000"/>
              </a:srgbClr>
            </a:outerShdw>
          </a:effectLst>
        </p:spPr>
      </p:sp>
      <p:sp>
        <p:nvSpPr>
          <p:cNvPr id="28" name="Text 26"/>
          <p:cNvSpPr/>
          <p:nvPr/>
        </p:nvSpPr>
        <p:spPr>
          <a:xfrm>
            <a:off x="9729883" y="3563886"/>
            <a:ext cx="2267154" cy="383183"/>
          </a:xfrm>
          <a:prstGeom prst="rect">
            <a:avLst/>
          </a:prstGeom>
          <a:noFill/>
          <a:ln/>
        </p:spPr>
        <p:txBody>
          <a:bodyPr wrap="square" lIns="25400" tIns="25400" rIns="25400" bIns="25400" rtlCol="0" anchor="t">
            <a:normAutofit/>
          </a:bodyPr>
          <a:lstStyle/>
          <a:p>
            <a:pPr algn="l" indent="0" marL="0">
              <a:buNone/>
            </a:pPr>
            <a:r>
              <a:rPr lang="en-US" sz="1041" spc="62" kern="0" dirty="0">
                <a:solidFill>
                  <a:srgbClr val="F1EDE5">
                    <a:alpha val="55000"/>
                  </a:srgbClr>
                </a:solidFill>
                <a:latin typeface="Courier New" pitchFamily="34" charset="0"/>
                <a:ea typeface="Courier New" pitchFamily="34" charset="-122"/>
                <a:cs typeface="Courier New" pitchFamily="34" charset="-120"/>
              </a:rPr>
              <a:t>JOE'S FUEL &amp; GO · 2 DOORS DOWN</a:t>
            </a:r>
            <a:endParaRPr lang="en-US" sz="1041" dirty="0"/>
          </a:p>
        </p:txBody>
      </p:sp>
      <p:sp>
        <p:nvSpPr>
          <p:cNvPr id="29" name="Text 27"/>
          <p:cNvSpPr/>
          <p:nvPr/>
        </p:nvSpPr>
        <p:spPr>
          <a:xfrm>
            <a:off x="9729883" y="4014685"/>
            <a:ext cx="2267154" cy="619510"/>
          </a:xfrm>
          <a:prstGeom prst="rect">
            <a:avLst/>
          </a:prstGeom>
          <a:noFill/>
          <a:ln/>
        </p:spPr>
        <p:txBody>
          <a:bodyPr wrap="square" lIns="25400" tIns="25400" rIns="25400" bIns="25400" rtlCol="0" anchor="t">
            <a:normAutofit/>
          </a:bodyPr>
          <a:lstStyle/>
          <a:p>
            <a:pPr algn="l" indent="0" marL="0">
              <a:lnSpc>
                <a:spcPct val="96585"/>
              </a:lnSpc>
              <a:buNone/>
            </a:pPr>
            <a:r>
              <a:rPr lang="en-US" sz="2081" spc="-42" kern="0" dirty="0">
                <a:solidFill>
                  <a:srgbClr val="F1EDE5"/>
                </a:solidFill>
                <a:latin typeface="Arial" pitchFamily="34" charset="0"/>
                <a:ea typeface="Arial" pitchFamily="34" charset="-122"/>
                <a:cs typeface="Arial" pitchFamily="34" charset="-120"/>
              </a:rPr>
              <a:t>Coffee's on us Friday morning.</a:t>
            </a:r>
            <a:endParaRPr lang="en-US" sz="2081" dirty="0"/>
          </a:p>
        </p:txBody>
      </p:sp>
      <p:sp>
        <p:nvSpPr>
          <p:cNvPr id="30" name="Text 28"/>
          <p:cNvSpPr/>
          <p:nvPr/>
        </p:nvSpPr>
        <p:spPr>
          <a:xfrm>
            <a:off x="9729883" y="4701811"/>
            <a:ext cx="2410050" cy="236339"/>
          </a:xfrm>
          <a:prstGeom prst="rect">
            <a:avLst/>
          </a:prstGeom>
          <a:noFill/>
          <a:ln/>
        </p:spPr>
        <p:txBody>
          <a:bodyPr wrap="square" lIns="25400" tIns="25400" rIns="25400" bIns="25400" rtlCol="0" anchor="t">
            <a:normAutofit/>
          </a:bodyPr>
          <a:lstStyle/>
          <a:p>
            <a:pPr algn="l" indent="0" marL="0">
              <a:lnSpc>
                <a:spcPct val="128571"/>
              </a:lnSpc>
              <a:buNone/>
            </a:pPr>
            <a:r>
              <a:rPr lang="en-US" sz="1041" dirty="0">
                <a:solidFill>
                  <a:srgbClr val="F1EDE5">
                    <a:alpha val="70000"/>
                  </a:srgbClr>
                </a:solidFill>
                <a:latin typeface="Arial" pitchFamily="34" charset="0"/>
                <a:ea typeface="Arial" pitchFamily="34" charset="-122"/>
                <a:cs typeface="Arial" pitchFamily="34" charset="-120"/>
              </a:rPr>
              <a:t>$25+ fill-up · 7–10 AM · First 30</a:t>
            </a:r>
            <a:endParaRPr lang="en-US" sz="1041" dirty="0"/>
          </a:p>
        </p:txBody>
      </p:sp>
      <p:sp>
        <p:nvSpPr>
          <p:cNvPr id="31" name="Shape 29"/>
          <p:cNvSpPr/>
          <p:nvPr/>
        </p:nvSpPr>
        <p:spPr>
          <a:xfrm>
            <a:off x="9729883" y="5005765"/>
            <a:ext cx="381794" cy="381794"/>
          </a:xfrm>
          <a:prstGeom prst="rect">
            <a:avLst/>
          </a:prstGeom>
          <a:blipFill>
            <a:blip r:embed="rId1"/>
            <a:tile tx="0" ty="0" sx="100000" sy="100000" flip="none" algn="tl"/>
          </a:blipFill>
          <a:ln w="14684">
            <a:solidFill>
              <a:srgbClr val="5FD6BB"/>
            </a:solidFill>
            <a:prstDash val="solid"/>
          </a:ln>
        </p:spPr>
      </p:sp>
      <p:sp>
        <p:nvSpPr>
          <p:cNvPr id="32" name="Text 30"/>
          <p:cNvSpPr/>
          <p:nvPr/>
        </p:nvSpPr>
        <p:spPr>
          <a:xfrm>
            <a:off x="10217394" y="5115898"/>
            <a:ext cx="1134565" cy="199628"/>
          </a:xfrm>
          <a:prstGeom prst="rect">
            <a:avLst/>
          </a:prstGeom>
          <a:noFill/>
          <a:ln/>
        </p:spPr>
        <p:txBody>
          <a:bodyPr wrap="square" lIns="25400" tIns="25400" rIns="25400" bIns="25400" rtlCol="0" anchor="t">
            <a:normAutofit/>
          </a:bodyPr>
          <a:lstStyle/>
          <a:p>
            <a:pPr algn="l" indent="0" marL="0">
              <a:buNone/>
            </a:pPr>
            <a:r>
              <a:rPr lang="en-US" sz="971" spc="58" kern="0" dirty="0">
                <a:solidFill>
                  <a:srgbClr val="5FD6BB"/>
                </a:solidFill>
                <a:latin typeface="Courier New" pitchFamily="34" charset="0"/>
                <a:ea typeface="Courier New" pitchFamily="34" charset="-122"/>
                <a:cs typeface="Courier New" pitchFamily="34" charset="-120"/>
              </a:rPr>
              <a:t>SCAN TO CLAIM</a:t>
            </a:r>
            <a:endParaRPr lang="en-US" sz="971" dirty="0"/>
          </a:p>
        </p:txBody>
      </p:sp>
      <p:sp>
        <p:nvSpPr>
          <p:cNvPr id="33" name="Shape 31"/>
          <p:cNvSpPr/>
          <p:nvPr/>
        </p:nvSpPr>
        <p:spPr>
          <a:xfrm>
            <a:off x="8446492" y="6439099"/>
            <a:ext cx="193822" cy="193822"/>
          </a:xfrm>
          <a:prstGeom prst="ellipse">
            <a:avLst/>
          </a:prstGeom>
          <a:solidFill>
            <a:srgbClr val="E2A24F"/>
          </a:solidFill>
          <a:ln/>
          <a:effectLst>
            <a:outerShdw sx="100000" sy="100000" kx="0" ky="0" algn="bl" rotWithShape="0" blurRad="101600" dist="50800" dir="16200000">
              <a:srgbClr val="E2A24F">
                <a:alpha val="18000"/>
              </a:srgbClr>
            </a:outerShdw>
          </a:effectLst>
        </p:spPr>
      </p:sp>
      <p:sp>
        <p:nvSpPr>
          <p:cNvPr id="34" name="Shape 32"/>
          <p:cNvSpPr/>
          <p:nvPr/>
        </p:nvSpPr>
        <p:spPr>
          <a:xfrm rot="-3360001">
            <a:off x="8329002" y="5951223"/>
            <a:ext cx="1409701" cy="9525"/>
          </a:xfrm>
          <a:prstGeom prst="rect">
            <a:avLst/>
          </a:prstGeom>
          <a:solidFill>
            <a:srgbClr val="5FD6BB"/>
          </a:solidFill>
          <a:ln/>
        </p:spPr>
      </p:sp>
      <p:sp>
        <p:nvSpPr>
          <p:cNvPr id="35" name="Text 33"/>
          <p:cNvSpPr/>
          <p:nvPr/>
        </p:nvSpPr>
        <p:spPr>
          <a:xfrm>
            <a:off x="1390650" y="528637"/>
            <a:ext cx="5987141"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F1EDE5">
                    <a:alpha val="50000"/>
                  </a:srgbClr>
                </a:solidFill>
                <a:latin typeface="Courier New" pitchFamily="34" charset="0"/>
                <a:ea typeface="Courier New" pitchFamily="34" charset="-122"/>
                <a:cs typeface="Courier New" pitchFamily="34" charset="-120"/>
              </a:rPr>
              <a:t>CAFÉ · 122 MAIN ST · THURSDAY · 6:49 PM</a:t>
            </a:r>
            <a:endParaRPr lang="en-US" sz="1665" dirty="0"/>
          </a:p>
        </p:txBody>
      </p:sp>
      <p:sp>
        <p:nvSpPr>
          <p:cNvPr id="36" name="Text 34"/>
          <p:cNvSpPr/>
          <p:nvPr/>
        </p:nvSpPr>
        <p:spPr>
          <a:xfrm>
            <a:off x="12989643" y="528637"/>
            <a:ext cx="4298478"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5FD6BB"/>
                </a:solidFill>
                <a:latin typeface="Courier New" pitchFamily="34" charset="0"/>
                <a:ea typeface="Courier New" pitchFamily="34" charset="-122"/>
                <a:cs typeface="Courier New" pitchFamily="34" charset="-120"/>
              </a:rPr>
              <a:t>UPTICK SCREEN · NEARBY REACH</a:t>
            </a:r>
            <a:endParaRPr lang="en-US" sz="1665" dirty="0"/>
          </a:p>
        </p:txBody>
      </p:sp>
      <p:sp>
        <p:nvSpPr>
          <p:cNvPr id="37" name="Text 35"/>
          <p:cNvSpPr/>
          <p:nvPr/>
        </p:nvSpPr>
        <p:spPr>
          <a:xfrm>
            <a:off x="1390650" y="8570570"/>
            <a:ext cx="8289927"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E2A24F"/>
                </a:solidFill>
                <a:latin typeface="Courier New" pitchFamily="34" charset="0"/>
                <a:ea typeface="Courier New" pitchFamily="34" charset="-122"/>
                <a:cs typeface="Courier New" pitchFamily="34" charset="-120"/>
              </a:rPr>
              <a:t>NEW RELATIONSHIP · SOMEONE WHO HAS NEVER BEEN TO JOE'S</a:t>
            </a:r>
            <a:endParaRPr lang="en-US" sz="1665" dirty="0"/>
          </a:p>
        </p:txBody>
      </p:sp>
      <p:sp>
        <p:nvSpPr>
          <p:cNvPr id="38" name="Text 36"/>
          <p:cNvSpPr/>
          <p:nvPr/>
        </p:nvSpPr>
        <p:spPr>
          <a:xfrm>
            <a:off x="15083027" y="8570570"/>
            <a:ext cx="1995756"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F1EDE5">
                    <a:alpha val="50000"/>
                  </a:srgbClr>
                </a:solidFill>
                <a:latin typeface="Courier New" pitchFamily="34" charset="0"/>
                <a:ea typeface="Courier New" pitchFamily="34" charset="-122"/>
                <a:cs typeface="Courier New" pitchFamily="34" charset="-120"/>
              </a:rPr>
              <a:t>SCAN · 300 MS</a:t>
            </a:r>
            <a:endParaRPr lang="en-US" sz="1665" dirty="0"/>
          </a:p>
        </p:txBody>
      </p:sp>
      <p:sp>
        <p:nvSpPr>
          <p:cNvPr id="39" name="Text 37"/>
          <p:cNvSpPr/>
          <p:nvPr/>
        </p:nvSpPr>
        <p:spPr>
          <a:xfrm>
            <a:off x="685788" y="9765543"/>
            <a:ext cx="3194819"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alpha val="55000"/>
                  </a:srgbClr>
                </a:solidFill>
                <a:latin typeface="Courier New" pitchFamily="34" charset="0"/>
                <a:ea typeface="Courier New" pitchFamily="34" charset="-122"/>
                <a:cs typeface="Courier New" pitchFamily="34" charset="-120"/>
              </a:rPr>
              <a:t>SCENE 09B · 0:38–0:43</a:t>
            </a:r>
            <a:endParaRPr lang="en-US" sz="1650" dirty="0"/>
          </a:p>
        </p:txBody>
      </p:sp>
      <p:sp>
        <p:nvSpPr>
          <p:cNvPr id="40" name="Text 38"/>
          <p:cNvSpPr/>
          <p:nvPr/>
        </p:nvSpPr>
        <p:spPr>
          <a:xfrm>
            <a:off x="6931173" y="9765543"/>
            <a:ext cx="5020401"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solidFill>
                <a:latin typeface="Courier New" pitchFamily="34" charset="0"/>
                <a:ea typeface="Courier New" pitchFamily="34" charset="-122"/>
                <a:cs typeface="Courier New" pitchFamily="34" charset="-120"/>
              </a:rPr>
              <a:t>LOCAL ACQUISITION · NEARBY SCREEN</a:t>
            </a:r>
            <a:endParaRPr lang="en-US" sz="1650" dirty="0"/>
          </a:p>
        </p:txBody>
      </p:sp>
      <p:sp>
        <p:nvSpPr>
          <p:cNvPr id="41" name="Text 39"/>
          <p:cNvSpPr/>
          <p:nvPr/>
        </p:nvSpPr>
        <p:spPr>
          <a:xfrm>
            <a:off x="14836118" y="9765543"/>
            <a:ext cx="3042704"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alpha val="55000"/>
                  </a:srgbClr>
                </a:solidFill>
                <a:latin typeface="Courier New" pitchFamily="34" charset="0"/>
                <a:ea typeface="Courier New" pitchFamily="34" charset="-122"/>
                <a:cs typeface="Courier New" pitchFamily="34" charset="-120"/>
              </a:rPr>
              <a:t>DIRECTION 2 · YELLOW</a:t>
            </a:r>
            <a:endParaRPr lang="en-US" sz="1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1013"/>
        </a:solidFill>
      </p:bgPr>
    </p:bg>
    <p:spTree>
      <p:nvGrpSpPr>
        <p:cNvPr id="1" name=""/>
        <p:cNvGrpSpPr/>
        <p:nvPr/>
      </p:nvGrpSpPr>
      <p:grpSpPr>
        <a:xfrm>
          <a:off x="0" y="0"/>
          <a:ext cx="0" cy="0"/>
          <a:chOff x="0" y="0"/>
          <a:chExt cx="0" cy="0"/>
        </a:xfrm>
      </p:grpSpPr>
      <p:sp>
        <p:nvSpPr>
          <p:cNvPr id="2" name="Shape 0"/>
          <p:cNvSpPr/>
          <p:nvPr/>
        </p:nvSpPr>
        <p:spPr>
          <a:xfrm>
            <a:off x="685800" y="0"/>
            <a:ext cx="16916401" cy="9515475"/>
          </a:xfrm>
          <a:prstGeom prst="rect">
            <a:avLst/>
          </a:prstGeom>
          <a:solidFill>
            <a:srgbClr val="0F1C24"/>
          </a:solidFill>
          <a:ln/>
        </p:spPr>
      </p:sp>
      <p:sp>
        <p:nvSpPr>
          <p:cNvPr id="3" name="Shape 1"/>
          <p:cNvSpPr/>
          <p:nvPr/>
        </p:nvSpPr>
        <p:spPr>
          <a:xfrm>
            <a:off x="6324600" y="-528637"/>
            <a:ext cx="5668169" cy="10954543"/>
          </a:xfrm>
          <a:prstGeom prst="roundRect">
            <a:avLst>
              <a:gd name="adj" fmla="val 13990"/>
            </a:avLst>
          </a:prstGeom>
          <a:ln w="14684">
            <a:solidFill>
              <a:srgbClr val="F1EDE5">
                <a:alpha val="10000"/>
              </a:srgbClr>
            </a:solidFill>
            <a:prstDash val="solid"/>
          </a:ln>
        </p:spPr>
      </p:sp>
      <p:sp>
        <p:nvSpPr>
          <p:cNvPr id="4" name="Shape 2"/>
          <p:cNvSpPr/>
          <p:nvPr/>
        </p:nvSpPr>
        <p:spPr>
          <a:xfrm>
            <a:off x="2271713" y="2907506"/>
            <a:ext cx="2643188" cy="1280294"/>
          </a:xfrm>
          <a:custGeom>
            <a:avLst/>
            <a:gdLst/>
            <a:ahLst/>
            <a:cxnLst/>
            <a:rect l="l" t="t" r="r" b="b"/>
            <a:pathLst>
              <a:path w="2643188" h="1280294">
                <a:moveTo>
                  <a:pt x="246698" y="0"/>
                </a:moveTo>
                <a:lnTo>
                  <a:pt x="2396490" y="0"/>
                </a:lnTo>
                <a:arcTo hR="246698" wR="246698" stAng="16200000" swAng="5400000"/>
                <a:lnTo>
                  <a:pt x="2643188" y="1033596"/>
                </a:lnTo>
                <a:arcTo hR="246698" wR="246698" stAng="0" swAng="5400000"/>
                <a:lnTo>
                  <a:pt x="52864" y="1280294"/>
                </a:lnTo>
                <a:arcTo hR="52864" wR="52864" stAng="5400000" swAng="5400000"/>
                <a:lnTo>
                  <a:pt x="0" y="246698"/>
                </a:lnTo>
                <a:arcTo hR="246698" wR="246698" stAng="10800000" swAng="5400000"/>
                <a:close/>
              </a:path>
            </a:pathLst>
          </a:custGeom>
          <a:solidFill>
            <a:srgbClr val="182933">
              <a:alpha val="55000"/>
            </a:srgbClr>
          </a:solidFill>
          <a:ln/>
        </p:spPr>
      </p:sp>
      <p:sp>
        <p:nvSpPr>
          <p:cNvPr id="5" name="Text 3"/>
          <p:cNvSpPr/>
          <p:nvPr/>
        </p:nvSpPr>
        <p:spPr>
          <a:xfrm>
            <a:off x="2536032" y="3129206"/>
            <a:ext cx="1898554" cy="577693"/>
          </a:xfrm>
          <a:prstGeom prst="rect">
            <a:avLst/>
          </a:prstGeom>
          <a:noFill/>
          <a:ln/>
        </p:spPr>
        <p:txBody>
          <a:bodyPr wrap="square" lIns="0" tIns="0" rIns="0" bIns="0" rtlCol="0" anchor="t">
            <a:normAutofit/>
          </a:bodyPr>
          <a:lstStyle/>
          <a:p>
            <a:pPr algn="l" indent="0" marL="0">
              <a:lnSpc>
                <a:spcPct val="109091"/>
              </a:lnSpc>
              <a:buNone/>
            </a:pPr>
            <a:r>
              <a:rPr lang="en-US" sz="1665" dirty="0">
                <a:solidFill>
                  <a:srgbClr val="F1EDE5">
                    <a:alpha val="55000"/>
                  </a:srgbClr>
                </a:solidFill>
                <a:latin typeface="Arial" pitchFamily="34" charset="0"/>
                <a:ea typeface="Arial" pitchFamily="34" charset="-122"/>
                <a:cs typeface="Arial" pitchFamily="34" charset="-120"/>
              </a:rPr>
              <a:t>Coffee's on us tomorrow morning.</a:t>
            </a:r>
            <a:endParaRPr lang="en-US" sz="1665" dirty="0"/>
          </a:p>
        </p:txBody>
      </p:sp>
      <p:sp>
        <p:nvSpPr>
          <p:cNvPr id="6" name="Text 4"/>
          <p:cNvSpPr/>
          <p:nvPr/>
        </p:nvSpPr>
        <p:spPr>
          <a:xfrm>
            <a:off x="2536032" y="3753177"/>
            <a:ext cx="2326005" cy="243681"/>
          </a:xfrm>
          <a:prstGeom prst="rect">
            <a:avLst/>
          </a:prstGeom>
          <a:noFill/>
          <a:ln/>
        </p:spPr>
        <p:txBody>
          <a:bodyPr wrap="square" lIns="25400" tIns="25400" rIns="25400" bIns="25400" rtlCol="0" anchor="t">
            <a:normAutofit/>
          </a:bodyPr>
          <a:lstStyle/>
          <a:p>
            <a:pPr algn="l" indent="0" marL="0">
              <a:buNone/>
            </a:pPr>
            <a:r>
              <a:rPr lang="en-US" sz="1249" spc="75" kern="0" dirty="0">
                <a:solidFill>
                  <a:srgbClr val="5FD6BB">
                    <a:alpha val="55000"/>
                  </a:srgbClr>
                </a:solidFill>
                <a:latin typeface="Courier New" pitchFamily="34" charset="0"/>
                <a:ea typeface="Courier New" pitchFamily="34" charset="-122"/>
                <a:cs typeface="Courier New" pitchFamily="34" charset="-120"/>
              </a:rPr>
              <a:t>OPEN OFFER →</a:t>
            </a:r>
            <a:endParaRPr lang="en-US" sz="1249" dirty="0"/>
          </a:p>
        </p:txBody>
      </p:sp>
      <p:sp>
        <p:nvSpPr>
          <p:cNvPr id="7" name="Shape 5"/>
          <p:cNvSpPr/>
          <p:nvPr/>
        </p:nvSpPr>
        <p:spPr>
          <a:xfrm>
            <a:off x="4914900" y="3524250"/>
            <a:ext cx="1938337" cy="9525"/>
          </a:xfrm>
          <a:prstGeom prst="rect">
            <a:avLst/>
          </a:prstGeom>
          <a:solidFill>
            <a:srgbClr val="5FD6BB">
              <a:alpha val="50000"/>
            </a:srgbClr>
          </a:solidFill>
          <a:ln/>
        </p:spPr>
      </p:sp>
      <p:sp>
        <p:nvSpPr>
          <p:cNvPr id="8" name="Text 6"/>
          <p:cNvSpPr/>
          <p:nvPr/>
        </p:nvSpPr>
        <p:spPr>
          <a:xfrm>
            <a:off x="2271713" y="2202656"/>
            <a:ext cx="3377389" cy="291406"/>
          </a:xfrm>
          <a:prstGeom prst="rect">
            <a:avLst/>
          </a:prstGeom>
          <a:noFill/>
          <a:ln/>
        </p:spPr>
        <p:txBody>
          <a:bodyPr wrap="square" lIns="25400" tIns="25400" rIns="25400" bIns="25400" rtlCol="0" anchor="t">
            <a:normAutofit/>
          </a:bodyPr>
          <a:lstStyle/>
          <a:p>
            <a:pPr algn="l" indent="0" marL="0">
              <a:buNone/>
            </a:pPr>
            <a:r>
              <a:rPr lang="en-US" sz="1526" spc="92" kern="0" dirty="0">
                <a:solidFill>
                  <a:srgbClr val="E2A24F"/>
                </a:solidFill>
                <a:latin typeface="Courier New" pitchFamily="34" charset="0"/>
                <a:ea typeface="Courier New" pitchFamily="34" charset="-122"/>
                <a:cs typeface="Courier New" pitchFamily="34" charset="-120"/>
              </a:rPr>
              <a:t>EXISTING CUSTOMER · TEXT</a:t>
            </a:r>
            <a:endParaRPr lang="en-US" sz="1526" dirty="0"/>
          </a:p>
        </p:txBody>
      </p:sp>
      <p:sp>
        <p:nvSpPr>
          <p:cNvPr id="9" name="Shape 7"/>
          <p:cNvSpPr/>
          <p:nvPr/>
        </p:nvSpPr>
        <p:spPr>
          <a:xfrm>
            <a:off x="13373100" y="2907506"/>
            <a:ext cx="2643188" cy="1762125"/>
          </a:xfrm>
          <a:prstGeom prst="rect">
            <a:avLst/>
          </a:prstGeom>
          <a:solidFill>
            <a:srgbClr val="0C1418">
              <a:alpha val="60000"/>
            </a:srgbClr>
          </a:solidFill>
          <a:ln w="14684">
            <a:solidFill>
              <a:srgbClr val="5FD6BB">
                <a:alpha val="36000"/>
              </a:srgbClr>
            </a:solidFill>
            <a:prstDash val="solid"/>
          </a:ln>
        </p:spPr>
      </p:sp>
      <p:sp>
        <p:nvSpPr>
          <p:cNvPr id="10" name="Text 8"/>
          <p:cNvSpPr/>
          <p:nvPr/>
        </p:nvSpPr>
        <p:spPr>
          <a:xfrm>
            <a:off x="13581607" y="3098403"/>
            <a:ext cx="2302374" cy="361156"/>
          </a:xfrm>
          <a:prstGeom prst="rect">
            <a:avLst/>
          </a:prstGeom>
          <a:noFill/>
          <a:ln/>
        </p:spPr>
        <p:txBody>
          <a:bodyPr wrap="square" lIns="25400" tIns="25400" rIns="25400" bIns="25400" rtlCol="0" anchor="t">
            <a:normAutofit/>
          </a:bodyPr>
          <a:lstStyle/>
          <a:p>
            <a:pPr algn="l" indent="0" marL="0">
              <a:buNone/>
            </a:pPr>
            <a:r>
              <a:rPr lang="en-US" sz="971" spc="58" kern="0" dirty="0">
                <a:solidFill>
                  <a:srgbClr val="F1EDE5">
                    <a:alpha val="33000"/>
                  </a:srgbClr>
                </a:solidFill>
                <a:latin typeface="Courier New" pitchFamily="34" charset="0"/>
                <a:ea typeface="Courier New" pitchFamily="34" charset="-122"/>
                <a:cs typeface="Courier New" pitchFamily="34" charset="-120"/>
              </a:rPr>
              <a:t>JOE'S FUEL &amp; GO · 2 DOORS DOWN</a:t>
            </a:r>
            <a:endParaRPr lang="en-US" sz="971" dirty="0"/>
          </a:p>
        </p:txBody>
      </p:sp>
      <p:sp>
        <p:nvSpPr>
          <p:cNvPr id="11" name="Text 9"/>
          <p:cNvSpPr/>
          <p:nvPr/>
        </p:nvSpPr>
        <p:spPr>
          <a:xfrm>
            <a:off x="13581607" y="3509565"/>
            <a:ext cx="2302374" cy="542072"/>
          </a:xfrm>
          <a:prstGeom prst="rect">
            <a:avLst/>
          </a:prstGeom>
          <a:noFill/>
          <a:ln/>
        </p:spPr>
        <p:txBody>
          <a:bodyPr wrap="square" lIns="25400" tIns="25400" rIns="25400" bIns="25400" rtlCol="0" anchor="t">
            <a:normAutofit/>
          </a:bodyPr>
          <a:lstStyle/>
          <a:p>
            <a:pPr algn="l" indent="0" marL="0">
              <a:lnSpc>
                <a:spcPct val="96676"/>
              </a:lnSpc>
              <a:buNone/>
            </a:pPr>
            <a:r>
              <a:rPr lang="en-US" sz="1804" spc="-36" kern="0" dirty="0">
                <a:solidFill>
                  <a:srgbClr val="F1EDE5">
                    <a:alpha val="60000"/>
                  </a:srgbClr>
                </a:solidFill>
                <a:latin typeface="Arial" pitchFamily="34" charset="0"/>
                <a:ea typeface="Arial" pitchFamily="34" charset="-122"/>
                <a:cs typeface="Arial" pitchFamily="34" charset="-120"/>
              </a:rPr>
              <a:t>Coffee's on us Friday morning.</a:t>
            </a:r>
            <a:endParaRPr lang="en-US" sz="1804" dirty="0"/>
          </a:p>
        </p:txBody>
      </p:sp>
      <p:sp>
        <p:nvSpPr>
          <p:cNvPr id="12" name="Shape 10"/>
          <p:cNvSpPr/>
          <p:nvPr/>
        </p:nvSpPr>
        <p:spPr>
          <a:xfrm>
            <a:off x="13581607" y="4185047"/>
            <a:ext cx="293687" cy="293687"/>
          </a:xfrm>
          <a:prstGeom prst="rect">
            <a:avLst/>
          </a:prstGeom>
          <a:ln w="14684">
            <a:solidFill>
              <a:srgbClr val="5FD6BB">
                <a:alpha val="60000"/>
              </a:srgbClr>
            </a:solidFill>
            <a:prstDash val="solid"/>
          </a:ln>
        </p:spPr>
      </p:sp>
      <p:sp>
        <p:nvSpPr>
          <p:cNvPr id="13" name="Shape 11"/>
          <p:cNvSpPr/>
          <p:nvPr/>
        </p:nvSpPr>
        <p:spPr>
          <a:xfrm>
            <a:off x="11434763" y="3524250"/>
            <a:ext cx="1938337" cy="9525"/>
          </a:xfrm>
          <a:prstGeom prst="rect">
            <a:avLst/>
          </a:prstGeom>
          <a:solidFill>
            <a:srgbClr val="5FD6BB">
              <a:alpha val="50000"/>
            </a:srgbClr>
          </a:solidFill>
          <a:ln/>
        </p:spPr>
      </p:sp>
      <p:sp>
        <p:nvSpPr>
          <p:cNvPr id="14" name="Text 12"/>
          <p:cNvSpPr/>
          <p:nvPr/>
        </p:nvSpPr>
        <p:spPr>
          <a:xfrm>
            <a:off x="13373100" y="2202656"/>
            <a:ext cx="2673795" cy="291406"/>
          </a:xfrm>
          <a:prstGeom prst="rect">
            <a:avLst/>
          </a:prstGeom>
          <a:noFill/>
          <a:ln/>
        </p:spPr>
        <p:txBody>
          <a:bodyPr wrap="square" lIns="25400" tIns="25400" rIns="25400" bIns="25400" rtlCol="0" anchor="t">
            <a:normAutofit/>
          </a:bodyPr>
          <a:lstStyle/>
          <a:p>
            <a:pPr algn="l" indent="0" marL="0">
              <a:buNone/>
            </a:pPr>
            <a:r>
              <a:rPr lang="en-US" sz="1526" spc="92" kern="0" dirty="0">
                <a:solidFill>
                  <a:srgbClr val="E2A24F"/>
                </a:solidFill>
                <a:latin typeface="Courier New" pitchFamily="34" charset="0"/>
                <a:ea typeface="Courier New" pitchFamily="34" charset="-122"/>
                <a:cs typeface="Courier New" pitchFamily="34" charset="-120"/>
              </a:rPr>
              <a:t>NEW · NEARBY SCREEN</a:t>
            </a:r>
            <a:endParaRPr lang="en-US" sz="1526" dirty="0"/>
          </a:p>
        </p:txBody>
      </p:sp>
      <p:sp>
        <p:nvSpPr>
          <p:cNvPr id="15" name="Shape 13"/>
          <p:cNvSpPr/>
          <p:nvPr/>
        </p:nvSpPr>
        <p:spPr>
          <a:xfrm>
            <a:off x="6853238" y="969169"/>
            <a:ext cx="4581526" cy="7577138"/>
          </a:xfrm>
          <a:prstGeom prst="roundRect">
            <a:avLst>
              <a:gd name="adj" fmla="val 8462"/>
            </a:avLst>
          </a:prstGeom>
          <a:solidFill>
            <a:srgbClr val="FAF8F4"/>
          </a:solidFill>
          <a:ln/>
          <a:effectLst>
            <a:outerShdw sx="100000" sy="100000" kx="0" ky="0" algn="bl" rotWithShape="0" blurRad="1143000" dist="571500" dir="5400000">
              <a:srgbClr val="000000">
                <a:alpha val="70000"/>
              </a:srgbClr>
            </a:outerShdw>
          </a:effectLst>
        </p:spPr>
      </p:sp>
      <p:sp>
        <p:nvSpPr>
          <p:cNvPr id="16" name="Text 14"/>
          <p:cNvSpPr/>
          <p:nvPr/>
        </p:nvSpPr>
        <p:spPr>
          <a:xfrm>
            <a:off x="7311379" y="1427310"/>
            <a:ext cx="1918967" cy="265708"/>
          </a:xfrm>
          <a:prstGeom prst="rect">
            <a:avLst/>
          </a:prstGeom>
          <a:noFill/>
          <a:ln/>
        </p:spPr>
        <p:txBody>
          <a:bodyPr wrap="square" lIns="25400" tIns="25400" rIns="25400" bIns="25400" rtlCol="0" anchor="t">
            <a:normAutofit/>
          </a:bodyPr>
          <a:lstStyle/>
          <a:p>
            <a:pPr algn="l" indent="0" marL="0">
              <a:buNone/>
            </a:pPr>
            <a:r>
              <a:rPr lang="en-US" sz="1388" spc="83" kern="0" dirty="0">
                <a:solidFill>
                  <a:srgbClr val="17201F">
                    <a:alpha val="50000"/>
                  </a:srgbClr>
                </a:solidFill>
                <a:latin typeface="Courier New" pitchFamily="34" charset="0"/>
                <a:ea typeface="Courier New" pitchFamily="34" charset="-122"/>
                <a:cs typeface="Courier New" pitchFamily="34" charset="-120"/>
              </a:rPr>
              <a:t>JOE'S FUEL &amp; GO</a:t>
            </a:r>
            <a:endParaRPr lang="en-US" sz="1388" dirty="0"/>
          </a:p>
        </p:txBody>
      </p:sp>
      <p:sp>
        <p:nvSpPr>
          <p:cNvPr id="17" name="Text 15"/>
          <p:cNvSpPr/>
          <p:nvPr/>
        </p:nvSpPr>
        <p:spPr>
          <a:xfrm>
            <a:off x="9697303" y="1427310"/>
            <a:ext cx="1407250" cy="265708"/>
          </a:xfrm>
          <a:prstGeom prst="rect">
            <a:avLst/>
          </a:prstGeom>
          <a:noFill/>
          <a:ln/>
        </p:spPr>
        <p:txBody>
          <a:bodyPr wrap="square" lIns="25400" tIns="25400" rIns="25400" bIns="25400" rtlCol="0" anchor="t">
            <a:normAutofit/>
          </a:bodyPr>
          <a:lstStyle/>
          <a:p>
            <a:pPr algn="l" indent="0" marL="0">
              <a:buNone/>
            </a:pPr>
            <a:r>
              <a:rPr lang="en-US" sz="1388" spc="83" kern="0" dirty="0">
                <a:solidFill>
                  <a:srgbClr val="17201F">
                    <a:alpha val="50000"/>
                  </a:srgbClr>
                </a:solidFill>
                <a:latin typeface="Courier New" pitchFamily="34" charset="0"/>
                <a:ea typeface="Courier New" pitchFamily="34" charset="-122"/>
                <a:cs typeface="Courier New" pitchFamily="34" charset="-120"/>
              </a:rPr>
              <a:t>118 MAIN ST</a:t>
            </a:r>
            <a:endParaRPr lang="en-US" sz="1388" dirty="0"/>
          </a:p>
        </p:txBody>
      </p:sp>
      <p:sp>
        <p:nvSpPr>
          <p:cNvPr id="18" name="Text 16"/>
          <p:cNvSpPr/>
          <p:nvPr/>
        </p:nvSpPr>
        <p:spPr>
          <a:xfrm>
            <a:off x="7311379" y="2183555"/>
            <a:ext cx="3775200" cy="1377361"/>
          </a:xfrm>
          <a:prstGeom prst="rect">
            <a:avLst/>
          </a:prstGeom>
          <a:noFill/>
          <a:ln/>
        </p:spPr>
        <p:txBody>
          <a:bodyPr wrap="square" lIns="25400" tIns="25400" rIns="25400" bIns="25400" rtlCol="0" anchor="t">
            <a:normAutofit/>
          </a:bodyPr>
          <a:lstStyle/>
          <a:p>
            <a:pPr algn="l" indent="0" marL="0">
              <a:lnSpc>
                <a:spcPct val="86857"/>
              </a:lnSpc>
              <a:buNone/>
            </a:pPr>
            <a:r>
              <a:rPr lang="en-US" sz="5272" spc="-211" kern="0" dirty="0">
                <a:solidFill>
                  <a:srgbClr val="17201F"/>
                </a:solidFill>
                <a:latin typeface="Arial" pitchFamily="34" charset="0"/>
                <a:ea typeface="Arial" pitchFamily="34" charset="-122"/>
                <a:cs typeface="Arial" pitchFamily="34" charset="-120"/>
              </a:rPr>
              <a:t>Coffee's on us.</a:t>
            </a:r>
            <a:endParaRPr lang="en-US" sz="5272" dirty="0"/>
          </a:p>
        </p:txBody>
      </p:sp>
      <p:sp>
        <p:nvSpPr>
          <p:cNvPr id="19" name="Text 17"/>
          <p:cNvSpPr/>
          <p:nvPr/>
        </p:nvSpPr>
        <p:spPr>
          <a:xfrm>
            <a:off x="7311379" y="3751858"/>
            <a:ext cx="3775200" cy="728839"/>
          </a:xfrm>
          <a:prstGeom prst="rect">
            <a:avLst/>
          </a:prstGeom>
          <a:noFill/>
          <a:ln/>
        </p:spPr>
        <p:txBody>
          <a:bodyPr wrap="square" lIns="25400" tIns="25400" rIns="25400" bIns="25400" rtlCol="0" anchor="t">
            <a:normAutofit/>
          </a:bodyPr>
          <a:lstStyle/>
          <a:p>
            <a:pPr algn="l" indent="0" marL="0">
              <a:lnSpc>
                <a:spcPct val="122182"/>
              </a:lnSpc>
              <a:buNone/>
            </a:pPr>
            <a:r>
              <a:rPr lang="en-US" sz="1943" dirty="0">
                <a:solidFill>
                  <a:srgbClr val="17201F">
                    <a:alpha val="70000"/>
                  </a:srgbClr>
                </a:solidFill>
                <a:latin typeface="Arial" pitchFamily="34" charset="0"/>
                <a:ea typeface="Arial" pitchFamily="34" charset="-122"/>
                <a:cs typeface="Arial" pitchFamily="34" charset="-120"/>
              </a:rPr>
              <a:t>A free large coffee with any $25+ fill-up.</a:t>
            </a:r>
            <a:endParaRPr lang="en-US" sz="1943" dirty="0"/>
          </a:p>
        </p:txBody>
      </p:sp>
      <p:sp>
        <p:nvSpPr>
          <p:cNvPr id="20" name="Shape 18"/>
          <p:cNvSpPr/>
          <p:nvPr/>
        </p:nvSpPr>
        <p:spPr>
          <a:xfrm>
            <a:off x="7311379" y="4759745"/>
            <a:ext cx="3665243" cy="17610"/>
          </a:xfrm>
          <a:prstGeom prst="rect">
            <a:avLst/>
          </a:prstGeom>
          <a:solidFill>
            <a:srgbClr val="17201F">
              <a:alpha val="14000"/>
            </a:srgbClr>
          </a:solidFill>
          <a:ln/>
        </p:spPr>
      </p:sp>
      <p:sp>
        <p:nvSpPr>
          <p:cNvPr id="21" name="Text 19"/>
          <p:cNvSpPr/>
          <p:nvPr/>
        </p:nvSpPr>
        <p:spPr>
          <a:xfrm>
            <a:off x="7311379" y="5050450"/>
            <a:ext cx="1006649" cy="280392"/>
          </a:xfrm>
          <a:prstGeom prst="rect">
            <a:avLst/>
          </a:prstGeom>
          <a:noFill/>
          <a:ln/>
        </p:spPr>
        <p:txBody>
          <a:bodyPr wrap="square" lIns="25400" tIns="25400" rIns="25400" bIns="25400" rtlCol="0" anchor="t">
            <a:normAutofit/>
          </a:bodyPr>
          <a:lstStyle/>
          <a:p>
            <a:pPr algn="l" indent="0" marL="0">
              <a:buNone/>
            </a:pPr>
            <a:r>
              <a:rPr lang="en-US" sz="1388" spc="83" kern="0" dirty="0">
                <a:solidFill>
                  <a:srgbClr val="17201F">
                    <a:alpha val="50000"/>
                  </a:srgbClr>
                </a:solidFill>
                <a:latin typeface="Courier New" pitchFamily="34" charset="0"/>
                <a:ea typeface="Courier New" pitchFamily="34" charset="-122"/>
                <a:cs typeface="Courier New" pitchFamily="34" charset="-120"/>
              </a:rPr>
              <a:t>WHEN</a:t>
            </a:r>
            <a:endParaRPr lang="en-US" sz="1388" dirty="0"/>
          </a:p>
        </p:txBody>
      </p:sp>
      <p:sp>
        <p:nvSpPr>
          <p:cNvPr id="22" name="Text 20"/>
          <p:cNvSpPr/>
          <p:nvPr/>
        </p:nvSpPr>
        <p:spPr>
          <a:xfrm>
            <a:off x="8506147" y="5006397"/>
            <a:ext cx="2717522" cy="324445"/>
          </a:xfrm>
          <a:prstGeom prst="rect">
            <a:avLst/>
          </a:prstGeom>
          <a:noFill/>
          <a:ln/>
        </p:spPr>
        <p:txBody>
          <a:bodyPr wrap="square" lIns="25400" tIns="25400" rIns="25400" bIns="25400" rtlCol="0" anchor="t">
            <a:normAutofit/>
          </a:bodyPr>
          <a:lstStyle/>
          <a:p>
            <a:pPr algn="l" indent="0" marL="0">
              <a:lnSpc>
                <a:spcPct val="113043"/>
              </a:lnSpc>
              <a:buNone/>
            </a:pPr>
            <a:r>
              <a:rPr lang="en-US" sz="1734" dirty="0">
                <a:solidFill>
                  <a:srgbClr val="17201F"/>
                </a:solidFill>
                <a:latin typeface="Arial" pitchFamily="34" charset="0"/>
                <a:ea typeface="Arial" pitchFamily="34" charset="-122"/>
                <a:cs typeface="Arial" pitchFamily="34" charset="-120"/>
              </a:rPr>
              <a:t>Friday · 7–10 AM</a:t>
            </a:r>
            <a:endParaRPr lang="en-US" sz="1734" dirty="0"/>
          </a:p>
        </p:txBody>
      </p:sp>
      <p:sp>
        <p:nvSpPr>
          <p:cNvPr id="23" name="Text 21"/>
          <p:cNvSpPr/>
          <p:nvPr/>
        </p:nvSpPr>
        <p:spPr>
          <a:xfrm>
            <a:off x="7311379" y="5460121"/>
            <a:ext cx="1006649" cy="280392"/>
          </a:xfrm>
          <a:prstGeom prst="rect">
            <a:avLst/>
          </a:prstGeom>
          <a:noFill/>
          <a:ln/>
        </p:spPr>
        <p:txBody>
          <a:bodyPr wrap="square" lIns="25400" tIns="25400" rIns="25400" bIns="25400" rtlCol="0" anchor="t">
            <a:normAutofit/>
          </a:bodyPr>
          <a:lstStyle/>
          <a:p>
            <a:pPr algn="l" indent="0" marL="0">
              <a:buNone/>
            </a:pPr>
            <a:r>
              <a:rPr lang="en-US" sz="1388" spc="83" kern="0" dirty="0">
                <a:solidFill>
                  <a:srgbClr val="17201F">
                    <a:alpha val="50000"/>
                  </a:srgbClr>
                </a:solidFill>
                <a:latin typeface="Courier New" pitchFamily="34" charset="0"/>
                <a:ea typeface="Courier New" pitchFamily="34" charset="-122"/>
                <a:cs typeface="Courier New" pitchFamily="34" charset="-120"/>
              </a:rPr>
              <a:t>HOW MANY</a:t>
            </a:r>
            <a:endParaRPr lang="en-US" sz="1388" dirty="0"/>
          </a:p>
        </p:txBody>
      </p:sp>
      <p:sp>
        <p:nvSpPr>
          <p:cNvPr id="24" name="Text 22"/>
          <p:cNvSpPr/>
          <p:nvPr/>
        </p:nvSpPr>
        <p:spPr>
          <a:xfrm>
            <a:off x="8506147" y="5416068"/>
            <a:ext cx="2717522" cy="324445"/>
          </a:xfrm>
          <a:prstGeom prst="rect">
            <a:avLst/>
          </a:prstGeom>
          <a:noFill/>
          <a:ln/>
        </p:spPr>
        <p:txBody>
          <a:bodyPr wrap="square" lIns="25400" tIns="25400" rIns="25400" bIns="25400" rtlCol="0" anchor="t">
            <a:normAutofit/>
          </a:bodyPr>
          <a:lstStyle/>
          <a:p>
            <a:pPr algn="l" indent="0" marL="0">
              <a:lnSpc>
                <a:spcPct val="113043"/>
              </a:lnSpc>
              <a:buNone/>
            </a:pPr>
            <a:r>
              <a:rPr lang="en-US" sz="1734" dirty="0">
                <a:solidFill>
                  <a:srgbClr val="17201F"/>
                </a:solidFill>
                <a:latin typeface="Arial" pitchFamily="34" charset="0"/>
                <a:ea typeface="Arial" pitchFamily="34" charset="-122"/>
                <a:cs typeface="Arial" pitchFamily="34" charset="-120"/>
              </a:rPr>
              <a:t>First 30</a:t>
            </a:r>
            <a:endParaRPr lang="en-US" sz="1734" dirty="0"/>
          </a:p>
        </p:txBody>
      </p:sp>
      <p:sp>
        <p:nvSpPr>
          <p:cNvPr id="25" name="Text 23"/>
          <p:cNvSpPr/>
          <p:nvPr/>
        </p:nvSpPr>
        <p:spPr>
          <a:xfrm>
            <a:off x="7311379" y="5869792"/>
            <a:ext cx="1006649" cy="280392"/>
          </a:xfrm>
          <a:prstGeom prst="rect">
            <a:avLst/>
          </a:prstGeom>
          <a:noFill/>
          <a:ln/>
        </p:spPr>
        <p:txBody>
          <a:bodyPr wrap="square" lIns="25400" tIns="25400" rIns="25400" bIns="25400" rtlCol="0" anchor="t">
            <a:normAutofit/>
          </a:bodyPr>
          <a:lstStyle/>
          <a:p>
            <a:pPr algn="l" indent="0" marL="0">
              <a:buNone/>
            </a:pPr>
            <a:r>
              <a:rPr lang="en-US" sz="1388" spc="83" kern="0" dirty="0">
                <a:solidFill>
                  <a:srgbClr val="17201F">
                    <a:alpha val="50000"/>
                  </a:srgbClr>
                </a:solidFill>
                <a:latin typeface="Courier New" pitchFamily="34" charset="0"/>
                <a:ea typeface="Courier New" pitchFamily="34" charset="-122"/>
                <a:cs typeface="Courier New" pitchFamily="34" charset="-120"/>
              </a:rPr>
              <a:t>FUEL</a:t>
            </a:r>
            <a:endParaRPr lang="en-US" sz="1388" dirty="0"/>
          </a:p>
        </p:txBody>
      </p:sp>
      <p:sp>
        <p:nvSpPr>
          <p:cNvPr id="26" name="Text 24"/>
          <p:cNvSpPr/>
          <p:nvPr/>
        </p:nvSpPr>
        <p:spPr>
          <a:xfrm>
            <a:off x="8506147" y="5825739"/>
            <a:ext cx="2717522" cy="324445"/>
          </a:xfrm>
          <a:prstGeom prst="rect">
            <a:avLst/>
          </a:prstGeom>
          <a:noFill/>
          <a:ln/>
        </p:spPr>
        <p:txBody>
          <a:bodyPr wrap="square" lIns="25400" tIns="25400" rIns="25400" bIns="25400" rtlCol="0" anchor="t">
            <a:normAutofit/>
          </a:bodyPr>
          <a:lstStyle/>
          <a:p>
            <a:pPr algn="l" indent="0" marL="0">
              <a:lnSpc>
                <a:spcPct val="113043"/>
              </a:lnSpc>
              <a:buNone/>
            </a:pPr>
            <a:r>
              <a:rPr lang="en-US" sz="1734" dirty="0">
                <a:solidFill>
                  <a:srgbClr val="17201F"/>
                </a:solidFill>
                <a:latin typeface="Arial" pitchFamily="34" charset="0"/>
                <a:ea typeface="Arial" pitchFamily="34" charset="-122"/>
                <a:cs typeface="Arial" pitchFamily="34" charset="-120"/>
              </a:rPr>
              <a:t>Regular, premium, diesel</a:t>
            </a:r>
            <a:endParaRPr lang="en-US" sz="1734" dirty="0"/>
          </a:p>
        </p:txBody>
      </p:sp>
      <p:sp>
        <p:nvSpPr>
          <p:cNvPr id="27" name="Text 25"/>
          <p:cNvSpPr/>
          <p:nvPr/>
        </p:nvSpPr>
        <p:spPr>
          <a:xfrm>
            <a:off x="7311379" y="6914218"/>
            <a:ext cx="2449990" cy="313432"/>
          </a:xfrm>
          <a:prstGeom prst="rect">
            <a:avLst/>
          </a:prstGeom>
          <a:noFill/>
          <a:ln/>
        </p:spPr>
        <p:txBody>
          <a:bodyPr wrap="square" lIns="25400" tIns="25400" rIns="25400" bIns="25400" rtlCol="0" anchor="t">
            <a:normAutofit/>
          </a:bodyPr>
          <a:lstStyle/>
          <a:p>
            <a:pPr algn="l" indent="0" marL="0">
              <a:buNone/>
            </a:pPr>
            <a:r>
              <a:rPr lang="en-US" sz="1665" dirty="0">
                <a:solidFill>
                  <a:srgbClr val="17201F">
                    <a:alpha val="70000"/>
                  </a:srgbClr>
                </a:solidFill>
                <a:latin typeface="Arial" pitchFamily="34" charset="0"/>
                <a:ea typeface="Arial" pitchFamily="34" charset="-122"/>
                <a:cs typeface="Arial" pitchFamily="34" charset="-120"/>
              </a:rPr>
              <a:t>Hear from Joe's again?</a:t>
            </a:r>
            <a:endParaRPr lang="en-US" sz="1665" dirty="0"/>
          </a:p>
        </p:txBody>
      </p:sp>
      <p:sp>
        <p:nvSpPr>
          <p:cNvPr id="28" name="Shape 26"/>
          <p:cNvSpPr/>
          <p:nvPr/>
        </p:nvSpPr>
        <p:spPr>
          <a:xfrm>
            <a:off x="10431693" y="6990222"/>
            <a:ext cx="123326" cy="123326"/>
          </a:xfrm>
          <a:prstGeom prst="ellipse">
            <a:avLst/>
          </a:prstGeom>
          <a:solidFill>
            <a:srgbClr val="5FD6BB"/>
          </a:solidFill>
          <a:ln/>
        </p:spPr>
      </p:sp>
      <p:sp>
        <p:nvSpPr>
          <p:cNvPr id="29" name="Text 27"/>
          <p:cNvSpPr/>
          <p:nvPr/>
        </p:nvSpPr>
        <p:spPr>
          <a:xfrm>
            <a:off x="10643125" y="6914218"/>
            <a:ext cx="409697" cy="313432"/>
          </a:xfrm>
          <a:prstGeom prst="rect">
            <a:avLst/>
          </a:prstGeom>
          <a:noFill/>
          <a:ln/>
        </p:spPr>
        <p:txBody>
          <a:bodyPr wrap="square" lIns="0" tIns="0" rIns="0" bIns="0" rtlCol="0" anchor="t">
            <a:normAutofit/>
          </a:bodyPr>
          <a:lstStyle/>
          <a:p>
            <a:pPr algn="l" indent="0" marL="0">
              <a:buNone/>
            </a:pPr>
            <a:r>
              <a:rPr lang="en-US" sz="1665" dirty="0">
                <a:solidFill>
                  <a:srgbClr val="17201F"/>
                </a:solidFill>
                <a:latin typeface="Arial" pitchFamily="34" charset="0"/>
                <a:ea typeface="Arial" pitchFamily="34" charset="-122"/>
                <a:cs typeface="Arial" pitchFamily="34" charset="-120"/>
              </a:rPr>
              <a:t>Yes</a:t>
            </a:r>
            <a:endParaRPr lang="en-US" sz="1665" dirty="0"/>
          </a:p>
        </p:txBody>
      </p:sp>
      <p:sp>
        <p:nvSpPr>
          <p:cNvPr id="30" name="Shape 28"/>
          <p:cNvSpPr/>
          <p:nvPr/>
        </p:nvSpPr>
        <p:spPr>
          <a:xfrm>
            <a:off x="7311379" y="7348096"/>
            <a:ext cx="3665243" cy="810566"/>
          </a:xfrm>
          <a:prstGeom prst="roundRect">
            <a:avLst>
              <a:gd name="adj" fmla="val 23913"/>
            </a:avLst>
          </a:prstGeom>
          <a:solidFill>
            <a:srgbClr val="17201F"/>
          </a:solidFill>
          <a:ln/>
        </p:spPr>
      </p:sp>
      <p:sp>
        <p:nvSpPr>
          <p:cNvPr id="31" name="Text 29"/>
          <p:cNvSpPr/>
          <p:nvPr/>
        </p:nvSpPr>
        <p:spPr>
          <a:xfrm>
            <a:off x="7256400" y="7348096"/>
            <a:ext cx="3775200" cy="848666"/>
          </a:xfrm>
          <a:prstGeom prst="rect">
            <a:avLst/>
          </a:prstGeom>
          <a:noFill/>
          <a:ln/>
        </p:spPr>
        <p:txBody>
          <a:bodyPr wrap="square" lIns="25400" tIns="25400" rIns="25400" bIns="25400" rtlCol="0" anchor="ctr">
            <a:normAutofit/>
          </a:bodyPr>
          <a:lstStyle/>
          <a:p>
            <a:pPr algn="ctr" indent="0" marL="0">
              <a:buNone/>
            </a:pPr>
            <a:r>
              <a:rPr lang="en-US" sz="2081" dirty="0">
                <a:solidFill>
                  <a:srgbClr val="F1EDE5"/>
                </a:solidFill>
                <a:latin typeface="Arial" pitchFamily="34" charset="0"/>
                <a:ea typeface="Arial" pitchFamily="34" charset="-122"/>
                <a:cs typeface="Arial" pitchFamily="34" charset="-120"/>
              </a:rPr>
              <a:t>Save my pass</a:t>
            </a:r>
            <a:endParaRPr lang="en-US" sz="2081" dirty="0"/>
          </a:p>
        </p:txBody>
      </p:sp>
      <p:sp>
        <p:nvSpPr>
          <p:cNvPr id="32" name="Text 30"/>
          <p:cNvSpPr/>
          <p:nvPr/>
        </p:nvSpPr>
        <p:spPr>
          <a:xfrm>
            <a:off x="1390650" y="528637"/>
            <a:ext cx="3991449"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F1EDE5">
                    <a:alpha val="50000"/>
                  </a:srgbClr>
                </a:solidFill>
                <a:latin typeface="Courier New" pitchFamily="34" charset="0"/>
                <a:ea typeface="Courier New" pitchFamily="34" charset="-122"/>
                <a:cs typeface="Courier New" pitchFamily="34" charset="-120"/>
              </a:rPr>
              <a:t>OFFER · CLAIM · PERMISSION</a:t>
            </a:r>
            <a:endParaRPr lang="en-US" sz="1665" dirty="0"/>
          </a:p>
        </p:txBody>
      </p:sp>
      <p:sp>
        <p:nvSpPr>
          <p:cNvPr id="33" name="Text 31"/>
          <p:cNvSpPr/>
          <p:nvPr/>
        </p:nvSpPr>
        <p:spPr>
          <a:xfrm>
            <a:off x="1390650" y="7954399"/>
            <a:ext cx="2883008" cy="929602"/>
          </a:xfrm>
          <a:prstGeom prst="rect">
            <a:avLst/>
          </a:prstGeom>
          <a:noFill/>
          <a:ln/>
        </p:spPr>
        <p:txBody>
          <a:bodyPr wrap="square" lIns="25400" tIns="25400" rIns="25400" bIns="25400" rtlCol="0" anchor="t">
            <a:normAutofit/>
          </a:bodyPr>
          <a:lstStyle/>
          <a:p>
            <a:pPr algn="l" indent="0" marL="0">
              <a:lnSpc>
                <a:spcPct val="100364"/>
              </a:lnSpc>
              <a:buNone/>
            </a:pPr>
            <a:r>
              <a:rPr lang="en-US" sz="3053" spc="-61" kern="0" dirty="0">
                <a:solidFill>
                  <a:srgbClr val="F1EDE5"/>
                </a:solidFill>
                <a:latin typeface="Arial" pitchFamily="34" charset="0"/>
                <a:ea typeface="Arial" pitchFamily="34" charset="-122"/>
                <a:cs typeface="Arial" pitchFamily="34" charset="-120"/>
              </a:rPr>
              <a:t>Two ways in. One relationship.</a:t>
            </a:r>
            <a:endParaRPr lang="en-US" sz="3053" dirty="0"/>
          </a:p>
        </p:txBody>
      </p:sp>
      <p:sp>
        <p:nvSpPr>
          <p:cNvPr id="34" name="Text 32"/>
          <p:cNvSpPr/>
          <p:nvPr/>
        </p:nvSpPr>
        <p:spPr>
          <a:xfrm>
            <a:off x="14245672" y="8570570"/>
            <a:ext cx="2916845"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F1EDE5">
                    <a:alpha val="50000"/>
                  </a:srgbClr>
                </a:solidFill>
                <a:latin typeface="Courier New" pitchFamily="34" charset="0"/>
                <a:ea typeface="Courier New" pitchFamily="34" charset="-122"/>
                <a:cs typeface="Courier New" pitchFamily="34" charset="-120"/>
              </a:rPr>
              <a:t>NO APP · NO ACCOUNT</a:t>
            </a:r>
            <a:endParaRPr lang="en-US" sz="1665" dirty="0"/>
          </a:p>
        </p:txBody>
      </p:sp>
      <p:sp>
        <p:nvSpPr>
          <p:cNvPr id="35" name="Text 33"/>
          <p:cNvSpPr/>
          <p:nvPr/>
        </p:nvSpPr>
        <p:spPr>
          <a:xfrm>
            <a:off x="685788" y="9765543"/>
            <a:ext cx="3042704"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alpha val="55000"/>
                  </a:srgbClr>
                </a:solidFill>
                <a:latin typeface="Courier New" pitchFamily="34" charset="0"/>
                <a:ea typeface="Courier New" pitchFamily="34" charset="-122"/>
                <a:cs typeface="Courier New" pitchFamily="34" charset="-120"/>
              </a:rPr>
              <a:t>SCENE 10 · 0:43–0:46</a:t>
            </a:r>
            <a:endParaRPr lang="en-US" sz="1650" dirty="0"/>
          </a:p>
        </p:txBody>
      </p:sp>
      <p:sp>
        <p:nvSpPr>
          <p:cNvPr id="36" name="Text 34"/>
          <p:cNvSpPr/>
          <p:nvPr/>
        </p:nvSpPr>
        <p:spPr>
          <a:xfrm>
            <a:off x="7207746" y="9765543"/>
            <a:ext cx="4259759"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solidFill>
                <a:latin typeface="Courier New" pitchFamily="34" charset="0"/>
                <a:ea typeface="Courier New" pitchFamily="34" charset="-122"/>
                <a:cs typeface="Courier New" pitchFamily="34" charset="-120"/>
              </a:rPr>
              <a:t>CONNECT · TWO PATHS CONVERGE</a:t>
            </a:r>
            <a:endParaRPr lang="en-US" sz="1650" dirty="0"/>
          </a:p>
        </p:txBody>
      </p:sp>
      <p:sp>
        <p:nvSpPr>
          <p:cNvPr id="37" name="Text 35"/>
          <p:cNvSpPr/>
          <p:nvPr/>
        </p:nvSpPr>
        <p:spPr>
          <a:xfrm>
            <a:off x="14836118" y="9765543"/>
            <a:ext cx="3042704"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alpha val="55000"/>
                  </a:srgbClr>
                </a:solidFill>
                <a:latin typeface="Courier New" pitchFamily="34" charset="0"/>
                <a:ea typeface="Courier New" pitchFamily="34" charset="-122"/>
                <a:cs typeface="Courier New" pitchFamily="34" charset="-120"/>
              </a:rPr>
              <a:t>FOCUSED DARK · GREEN</a:t>
            </a:r>
            <a:endParaRPr lang="en-US" sz="1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1013"/>
        </a:solidFill>
      </p:bgPr>
    </p:bg>
    <p:spTree>
      <p:nvGrpSpPr>
        <p:cNvPr id="1" name=""/>
        <p:cNvGrpSpPr/>
        <p:nvPr/>
      </p:nvGrpSpPr>
      <p:grpSpPr>
        <a:xfrm>
          <a:off x="0" y="0"/>
          <a:ext cx="0" cy="0"/>
          <a:chOff x="0" y="0"/>
          <a:chExt cx="0" cy="0"/>
        </a:xfrm>
      </p:grpSpPr>
      <p:sp>
        <p:nvSpPr>
          <p:cNvPr id="2" name="Shape 0"/>
          <p:cNvSpPr/>
          <p:nvPr/>
        </p:nvSpPr>
        <p:spPr>
          <a:xfrm>
            <a:off x="685800" y="0"/>
            <a:ext cx="16916401" cy="9515475"/>
          </a:xfrm>
          <a:prstGeom prst="rect">
            <a:avLst/>
          </a:prstGeom>
          <a:solidFill>
            <a:srgbClr val="0F1C24"/>
          </a:solidFill>
          <a:ln/>
        </p:spPr>
      </p:sp>
      <p:sp>
        <p:nvSpPr>
          <p:cNvPr id="3" name="Shape 1"/>
          <p:cNvSpPr/>
          <p:nvPr/>
        </p:nvSpPr>
        <p:spPr>
          <a:xfrm>
            <a:off x="-2920097" y="10215117"/>
            <a:ext cx="12197680" cy="18355"/>
          </a:xfrm>
          <a:prstGeom prst="rect">
            <a:avLst/>
          </a:prstGeom>
          <a:solidFill>
            <a:srgbClr val="F1EDE5">
              <a:alpha val="7000"/>
            </a:srgbClr>
          </a:solidFill>
          <a:ln/>
        </p:spPr>
      </p:sp>
      <p:sp>
        <p:nvSpPr>
          <p:cNvPr id="4" name="Shape 2"/>
          <p:cNvSpPr/>
          <p:nvPr/>
        </p:nvSpPr>
        <p:spPr>
          <a:xfrm>
            <a:off x="-2920097" y="6016113"/>
            <a:ext cx="12197680" cy="18355"/>
          </a:xfrm>
          <a:prstGeom prst="rect">
            <a:avLst/>
          </a:prstGeom>
          <a:solidFill>
            <a:srgbClr val="F1EDE5">
              <a:alpha val="7000"/>
            </a:srgbClr>
          </a:solidFill>
          <a:ln/>
        </p:spPr>
      </p:sp>
      <p:sp>
        <p:nvSpPr>
          <p:cNvPr id="5" name="Shape 3"/>
          <p:cNvSpPr/>
          <p:nvPr/>
        </p:nvSpPr>
        <p:spPr>
          <a:xfrm>
            <a:off x="3876372" y="9645501"/>
            <a:ext cx="5495320" cy="18355"/>
          </a:xfrm>
          <a:prstGeom prst="rect">
            <a:avLst/>
          </a:prstGeom>
          <a:solidFill>
            <a:srgbClr val="5FD6BB">
              <a:alpha val="13000"/>
            </a:srgbClr>
          </a:solidFill>
          <a:ln/>
        </p:spPr>
      </p:sp>
      <p:sp>
        <p:nvSpPr>
          <p:cNvPr id="6" name="Shape 4"/>
          <p:cNvSpPr/>
          <p:nvPr/>
        </p:nvSpPr>
        <p:spPr>
          <a:xfrm>
            <a:off x="3876372" y="7152443"/>
            <a:ext cx="5495320" cy="18355"/>
          </a:xfrm>
          <a:prstGeom prst="rect">
            <a:avLst/>
          </a:prstGeom>
          <a:solidFill>
            <a:srgbClr val="5FD6BB">
              <a:alpha val="13000"/>
            </a:srgbClr>
          </a:solidFill>
          <a:ln/>
        </p:spPr>
      </p:sp>
      <p:sp>
        <p:nvSpPr>
          <p:cNvPr id="7" name="Shape 5"/>
          <p:cNvSpPr/>
          <p:nvPr/>
        </p:nvSpPr>
        <p:spPr>
          <a:xfrm>
            <a:off x="3876372" y="7152443"/>
            <a:ext cx="18355" cy="2511414"/>
          </a:xfrm>
          <a:prstGeom prst="rect">
            <a:avLst/>
          </a:prstGeom>
          <a:solidFill>
            <a:srgbClr val="5FD6BB">
              <a:alpha val="13000"/>
            </a:srgbClr>
          </a:solidFill>
          <a:ln/>
        </p:spPr>
      </p:sp>
      <p:sp>
        <p:nvSpPr>
          <p:cNvPr id="8" name="Shape 6"/>
          <p:cNvSpPr/>
          <p:nvPr/>
        </p:nvSpPr>
        <p:spPr>
          <a:xfrm>
            <a:off x="9353337" y="7152443"/>
            <a:ext cx="18355" cy="2511414"/>
          </a:xfrm>
          <a:prstGeom prst="rect">
            <a:avLst/>
          </a:prstGeom>
          <a:solidFill>
            <a:srgbClr val="5FD6BB">
              <a:alpha val="13000"/>
            </a:srgbClr>
          </a:solidFill>
          <a:ln/>
        </p:spPr>
      </p:sp>
      <p:sp>
        <p:nvSpPr>
          <p:cNvPr id="9" name="Shape 7"/>
          <p:cNvSpPr/>
          <p:nvPr/>
        </p:nvSpPr>
        <p:spPr>
          <a:xfrm>
            <a:off x="6324600" y="-528637"/>
            <a:ext cx="5668169" cy="10954543"/>
          </a:xfrm>
          <a:prstGeom prst="roundRect">
            <a:avLst>
              <a:gd name="adj" fmla="val 13990"/>
            </a:avLst>
          </a:prstGeom>
          <a:ln w="14684">
            <a:solidFill>
              <a:srgbClr val="F1EDE5">
                <a:alpha val="10000"/>
              </a:srgbClr>
            </a:solidFill>
            <a:prstDash val="solid"/>
          </a:ln>
        </p:spPr>
      </p:sp>
      <p:sp>
        <p:nvSpPr>
          <p:cNvPr id="10" name="Shape 8"/>
          <p:cNvSpPr/>
          <p:nvPr/>
        </p:nvSpPr>
        <p:spPr>
          <a:xfrm>
            <a:off x="6853238" y="1233488"/>
            <a:ext cx="3876675" cy="1564689"/>
          </a:xfrm>
          <a:custGeom>
            <a:avLst/>
            <a:gdLst/>
            <a:ahLst/>
            <a:cxnLst/>
            <a:rect l="l" t="t" r="r" b="b"/>
            <a:pathLst>
              <a:path w="3876675" h="1564689">
                <a:moveTo>
                  <a:pt x="299561" y="0"/>
                </a:moveTo>
                <a:lnTo>
                  <a:pt x="3577114" y="0"/>
                </a:lnTo>
                <a:arcTo hR="299561" wR="299561" stAng="16200000" swAng="5400000"/>
                <a:lnTo>
                  <a:pt x="3876675" y="1265128"/>
                </a:lnTo>
                <a:arcTo hR="299561" wR="299561" stAng="0" swAng="5400000"/>
                <a:lnTo>
                  <a:pt x="70485" y="1564689"/>
                </a:lnTo>
                <a:arcTo hR="70485" wR="70485" stAng="5400000" swAng="5400000"/>
                <a:lnTo>
                  <a:pt x="0" y="299561"/>
                </a:lnTo>
                <a:arcTo hR="299561" wR="299561" stAng="10800000" swAng="5400000"/>
                <a:close/>
              </a:path>
            </a:pathLst>
          </a:custGeom>
          <a:solidFill>
            <a:srgbClr val="182933">
              <a:alpha val="60000"/>
            </a:srgbClr>
          </a:solidFill>
          <a:ln/>
        </p:spPr>
      </p:sp>
      <p:sp>
        <p:nvSpPr>
          <p:cNvPr id="11" name="Text 9"/>
          <p:cNvSpPr/>
          <p:nvPr/>
        </p:nvSpPr>
        <p:spPr>
          <a:xfrm>
            <a:off x="7170386" y="1497806"/>
            <a:ext cx="3339650" cy="714729"/>
          </a:xfrm>
          <a:prstGeom prst="rect">
            <a:avLst/>
          </a:prstGeom>
          <a:noFill/>
          <a:ln/>
        </p:spPr>
        <p:txBody>
          <a:bodyPr wrap="square" lIns="25400" tIns="25400" rIns="25400" bIns="25400" rtlCol="0" anchor="t">
            <a:normAutofit/>
          </a:bodyPr>
          <a:lstStyle/>
          <a:p>
            <a:pPr algn="l" indent="0" marL="0">
              <a:lnSpc>
                <a:spcPct val="103551"/>
              </a:lnSpc>
              <a:buNone/>
            </a:pPr>
            <a:r>
              <a:rPr lang="en-US" sz="2220" spc="-33" kern="0" dirty="0">
                <a:solidFill>
                  <a:srgbClr val="F1EDE5">
                    <a:alpha val="60000"/>
                  </a:srgbClr>
                </a:solidFill>
                <a:latin typeface="Arial" pitchFamily="34" charset="0"/>
                <a:ea typeface="Arial" pitchFamily="34" charset="-122"/>
                <a:cs typeface="Arial" pitchFamily="34" charset="-120"/>
              </a:rPr>
              <a:t>Coffee's on us tomorrow morning.</a:t>
            </a:r>
            <a:endParaRPr lang="en-US" sz="2220" dirty="0"/>
          </a:p>
        </p:txBody>
      </p:sp>
      <p:sp>
        <p:nvSpPr>
          <p:cNvPr id="12" name="Text 10"/>
          <p:cNvSpPr/>
          <p:nvPr/>
        </p:nvSpPr>
        <p:spPr>
          <a:xfrm>
            <a:off x="7170386" y="2262541"/>
            <a:ext cx="3566616" cy="309417"/>
          </a:xfrm>
          <a:prstGeom prst="rect">
            <a:avLst/>
          </a:prstGeom>
          <a:noFill/>
          <a:ln/>
        </p:spPr>
        <p:txBody>
          <a:bodyPr wrap="square" lIns="25400" tIns="25400" rIns="25400" bIns="25400" rtlCol="0" anchor="t">
            <a:normAutofit/>
          </a:bodyPr>
          <a:lstStyle/>
          <a:p>
            <a:pPr algn="l" indent="0" marL="0">
              <a:lnSpc>
                <a:spcPct val="121180"/>
              </a:lnSpc>
              <a:buNone/>
            </a:pPr>
            <a:r>
              <a:rPr lang="en-US" sz="1526" dirty="0">
                <a:solidFill>
                  <a:srgbClr val="F1EDE5">
                    <a:alpha val="36000"/>
                  </a:srgbClr>
                </a:solidFill>
                <a:latin typeface="Arial" pitchFamily="34" charset="0"/>
                <a:ea typeface="Arial" pitchFamily="34" charset="-122"/>
                <a:cs typeface="Arial" pitchFamily="34" charset="-120"/>
              </a:rPr>
              <a:t>$25+ fill-up · 7–10 AM · First 30</a:t>
            </a:r>
            <a:endParaRPr lang="en-US" sz="1526" dirty="0"/>
          </a:p>
        </p:txBody>
      </p:sp>
      <p:sp>
        <p:nvSpPr>
          <p:cNvPr id="13" name="Shape 11"/>
          <p:cNvSpPr/>
          <p:nvPr/>
        </p:nvSpPr>
        <p:spPr>
          <a:xfrm>
            <a:off x="6811709" y="3876675"/>
            <a:ext cx="4623054" cy="1180543"/>
          </a:xfrm>
          <a:custGeom>
            <a:avLst/>
            <a:gdLst/>
            <a:ahLst/>
            <a:cxnLst/>
            <a:rect l="l" t="t" r="r" b="b"/>
            <a:pathLst>
              <a:path w="4623054" h="1180543">
                <a:moveTo>
                  <a:pt x="387668" y="0"/>
                </a:moveTo>
                <a:lnTo>
                  <a:pt x="4235387" y="0"/>
                </a:lnTo>
                <a:arcTo hR="387668" wR="387668" stAng="16200000" swAng="5400000"/>
                <a:lnTo>
                  <a:pt x="4623054" y="1092437"/>
                </a:lnTo>
                <a:arcTo hR="88106" wR="88106" stAng="0" swAng="5400000"/>
                <a:lnTo>
                  <a:pt x="387668" y="1180543"/>
                </a:lnTo>
                <a:arcTo hR="387668" wR="387668" stAng="5400000" swAng="5400000"/>
                <a:lnTo>
                  <a:pt x="0" y="387668"/>
                </a:lnTo>
                <a:arcTo hR="387668" wR="387668" stAng="10800000" swAng="5400000"/>
                <a:close/>
              </a:path>
            </a:pathLst>
          </a:custGeom>
          <a:solidFill>
            <a:srgbClr val="E2A24F"/>
          </a:solidFill>
          <a:ln/>
        </p:spPr>
      </p:sp>
      <p:sp>
        <p:nvSpPr>
          <p:cNvPr id="14" name="Text 12"/>
          <p:cNvSpPr/>
          <p:nvPr/>
        </p:nvSpPr>
        <p:spPr>
          <a:xfrm>
            <a:off x="7216997" y="4176236"/>
            <a:ext cx="3951169" cy="619521"/>
          </a:xfrm>
          <a:prstGeom prst="rect">
            <a:avLst/>
          </a:prstGeom>
          <a:noFill/>
          <a:ln/>
        </p:spPr>
        <p:txBody>
          <a:bodyPr wrap="square" lIns="25400" tIns="25400" rIns="25400" bIns="25400" rtlCol="0" anchor="t">
            <a:normAutofit/>
          </a:bodyPr>
          <a:lstStyle/>
          <a:p>
            <a:pPr algn="l" indent="0" marL="0">
              <a:lnSpc>
                <a:spcPct val="96585"/>
              </a:lnSpc>
              <a:buNone/>
            </a:pPr>
            <a:r>
              <a:rPr lang="en-US" sz="4163" i="1" dirty="0">
                <a:solidFill>
                  <a:srgbClr val="17201F"/>
                </a:solidFill>
                <a:latin typeface="Georgia" pitchFamily="34" charset="0"/>
                <a:ea typeface="Georgia" pitchFamily="34" charset="-122"/>
                <a:cs typeface="Georgia" pitchFamily="34" charset="-120"/>
              </a:rPr>
              <a:t>Does diesel count?</a:t>
            </a:r>
            <a:endParaRPr lang="en-US" sz="4163" dirty="0"/>
          </a:p>
        </p:txBody>
      </p:sp>
      <p:sp>
        <p:nvSpPr>
          <p:cNvPr id="15" name="Text 13"/>
          <p:cNvSpPr/>
          <p:nvPr/>
        </p:nvSpPr>
        <p:spPr>
          <a:xfrm>
            <a:off x="1390650" y="528637"/>
            <a:ext cx="2763330"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F1EDE5">
                    <a:alpha val="50000"/>
                  </a:srgbClr>
                </a:solidFill>
                <a:latin typeface="Courier New" pitchFamily="34" charset="0"/>
                <a:ea typeface="Courier New" pitchFamily="34" charset="-122"/>
                <a:cs typeface="Courier New" pitchFamily="34" charset="-120"/>
              </a:rPr>
              <a:t>THURSDAY · 6:52 PM</a:t>
            </a:r>
            <a:endParaRPr lang="en-US" sz="1665" dirty="0"/>
          </a:p>
        </p:txBody>
      </p:sp>
      <p:sp>
        <p:nvSpPr>
          <p:cNvPr id="16" name="Text 14"/>
          <p:cNvSpPr/>
          <p:nvPr/>
        </p:nvSpPr>
        <p:spPr>
          <a:xfrm>
            <a:off x="1390650" y="8570570"/>
            <a:ext cx="5526597"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F1EDE5">
                    <a:alpha val="50000"/>
                  </a:srgbClr>
                </a:solidFill>
                <a:latin typeface="Courier New" pitchFamily="34" charset="0"/>
                <a:ea typeface="Courier New" pitchFamily="34" charset="-122"/>
                <a:cs typeface="Courier New" pitchFamily="34" charset="-120"/>
              </a:rPr>
              <a:t>900 MS OF NOTHING. JOE IS NOT ASKED.</a:t>
            </a:r>
            <a:endParaRPr lang="en-US" sz="1665" dirty="0"/>
          </a:p>
        </p:txBody>
      </p:sp>
      <p:sp>
        <p:nvSpPr>
          <p:cNvPr id="17" name="Text 15"/>
          <p:cNvSpPr/>
          <p:nvPr/>
        </p:nvSpPr>
        <p:spPr>
          <a:xfrm>
            <a:off x="685788" y="9765543"/>
            <a:ext cx="3042704"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alpha val="55000"/>
                  </a:srgbClr>
                </a:solidFill>
                <a:latin typeface="Courier New" pitchFamily="34" charset="0"/>
                <a:ea typeface="Courier New" pitchFamily="34" charset="-122"/>
                <a:cs typeface="Courier New" pitchFamily="34" charset="-120"/>
              </a:rPr>
              <a:t>SCENE 11 · 0:46–0:49</a:t>
            </a:r>
            <a:endParaRPr lang="en-US" sz="1650" dirty="0"/>
          </a:p>
        </p:txBody>
      </p:sp>
      <p:sp>
        <p:nvSpPr>
          <p:cNvPr id="18" name="Text 16"/>
          <p:cNvSpPr/>
          <p:nvPr/>
        </p:nvSpPr>
        <p:spPr>
          <a:xfrm>
            <a:off x="8590793" y="9765543"/>
            <a:ext cx="1182675"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solidFill>
                <a:latin typeface="Courier New" pitchFamily="34" charset="0"/>
                <a:ea typeface="Courier New" pitchFamily="34" charset="-122"/>
                <a:cs typeface="Courier New" pitchFamily="34" charset="-120"/>
              </a:rPr>
              <a:t>CONVERSE</a:t>
            </a:r>
            <a:endParaRPr lang="en-US" sz="1650" dirty="0"/>
          </a:p>
        </p:txBody>
      </p:sp>
      <p:sp>
        <p:nvSpPr>
          <p:cNvPr id="19" name="Text 17"/>
          <p:cNvSpPr/>
          <p:nvPr/>
        </p:nvSpPr>
        <p:spPr>
          <a:xfrm>
            <a:off x="14836118" y="9765543"/>
            <a:ext cx="3042704"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alpha val="55000"/>
                  </a:srgbClr>
                </a:solidFill>
                <a:latin typeface="Courier New" pitchFamily="34" charset="0"/>
                <a:ea typeface="Courier New" pitchFamily="34" charset="-122"/>
                <a:cs typeface="Courier New" pitchFamily="34" charset="-120"/>
              </a:rPr>
              <a:t>FOCUSED DARK · GREEN</a:t>
            </a:r>
            <a:endParaRPr lang="en-US" sz="16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1013"/>
        </a:solidFill>
      </p:bgPr>
    </p:bg>
    <p:spTree>
      <p:nvGrpSpPr>
        <p:cNvPr id="1" name=""/>
        <p:cNvGrpSpPr/>
        <p:nvPr/>
      </p:nvGrpSpPr>
      <p:grpSpPr>
        <a:xfrm>
          <a:off x="0" y="0"/>
          <a:ext cx="0" cy="0"/>
          <a:chOff x="0" y="0"/>
          <a:chExt cx="0" cy="0"/>
        </a:xfrm>
      </p:grpSpPr>
      <p:sp>
        <p:nvSpPr>
          <p:cNvPr id="2" name="Shape 0"/>
          <p:cNvSpPr/>
          <p:nvPr/>
        </p:nvSpPr>
        <p:spPr>
          <a:xfrm>
            <a:off x="685800" y="0"/>
            <a:ext cx="16916401" cy="9515475"/>
          </a:xfrm>
          <a:prstGeom prst="rect">
            <a:avLst/>
          </a:prstGeom>
          <a:solidFill>
            <a:srgbClr val="0F1C24"/>
          </a:solidFill>
          <a:ln/>
        </p:spPr>
      </p:sp>
      <p:sp>
        <p:nvSpPr>
          <p:cNvPr id="3" name="Shape 1"/>
          <p:cNvSpPr/>
          <p:nvPr/>
        </p:nvSpPr>
        <p:spPr>
          <a:xfrm>
            <a:off x="1743075" y="1927765"/>
            <a:ext cx="5981591" cy="5836159"/>
          </a:xfrm>
          <a:prstGeom prst="rect">
            <a:avLst/>
          </a:prstGeom>
          <a:solidFill>
            <a:srgbClr val="FAF8F4">
              <a:alpha val="34000"/>
            </a:srgbClr>
          </a:solidFill>
          <a:ln/>
          <a:effectLst>
            <a:outerShdw sx="100000" sy="100000" kx="0" ky="0" algn="bl" rotWithShape="0" blurRad="1143000" dist="571500" dir="5400000">
              <a:srgbClr val="000000">
                <a:alpha val="27200"/>
              </a:srgbClr>
            </a:outerShdw>
          </a:effectLst>
        </p:spPr>
      </p:sp>
      <p:sp>
        <p:nvSpPr>
          <p:cNvPr id="4" name="Text 2"/>
          <p:cNvSpPr/>
          <p:nvPr/>
        </p:nvSpPr>
        <p:spPr>
          <a:xfrm>
            <a:off x="2200739" y="2359560"/>
            <a:ext cx="5694638" cy="718780"/>
          </a:xfrm>
          <a:prstGeom prst="rect">
            <a:avLst/>
          </a:prstGeom>
          <a:noFill/>
          <a:ln/>
        </p:spPr>
        <p:txBody>
          <a:bodyPr wrap="square" lIns="25400" tIns="25400" rIns="25400" bIns="25400" rtlCol="0" anchor="t">
            <a:normAutofit/>
          </a:bodyPr>
          <a:lstStyle/>
          <a:p>
            <a:pPr algn="l" indent="0" marL="0">
              <a:lnSpc>
                <a:spcPct val="87568"/>
              </a:lnSpc>
              <a:buNone/>
            </a:pPr>
            <a:r>
              <a:rPr lang="en-US" sz="3447" spc="-103" kern="0" dirty="0">
                <a:solidFill>
                  <a:srgbClr val="17201F">
                    <a:alpha val="34000"/>
                  </a:srgbClr>
                </a:solidFill>
                <a:latin typeface="Arial" pitchFamily="34" charset="0"/>
                <a:ea typeface="Arial" pitchFamily="34" charset="-122"/>
                <a:cs typeface="Arial" pitchFamily="34" charset="-120"/>
              </a:rPr>
              <a:t>Morning Coffee Drop</a:t>
            </a:r>
            <a:endParaRPr lang="en-US" sz="3447" dirty="0"/>
          </a:p>
        </p:txBody>
      </p:sp>
      <p:sp>
        <p:nvSpPr>
          <p:cNvPr id="5" name="Shape 3"/>
          <p:cNvSpPr/>
          <p:nvPr/>
        </p:nvSpPr>
        <p:spPr>
          <a:xfrm>
            <a:off x="2200739" y="3033242"/>
            <a:ext cx="5176943" cy="232687"/>
          </a:xfrm>
          <a:prstGeom prst="rect">
            <a:avLst/>
          </a:prstGeom>
          <a:solidFill>
            <a:srgbClr val="17201F">
              <a:alpha val="7000"/>
            </a:srgbClr>
          </a:solidFill>
          <a:ln/>
        </p:spPr>
      </p:sp>
      <p:sp>
        <p:nvSpPr>
          <p:cNvPr id="6" name="Text 4"/>
          <p:cNvSpPr/>
          <p:nvPr/>
        </p:nvSpPr>
        <p:spPr>
          <a:xfrm>
            <a:off x="2200739" y="3178964"/>
            <a:ext cx="1534381" cy="329277"/>
          </a:xfrm>
          <a:prstGeom prst="rect">
            <a:avLst/>
          </a:prstGeom>
          <a:noFill/>
          <a:ln/>
        </p:spPr>
        <p:txBody>
          <a:bodyPr wrap="square" lIns="25400" tIns="25400" rIns="25400" bIns="25400" rtlCol="0" anchor="t">
            <a:normAutofit/>
          </a:bodyPr>
          <a:lstStyle/>
          <a:p>
            <a:pPr algn="l" indent="0" marL="0">
              <a:buNone/>
            </a:pPr>
            <a:r>
              <a:rPr lang="en-US" sz="1149" spc="69" kern="0" dirty="0">
                <a:solidFill>
                  <a:srgbClr val="17201F">
                    <a:alpha val="20000"/>
                  </a:srgbClr>
                </a:solidFill>
                <a:latin typeface="Courier New" pitchFamily="34" charset="0"/>
                <a:ea typeface="Courier New" pitchFamily="34" charset="-122"/>
                <a:cs typeface="Courier New" pitchFamily="34" charset="-120"/>
              </a:rPr>
              <a:t>GOAL</a:t>
            </a:r>
            <a:endParaRPr lang="en-US" sz="1149" dirty="0"/>
          </a:p>
        </p:txBody>
      </p:sp>
      <p:sp>
        <p:nvSpPr>
          <p:cNvPr id="7" name="Text 5"/>
          <p:cNvSpPr/>
          <p:nvPr/>
        </p:nvSpPr>
        <p:spPr>
          <a:xfrm>
            <a:off x="3869146" y="3248788"/>
            <a:ext cx="3613792" cy="371187"/>
          </a:xfrm>
          <a:prstGeom prst="rect">
            <a:avLst/>
          </a:prstGeom>
          <a:noFill/>
          <a:ln/>
        </p:spPr>
        <p:txBody>
          <a:bodyPr wrap="square" lIns="25400" tIns="25400" rIns="25400" bIns="25400" rtlCol="0" anchor="t">
            <a:normAutofit/>
          </a:bodyPr>
          <a:lstStyle/>
          <a:p>
            <a:pPr algn="l" indent="0" marL="0">
              <a:lnSpc>
                <a:spcPct val="113455"/>
              </a:lnSpc>
              <a:buNone/>
            </a:pPr>
            <a:r>
              <a:rPr lang="en-US" sz="1532" dirty="0">
                <a:solidFill>
                  <a:srgbClr val="17201F">
                    <a:alpha val="34000"/>
                  </a:srgbClr>
                </a:solidFill>
                <a:latin typeface="Arial" pitchFamily="34" charset="0"/>
                <a:ea typeface="Arial" pitchFamily="34" charset="-122"/>
                <a:cs typeface="Arial" pitchFamily="34" charset="-120"/>
              </a:rPr>
              <a:t>Bring in more Friday morning visits.</a:t>
            </a:r>
            <a:endParaRPr lang="en-US" sz="1532" dirty="0"/>
          </a:p>
        </p:txBody>
      </p:sp>
      <p:sp>
        <p:nvSpPr>
          <p:cNvPr id="8" name="Shape 6"/>
          <p:cNvSpPr/>
          <p:nvPr/>
        </p:nvSpPr>
        <p:spPr>
          <a:xfrm>
            <a:off x="2200739" y="3556022"/>
            <a:ext cx="5176943" cy="169642"/>
          </a:xfrm>
          <a:prstGeom prst="rect">
            <a:avLst/>
          </a:prstGeom>
          <a:solidFill>
            <a:srgbClr val="17201F">
              <a:alpha val="7000"/>
            </a:srgbClr>
          </a:solidFill>
          <a:ln/>
        </p:spPr>
      </p:sp>
      <p:sp>
        <p:nvSpPr>
          <p:cNvPr id="9" name="Text 7"/>
          <p:cNvSpPr/>
          <p:nvPr/>
        </p:nvSpPr>
        <p:spPr>
          <a:xfrm>
            <a:off x="2200739" y="3701744"/>
            <a:ext cx="1534381" cy="311519"/>
          </a:xfrm>
          <a:prstGeom prst="rect">
            <a:avLst/>
          </a:prstGeom>
          <a:noFill/>
          <a:ln/>
        </p:spPr>
        <p:txBody>
          <a:bodyPr wrap="square" lIns="25400" tIns="25400" rIns="25400" bIns="25400" rtlCol="0" anchor="t">
            <a:normAutofit/>
          </a:bodyPr>
          <a:lstStyle/>
          <a:p>
            <a:pPr algn="l" indent="0" marL="0">
              <a:buNone/>
            </a:pPr>
            <a:r>
              <a:rPr lang="en-US" sz="1149" spc="69" kern="0" dirty="0">
                <a:solidFill>
                  <a:srgbClr val="17201F">
                    <a:alpha val="20000"/>
                  </a:srgbClr>
                </a:solidFill>
                <a:latin typeface="Courier New" pitchFamily="34" charset="0"/>
                <a:ea typeface="Courier New" pitchFamily="34" charset="-122"/>
                <a:cs typeface="Courier New" pitchFamily="34" charset="-120"/>
              </a:rPr>
              <a:t>OFFER</a:t>
            </a:r>
            <a:endParaRPr lang="en-US" sz="1149" dirty="0"/>
          </a:p>
        </p:txBody>
      </p:sp>
      <p:sp>
        <p:nvSpPr>
          <p:cNvPr id="10" name="Text 8"/>
          <p:cNvSpPr/>
          <p:nvPr/>
        </p:nvSpPr>
        <p:spPr>
          <a:xfrm>
            <a:off x="3869146" y="3751250"/>
            <a:ext cx="3613792" cy="328460"/>
          </a:xfrm>
          <a:prstGeom prst="rect">
            <a:avLst/>
          </a:prstGeom>
          <a:noFill/>
          <a:ln/>
        </p:spPr>
        <p:txBody>
          <a:bodyPr wrap="square" lIns="25400" tIns="25400" rIns="25400" bIns="25400" rtlCol="0" anchor="t">
            <a:normAutofit/>
          </a:bodyPr>
          <a:lstStyle/>
          <a:p>
            <a:pPr algn="l" indent="0" marL="0">
              <a:lnSpc>
                <a:spcPct val="113455"/>
              </a:lnSpc>
              <a:buNone/>
            </a:pPr>
            <a:r>
              <a:rPr lang="en-US" sz="1532" dirty="0">
                <a:solidFill>
                  <a:srgbClr val="17201F">
                    <a:alpha val="34000"/>
                  </a:srgbClr>
                </a:solidFill>
                <a:latin typeface="Arial" pitchFamily="34" charset="0"/>
                <a:ea typeface="Arial" pitchFamily="34" charset="-122"/>
                <a:cs typeface="Arial" pitchFamily="34" charset="-120"/>
              </a:rPr>
              <a:t>$25+ fill-up → free large coffee.</a:t>
            </a:r>
            <a:endParaRPr lang="en-US" sz="1532" dirty="0"/>
          </a:p>
        </p:txBody>
      </p:sp>
      <p:sp>
        <p:nvSpPr>
          <p:cNvPr id="11" name="Shape 9"/>
          <p:cNvSpPr/>
          <p:nvPr/>
        </p:nvSpPr>
        <p:spPr>
          <a:xfrm>
            <a:off x="2200739" y="4078801"/>
            <a:ext cx="5176943" cy="106598"/>
          </a:xfrm>
          <a:prstGeom prst="rect">
            <a:avLst/>
          </a:prstGeom>
          <a:solidFill>
            <a:srgbClr val="17201F">
              <a:alpha val="7000"/>
            </a:srgbClr>
          </a:solidFill>
          <a:ln/>
        </p:spPr>
      </p:sp>
      <p:sp>
        <p:nvSpPr>
          <p:cNvPr id="12" name="Text 10"/>
          <p:cNvSpPr/>
          <p:nvPr/>
        </p:nvSpPr>
        <p:spPr>
          <a:xfrm>
            <a:off x="2200739" y="4224524"/>
            <a:ext cx="1534381" cy="293762"/>
          </a:xfrm>
          <a:prstGeom prst="rect">
            <a:avLst/>
          </a:prstGeom>
          <a:noFill/>
          <a:ln/>
        </p:spPr>
        <p:txBody>
          <a:bodyPr wrap="square" lIns="25400" tIns="25400" rIns="25400" bIns="25400" rtlCol="0" anchor="t">
            <a:normAutofit/>
          </a:bodyPr>
          <a:lstStyle/>
          <a:p>
            <a:pPr algn="l" indent="0" marL="0">
              <a:buNone/>
            </a:pPr>
            <a:r>
              <a:rPr lang="en-US" sz="1149" spc="69" kern="0" dirty="0">
                <a:solidFill>
                  <a:srgbClr val="17201F">
                    <a:alpha val="20000"/>
                  </a:srgbClr>
                </a:solidFill>
                <a:latin typeface="Courier New" pitchFamily="34" charset="0"/>
                <a:ea typeface="Courier New" pitchFamily="34" charset="-122"/>
                <a:cs typeface="Courier New" pitchFamily="34" charset="-120"/>
              </a:rPr>
              <a:t>WINDOW</a:t>
            </a:r>
            <a:endParaRPr lang="en-US" sz="1149" dirty="0"/>
          </a:p>
        </p:txBody>
      </p:sp>
      <p:sp>
        <p:nvSpPr>
          <p:cNvPr id="13" name="Text 11"/>
          <p:cNvSpPr/>
          <p:nvPr/>
        </p:nvSpPr>
        <p:spPr>
          <a:xfrm>
            <a:off x="3869146" y="4253711"/>
            <a:ext cx="3613792" cy="285733"/>
          </a:xfrm>
          <a:prstGeom prst="rect">
            <a:avLst/>
          </a:prstGeom>
          <a:noFill/>
          <a:ln/>
        </p:spPr>
        <p:txBody>
          <a:bodyPr wrap="square" lIns="25400" tIns="25400" rIns="25400" bIns="25400" rtlCol="0" anchor="t">
            <a:normAutofit/>
          </a:bodyPr>
          <a:lstStyle/>
          <a:p>
            <a:pPr algn="l" indent="0" marL="0">
              <a:lnSpc>
                <a:spcPct val="113455"/>
              </a:lnSpc>
              <a:buNone/>
            </a:pPr>
            <a:r>
              <a:rPr lang="en-US" sz="1532" dirty="0">
                <a:solidFill>
                  <a:srgbClr val="17201F">
                    <a:alpha val="34000"/>
                  </a:srgbClr>
                </a:solidFill>
                <a:latin typeface="Arial" pitchFamily="34" charset="0"/>
                <a:ea typeface="Arial" pitchFamily="34" charset="-122"/>
                <a:cs typeface="Arial" pitchFamily="34" charset="-120"/>
              </a:rPr>
              <a:t>Friday · 7–10 AM</a:t>
            </a:r>
            <a:endParaRPr lang="en-US" sz="1532" dirty="0"/>
          </a:p>
        </p:txBody>
      </p:sp>
      <p:sp>
        <p:nvSpPr>
          <p:cNvPr id="14" name="Shape 12"/>
          <p:cNvSpPr/>
          <p:nvPr/>
        </p:nvSpPr>
        <p:spPr>
          <a:xfrm>
            <a:off x="2200739" y="4601580"/>
            <a:ext cx="5176943" cy="43554"/>
          </a:xfrm>
          <a:prstGeom prst="rect">
            <a:avLst/>
          </a:prstGeom>
          <a:solidFill>
            <a:srgbClr val="17201F">
              <a:alpha val="7000"/>
            </a:srgbClr>
          </a:solidFill>
          <a:ln/>
        </p:spPr>
      </p:sp>
      <p:sp>
        <p:nvSpPr>
          <p:cNvPr id="15" name="Text 13"/>
          <p:cNvSpPr/>
          <p:nvPr/>
        </p:nvSpPr>
        <p:spPr>
          <a:xfrm>
            <a:off x="2200739" y="4747303"/>
            <a:ext cx="1534381" cy="285464"/>
          </a:xfrm>
          <a:prstGeom prst="rect">
            <a:avLst/>
          </a:prstGeom>
          <a:noFill/>
          <a:ln/>
        </p:spPr>
        <p:txBody>
          <a:bodyPr wrap="square" lIns="25400" tIns="25400" rIns="25400" bIns="25400" rtlCol="0" anchor="t">
            <a:normAutofit/>
          </a:bodyPr>
          <a:lstStyle/>
          <a:p>
            <a:pPr algn="l" indent="0" marL="0">
              <a:buNone/>
            </a:pPr>
            <a:r>
              <a:rPr lang="en-US" sz="1149" spc="69" kern="0" dirty="0">
                <a:solidFill>
                  <a:srgbClr val="17201F">
                    <a:alpha val="20000"/>
                  </a:srgbClr>
                </a:solidFill>
                <a:latin typeface="Courier New" pitchFamily="34" charset="0"/>
                <a:ea typeface="Courier New" pitchFamily="34" charset="-122"/>
                <a:cs typeface="Courier New" pitchFamily="34" charset="-120"/>
              </a:rPr>
              <a:t>LIMIT</a:t>
            </a:r>
            <a:endParaRPr lang="en-US" sz="1149" dirty="0"/>
          </a:p>
        </p:txBody>
      </p:sp>
      <p:sp>
        <p:nvSpPr>
          <p:cNvPr id="16" name="Text 14"/>
          <p:cNvSpPr/>
          <p:nvPr/>
        </p:nvSpPr>
        <p:spPr>
          <a:xfrm>
            <a:off x="3869146" y="4756173"/>
            <a:ext cx="3613792" cy="265770"/>
          </a:xfrm>
          <a:prstGeom prst="rect">
            <a:avLst/>
          </a:prstGeom>
          <a:noFill/>
          <a:ln/>
        </p:spPr>
        <p:txBody>
          <a:bodyPr wrap="square" lIns="25400" tIns="25400" rIns="25400" bIns="25400" rtlCol="0" anchor="t">
            <a:normAutofit/>
          </a:bodyPr>
          <a:lstStyle/>
          <a:p>
            <a:pPr algn="l" indent="0" marL="0">
              <a:lnSpc>
                <a:spcPct val="113455"/>
              </a:lnSpc>
              <a:buNone/>
            </a:pPr>
            <a:r>
              <a:rPr lang="en-US" sz="1532" dirty="0">
                <a:solidFill>
                  <a:srgbClr val="17201F">
                    <a:alpha val="34000"/>
                  </a:srgbClr>
                </a:solidFill>
                <a:latin typeface="Arial" pitchFamily="34" charset="0"/>
                <a:ea typeface="Arial" pitchFamily="34" charset="-122"/>
                <a:cs typeface="Arial" pitchFamily="34" charset="-120"/>
              </a:rPr>
              <a:t>First 30.</a:t>
            </a:r>
            <a:endParaRPr lang="en-US" sz="1532" dirty="0"/>
          </a:p>
        </p:txBody>
      </p:sp>
      <p:sp>
        <p:nvSpPr>
          <p:cNvPr id="17" name="Shape 15"/>
          <p:cNvSpPr/>
          <p:nvPr/>
        </p:nvSpPr>
        <p:spPr>
          <a:xfrm>
            <a:off x="2200739" y="5090772"/>
            <a:ext cx="5176943" cy="49618"/>
          </a:xfrm>
          <a:prstGeom prst="rect">
            <a:avLst/>
          </a:prstGeom>
          <a:solidFill>
            <a:srgbClr val="17201F">
              <a:alpha val="7000"/>
            </a:srgbClr>
          </a:solidFill>
          <a:ln/>
        </p:spPr>
      </p:sp>
      <p:sp>
        <p:nvSpPr>
          <p:cNvPr id="18" name="Text 16"/>
          <p:cNvSpPr/>
          <p:nvPr/>
        </p:nvSpPr>
        <p:spPr>
          <a:xfrm>
            <a:off x="2200739" y="5260078"/>
            <a:ext cx="1534381" cy="295469"/>
          </a:xfrm>
          <a:prstGeom prst="rect">
            <a:avLst/>
          </a:prstGeom>
          <a:noFill/>
          <a:ln/>
        </p:spPr>
        <p:txBody>
          <a:bodyPr wrap="square" lIns="25400" tIns="25400" rIns="25400" bIns="25400" rtlCol="0" anchor="t">
            <a:normAutofit/>
          </a:bodyPr>
          <a:lstStyle/>
          <a:p>
            <a:pPr algn="l" indent="0" marL="0">
              <a:buNone/>
            </a:pPr>
            <a:r>
              <a:rPr lang="en-US" sz="1149" spc="69" kern="0" dirty="0">
                <a:solidFill>
                  <a:srgbClr val="17201F">
                    <a:alpha val="6000"/>
                  </a:srgbClr>
                </a:solidFill>
                <a:latin typeface="Courier New" pitchFamily="34" charset="0"/>
                <a:ea typeface="Courier New" pitchFamily="34" charset="-122"/>
                <a:cs typeface="Courier New" pitchFamily="34" charset="-120"/>
              </a:rPr>
              <a:t>FUEL</a:t>
            </a:r>
            <a:endParaRPr lang="en-US" sz="1149" dirty="0"/>
          </a:p>
        </p:txBody>
      </p:sp>
      <p:sp>
        <p:nvSpPr>
          <p:cNvPr id="19" name="Text 17"/>
          <p:cNvSpPr/>
          <p:nvPr/>
        </p:nvSpPr>
        <p:spPr>
          <a:xfrm>
            <a:off x="3869146" y="5234562"/>
            <a:ext cx="3613792" cy="289843"/>
          </a:xfrm>
          <a:prstGeom prst="rect">
            <a:avLst/>
          </a:prstGeom>
          <a:noFill/>
          <a:ln/>
        </p:spPr>
        <p:txBody>
          <a:bodyPr wrap="square" lIns="25400" tIns="25400" rIns="25400" bIns="25400" rtlCol="0" anchor="t">
            <a:normAutofit/>
          </a:bodyPr>
          <a:lstStyle/>
          <a:p>
            <a:pPr algn="l" indent="0" marL="0">
              <a:lnSpc>
                <a:spcPct val="113455"/>
              </a:lnSpc>
              <a:buNone/>
            </a:pPr>
            <a:r>
              <a:rPr lang="en-US" sz="1532" dirty="0">
                <a:solidFill>
                  <a:srgbClr val="17201F">
                    <a:alpha val="10000"/>
                  </a:srgbClr>
                </a:solidFill>
                <a:latin typeface="Arial" pitchFamily="34" charset="0"/>
                <a:ea typeface="Arial" pitchFamily="34" charset="-122"/>
                <a:cs typeface="Arial" pitchFamily="34" charset="-120"/>
              </a:rPr>
              <a:t>Regular · Premium · Diesel</a:t>
            </a:r>
            <a:endParaRPr lang="en-US" sz="1532" dirty="0"/>
          </a:p>
        </p:txBody>
      </p:sp>
      <p:sp>
        <p:nvSpPr>
          <p:cNvPr id="20" name="Shape 18"/>
          <p:cNvSpPr/>
          <p:nvPr/>
        </p:nvSpPr>
        <p:spPr>
          <a:xfrm>
            <a:off x="2200739" y="5550508"/>
            <a:ext cx="5176943" cy="112662"/>
          </a:xfrm>
          <a:prstGeom prst="rect">
            <a:avLst/>
          </a:prstGeom>
          <a:solidFill>
            <a:srgbClr val="17201F">
              <a:alpha val="7000"/>
            </a:srgbClr>
          </a:solidFill>
          <a:ln/>
        </p:spPr>
      </p:sp>
      <p:sp>
        <p:nvSpPr>
          <p:cNvPr id="21" name="Text 19"/>
          <p:cNvSpPr/>
          <p:nvPr/>
        </p:nvSpPr>
        <p:spPr>
          <a:xfrm>
            <a:off x="2200739" y="5765100"/>
            <a:ext cx="1534381" cy="313227"/>
          </a:xfrm>
          <a:prstGeom prst="rect">
            <a:avLst/>
          </a:prstGeom>
          <a:noFill/>
          <a:ln/>
        </p:spPr>
        <p:txBody>
          <a:bodyPr wrap="square" lIns="25400" tIns="25400" rIns="25400" bIns="25400" rtlCol="0" anchor="t">
            <a:normAutofit/>
          </a:bodyPr>
          <a:lstStyle/>
          <a:p>
            <a:pPr algn="l" indent="0" marL="0">
              <a:buNone/>
            </a:pPr>
            <a:r>
              <a:rPr lang="en-US" sz="1149" spc="69" kern="0" dirty="0">
                <a:solidFill>
                  <a:srgbClr val="17201F">
                    <a:alpha val="20000"/>
                  </a:srgbClr>
                </a:solidFill>
                <a:latin typeface="Courier New" pitchFamily="34" charset="0"/>
                <a:ea typeface="Courier New" pitchFamily="34" charset="-122"/>
                <a:cs typeface="Courier New" pitchFamily="34" charset="-120"/>
              </a:rPr>
              <a:t>RULE</a:t>
            </a:r>
            <a:endParaRPr lang="en-US" sz="1149" dirty="0"/>
          </a:p>
        </p:txBody>
      </p:sp>
      <p:sp>
        <p:nvSpPr>
          <p:cNvPr id="22" name="Text 20"/>
          <p:cNvSpPr/>
          <p:nvPr/>
        </p:nvSpPr>
        <p:spPr>
          <a:xfrm>
            <a:off x="3869146" y="5694297"/>
            <a:ext cx="3613792" cy="332570"/>
          </a:xfrm>
          <a:prstGeom prst="rect">
            <a:avLst/>
          </a:prstGeom>
          <a:noFill/>
          <a:ln/>
        </p:spPr>
        <p:txBody>
          <a:bodyPr wrap="square" lIns="25400" tIns="25400" rIns="25400" bIns="25400" rtlCol="0" anchor="t">
            <a:normAutofit/>
          </a:bodyPr>
          <a:lstStyle/>
          <a:p>
            <a:pPr algn="l" indent="0" marL="0">
              <a:lnSpc>
                <a:spcPct val="113455"/>
              </a:lnSpc>
              <a:buNone/>
            </a:pPr>
            <a:r>
              <a:rPr lang="en-US" sz="1532" dirty="0">
                <a:solidFill>
                  <a:srgbClr val="17201F">
                    <a:alpha val="34000"/>
                  </a:srgbClr>
                </a:solidFill>
                <a:latin typeface="Arial" pitchFamily="34" charset="0"/>
                <a:ea typeface="Arial" pitchFamily="34" charset="-122"/>
                <a:cs typeface="Arial" pitchFamily="34" charset="-120"/>
              </a:rPr>
              <a:t>Fuel is never discounted.</a:t>
            </a:r>
            <a:endParaRPr lang="en-US" sz="1532" dirty="0"/>
          </a:p>
        </p:txBody>
      </p:sp>
      <p:sp>
        <p:nvSpPr>
          <p:cNvPr id="23" name="Shape 21"/>
          <p:cNvSpPr/>
          <p:nvPr/>
        </p:nvSpPr>
        <p:spPr>
          <a:xfrm>
            <a:off x="2200739" y="6010243"/>
            <a:ext cx="5176943" cy="175706"/>
          </a:xfrm>
          <a:prstGeom prst="rect">
            <a:avLst/>
          </a:prstGeom>
          <a:solidFill>
            <a:srgbClr val="17201F">
              <a:alpha val="7000"/>
            </a:srgbClr>
          </a:solidFill>
          <a:ln/>
        </p:spPr>
      </p:sp>
      <p:sp>
        <p:nvSpPr>
          <p:cNvPr id="24" name="Shape 22"/>
          <p:cNvSpPr/>
          <p:nvPr/>
        </p:nvSpPr>
        <p:spPr>
          <a:xfrm>
            <a:off x="4386263" y="5638800"/>
            <a:ext cx="5462588" cy="1247483"/>
          </a:xfrm>
          <a:prstGeom prst="rect">
            <a:avLst/>
          </a:prstGeom>
          <a:solidFill>
            <a:srgbClr val="FAF8F4"/>
          </a:solidFill>
          <a:ln/>
          <a:effectLst>
            <a:outerShdw sx="100000" sy="100000" kx="0" ky="0" algn="bl" rotWithShape="0" blurRad="857250" dist="381000" dir="5400000">
              <a:srgbClr val="000000">
                <a:alpha val="90000"/>
              </a:srgbClr>
            </a:outerShdw>
          </a:effectLst>
        </p:spPr>
      </p:sp>
      <p:sp>
        <p:nvSpPr>
          <p:cNvPr id="25" name="Text 23"/>
          <p:cNvSpPr/>
          <p:nvPr/>
        </p:nvSpPr>
        <p:spPr>
          <a:xfrm>
            <a:off x="4738688" y="6135889"/>
            <a:ext cx="1133475" cy="291406"/>
          </a:xfrm>
          <a:prstGeom prst="rect">
            <a:avLst/>
          </a:prstGeom>
          <a:noFill/>
          <a:ln/>
        </p:spPr>
        <p:txBody>
          <a:bodyPr wrap="square" lIns="25400" tIns="25400" rIns="25400" bIns="25400" rtlCol="0" anchor="t">
            <a:normAutofit/>
          </a:bodyPr>
          <a:lstStyle/>
          <a:p>
            <a:pPr algn="l" indent="0" marL="0">
              <a:buNone/>
            </a:pPr>
            <a:r>
              <a:rPr lang="en-US" sz="1526" spc="92" kern="0" dirty="0">
                <a:solidFill>
                  <a:srgbClr val="0F6F5C"/>
                </a:solidFill>
                <a:latin typeface="Courier New" pitchFamily="34" charset="0"/>
                <a:ea typeface="Courier New" pitchFamily="34" charset="-122"/>
                <a:cs typeface="Courier New" pitchFamily="34" charset="-120"/>
              </a:rPr>
              <a:t>FUEL</a:t>
            </a:r>
            <a:endParaRPr lang="en-US" sz="1526" dirty="0"/>
          </a:p>
        </p:txBody>
      </p:sp>
      <p:sp>
        <p:nvSpPr>
          <p:cNvPr id="26" name="Text 24"/>
          <p:cNvSpPr/>
          <p:nvPr/>
        </p:nvSpPr>
        <p:spPr>
          <a:xfrm>
            <a:off x="6060282" y="5903119"/>
            <a:ext cx="3539228" cy="756946"/>
          </a:xfrm>
          <a:prstGeom prst="rect">
            <a:avLst/>
          </a:prstGeom>
          <a:noFill/>
          <a:ln/>
        </p:spPr>
        <p:txBody>
          <a:bodyPr wrap="square" lIns="25400" tIns="25400" rIns="25400" bIns="25400" rtlCol="0" anchor="t">
            <a:normAutofit/>
          </a:bodyPr>
          <a:lstStyle/>
          <a:p>
            <a:pPr algn="l" indent="0" marL="0">
              <a:lnSpc>
                <a:spcPct val="104170"/>
              </a:lnSpc>
              <a:buNone/>
            </a:pPr>
            <a:r>
              <a:rPr lang="en-US" sz="2359" spc="-35" kern="0" dirty="0">
                <a:solidFill>
                  <a:srgbClr val="17201F"/>
                </a:solidFill>
                <a:latin typeface="Arial" pitchFamily="34" charset="0"/>
                <a:ea typeface="Arial" pitchFamily="34" charset="-122"/>
                <a:cs typeface="Arial" pitchFamily="34" charset="-120"/>
              </a:rPr>
              <a:t>Regular · Premium · Diesel</a:t>
            </a:r>
            <a:endParaRPr lang="en-US" sz="2359" dirty="0"/>
          </a:p>
        </p:txBody>
      </p:sp>
      <p:sp>
        <p:nvSpPr>
          <p:cNvPr id="27" name="Shape 25"/>
          <p:cNvSpPr/>
          <p:nvPr/>
        </p:nvSpPr>
        <p:spPr>
          <a:xfrm>
            <a:off x="9848850" y="6079331"/>
            <a:ext cx="1321594" cy="14684"/>
          </a:xfrm>
          <a:prstGeom prst="rect">
            <a:avLst/>
          </a:prstGeom>
          <a:solidFill>
            <a:srgbClr val="5FD6BB"/>
          </a:solidFill>
          <a:ln/>
        </p:spPr>
      </p:sp>
      <p:sp>
        <p:nvSpPr>
          <p:cNvPr id="28" name="Shape 26"/>
          <p:cNvSpPr/>
          <p:nvPr/>
        </p:nvSpPr>
        <p:spPr>
          <a:xfrm>
            <a:off x="11152776" y="6079331"/>
            <a:ext cx="17610" cy="881063"/>
          </a:xfrm>
          <a:prstGeom prst="rect">
            <a:avLst/>
          </a:prstGeom>
          <a:solidFill>
            <a:srgbClr val="5FD6BB"/>
          </a:solidFill>
          <a:ln/>
        </p:spPr>
      </p:sp>
      <p:sp>
        <p:nvSpPr>
          <p:cNvPr id="29" name="Shape 27"/>
          <p:cNvSpPr/>
          <p:nvPr/>
        </p:nvSpPr>
        <p:spPr>
          <a:xfrm>
            <a:off x="11152776" y="6942727"/>
            <a:ext cx="528638" cy="14684"/>
          </a:xfrm>
          <a:prstGeom prst="rect">
            <a:avLst/>
          </a:prstGeom>
          <a:solidFill>
            <a:srgbClr val="5FD6BB"/>
          </a:solidFill>
          <a:ln/>
        </p:spPr>
      </p:sp>
      <p:sp>
        <p:nvSpPr>
          <p:cNvPr id="30" name="Shape 28"/>
          <p:cNvSpPr/>
          <p:nvPr/>
        </p:nvSpPr>
        <p:spPr>
          <a:xfrm>
            <a:off x="11082338" y="1497806"/>
            <a:ext cx="4044283" cy="1032553"/>
          </a:xfrm>
          <a:custGeom>
            <a:avLst/>
            <a:gdLst/>
            <a:ahLst/>
            <a:cxnLst/>
            <a:rect l="l" t="t" r="r" b="b"/>
            <a:pathLst>
              <a:path w="4044283" h="1032553">
                <a:moveTo>
                  <a:pt x="352425" y="0"/>
                </a:moveTo>
                <a:lnTo>
                  <a:pt x="3691858" y="0"/>
                </a:lnTo>
                <a:arcTo hR="352425" wR="352425" stAng="16200000" swAng="5400000"/>
                <a:lnTo>
                  <a:pt x="4044283" y="944446"/>
                </a:lnTo>
                <a:arcTo hR="88106" wR="88106" stAng="0" swAng="5400000"/>
                <a:lnTo>
                  <a:pt x="352425" y="1032553"/>
                </a:lnTo>
                <a:arcTo hR="352425" wR="352425" stAng="5400000" swAng="5400000"/>
                <a:lnTo>
                  <a:pt x="0" y="352425"/>
                </a:lnTo>
                <a:arcTo hR="352425" wR="352425" stAng="10800000" swAng="5400000"/>
                <a:close/>
              </a:path>
            </a:pathLst>
          </a:custGeom>
          <a:solidFill>
            <a:srgbClr val="E2A24F"/>
          </a:solidFill>
          <a:ln/>
        </p:spPr>
      </p:sp>
      <p:sp>
        <p:nvSpPr>
          <p:cNvPr id="31" name="Text 29"/>
          <p:cNvSpPr/>
          <p:nvPr/>
        </p:nvSpPr>
        <p:spPr>
          <a:xfrm>
            <a:off x="11452384" y="1762125"/>
            <a:ext cx="3425519" cy="542015"/>
          </a:xfrm>
          <a:prstGeom prst="rect">
            <a:avLst/>
          </a:prstGeom>
          <a:noFill/>
          <a:ln/>
        </p:spPr>
        <p:txBody>
          <a:bodyPr wrap="square" lIns="25400" tIns="25400" rIns="25400" bIns="25400" rtlCol="0" anchor="t">
            <a:normAutofit/>
          </a:bodyPr>
          <a:lstStyle/>
          <a:p>
            <a:pPr algn="l" indent="0" marL="0">
              <a:lnSpc>
                <a:spcPct val="97362"/>
              </a:lnSpc>
              <a:buNone/>
            </a:pPr>
            <a:r>
              <a:rPr lang="en-US" sz="3608" i="1" dirty="0">
                <a:solidFill>
                  <a:srgbClr val="17201F"/>
                </a:solidFill>
                <a:latin typeface="Georgia" pitchFamily="34" charset="0"/>
                <a:ea typeface="Georgia" pitchFamily="34" charset="-122"/>
                <a:cs typeface="Georgia" pitchFamily="34" charset="-120"/>
              </a:rPr>
              <a:t>Does diesel count?</a:t>
            </a:r>
            <a:endParaRPr lang="en-US" sz="3608" dirty="0"/>
          </a:p>
        </p:txBody>
      </p:sp>
      <p:sp>
        <p:nvSpPr>
          <p:cNvPr id="32" name="Shape 30"/>
          <p:cNvSpPr/>
          <p:nvPr/>
        </p:nvSpPr>
        <p:spPr>
          <a:xfrm>
            <a:off x="11610975" y="5638800"/>
            <a:ext cx="4933949" cy="1550578"/>
          </a:xfrm>
          <a:custGeom>
            <a:avLst/>
            <a:gdLst/>
            <a:ahLst/>
            <a:cxnLst/>
            <a:rect l="l" t="t" r="r" b="b"/>
            <a:pathLst>
              <a:path w="4933949" h="1550578">
                <a:moveTo>
                  <a:pt x="352425" y="0"/>
                </a:moveTo>
                <a:lnTo>
                  <a:pt x="4581524" y="0"/>
                </a:lnTo>
                <a:arcTo hR="352425" wR="352425" stAng="16200000" swAng="5400000"/>
                <a:lnTo>
                  <a:pt x="4933949" y="1198153"/>
                </a:lnTo>
                <a:arcTo hR="352425" wR="352425" stAng="0" swAng="5400000"/>
                <a:lnTo>
                  <a:pt x="88106" y="1550578"/>
                </a:lnTo>
                <a:arcTo hR="88106" wR="88106" stAng="5400000" swAng="5400000"/>
                <a:lnTo>
                  <a:pt x="0" y="352425"/>
                </a:lnTo>
                <a:arcTo hR="352425" wR="352425" stAng="10800000" swAng="5400000"/>
                <a:close/>
              </a:path>
            </a:pathLst>
          </a:custGeom>
          <a:solidFill>
            <a:srgbClr val="182933"/>
          </a:solidFill>
          <a:ln/>
        </p:spPr>
      </p:sp>
      <p:sp>
        <p:nvSpPr>
          <p:cNvPr id="33" name="Text 31"/>
          <p:cNvSpPr/>
          <p:nvPr/>
        </p:nvSpPr>
        <p:spPr>
          <a:xfrm>
            <a:off x="12016264" y="5973604"/>
            <a:ext cx="4271390" cy="919071"/>
          </a:xfrm>
          <a:prstGeom prst="rect">
            <a:avLst/>
          </a:prstGeom>
          <a:noFill/>
          <a:ln/>
        </p:spPr>
        <p:txBody>
          <a:bodyPr wrap="square" lIns="25400" tIns="25400" rIns="25400" bIns="25400" rtlCol="0" anchor="t">
            <a:normAutofit/>
          </a:bodyPr>
          <a:lstStyle/>
          <a:p>
            <a:pPr algn="l" indent="0" marL="0">
              <a:lnSpc>
                <a:spcPct val="109091"/>
              </a:lnSpc>
              <a:buNone/>
            </a:pPr>
            <a:r>
              <a:rPr lang="en-US" sz="2775" spc="-42" kern="0" dirty="0">
                <a:solidFill>
                  <a:srgbClr val="F1EDE5"/>
                </a:solidFill>
                <a:latin typeface="Arial" pitchFamily="34" charset="0"/>
                <a:ea typeface="Arial" pitchFamily="34" charset="-122"/>
                <a:cs typeface="Arial" pitchFamily="34" charset="-120"/>
              </a:rPr>
              <a:t>Yes — regular, premium, and diesel fill-ups qualify.</a:t>
            </a:r>
            <a:endParaRPr lang="en-US" sz="2775" dirty="0"/>
          </a:p>
        </p:txBody>
      </p:sp>
      <p:sp>
        <p:nvSpPr>
          <p:cNvPr id="34" name="Shape 32"/>
          <p:cNvSpPr/>
          <p:nvPr/>
        </p:nvSpPr>
        <p:spPr>
          <a:xfrm>
            <a:off x="11787188" y="7557176"/>
            <a:ext cx="74742" cy="88107"/>
          </a:xfrm>
          <a:prstGeom prst="ellipse">
            <a:avLst/>
          </a:prstGeom>
          <a:solidFill>
            <a:srgbClr val="5FD6BB"/>
          </a:solidFill>
          <a:ln/>
        </p:spPr>
      </p:sp>
      <p:sp>
        <p:nvSpPr>
          <p:cNvPr id="35" name="Text 33"/>
          <p:cNvSpPr/>
          <p:nvPr/>
        </p:nvSpPr>
        <p:spPr>
          <a:xfrm>
            <a:off x="11985254" y="7347924"/>
            <a:ext cx="4480163" cy="544711"/>
          </a:xfrm>
          <a:prstGeom prst="rect">
            <a:avLst/>
          </a:prstGeom>
          <a:noFill/>
          <a:ln/>
        </p:spPr>
        <p:txBody>
          <a:bodyPr wrap="square" lIns="0" tIns="0" rIns="0" bIns="0" rtlCol="0" anchor="t">
            <a:normAutofit/>
          </a:bodyPr>
          <a:lstStyle/>
          <a:p>
            <a:pPr algn="l" indent="0" marL="0">
              <a:buNone/>
            </a:pPr>
            <a:r>
              <a:rPr lang="en-US" sz="1526" spc="92" kern="0" dirty="0">
                <a:solidFill>
                  <a:srgbClr val="5FD6BB"/>
                </a:solidFill>
                <a:latin typeface="Courier New" pitchFamily="34" charset="0"/>
                <a:ea typeface="Courier New" pitchFamily="34" charset="-122"/>
                <a:cs typeface="Courier New" pitchFamily="34" charset="-120"/>
              </a:rPr>
              <a:t>ANSWERED FROM JOE'S APPROVED OFFER DETAILS</a:t>
            </a:r>
            <a:endParaRPr lang="en-US" sz="1526" dirty="0"/>
          </a:p>
        </p:txBody>
      </p:sp>
      <p:sp>
        <p:nvSpPr>
          <p:cNvPr id="36" name="Text 34"/>
          <p:cNvSpPr/>
          <p:nvPr/>
        </p:nvSpPr>
        <p:spPr>
          <a:xfrm>
            <a:off x="1390650" y="528637"/>
            <a:ext cx="5526597"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F1EDE5">
                    <a:alpha val="50000"/>
                  </a:srgbClr>
                </a:solidFill>
                <a:latin typeface="Courier New" pitchFamily="34" charset="0"/>
                <a:ea typeface="Courier New" pitchFamily="34" charset="-122"/>
                <a:cs typeface="Courier New" pitchFamily="34" charset="-120"/>
              </a:rPr>
              <a:t>THURSDAY · 6:52 PM · 4 SECONDS LATER</a:t>
            </a:r>
            <a:endParaRPr lang="en-US" sz="1665" dirty="0"/>
          </a:p>
        </p:txBody>
      </p:sp>
      <p:sp>
        <p:nvSpPr>
          <p:cNvPr id="37" name="Text 35"/>
          <p:cNvSpPr/>
          <p:nvPr/>
        </p:nvSpPr>
        <p:spPr>
          <a:xfrm>
            <a:off x="15780822" y="528637"/>
            <a:ext cx="1192729"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5FD6BB"/>
                </a:solidFill>
                <a:latin typeface="Courier New" pitchFamily="34" charset="0"/>
                <a:ea typeface="Courier New" pitchFamily="34" charset="-122"/>
                <a:cs typeface="Courier New" pitchFamily="34" charset="-120"/>
              </a:rPr>
              <a:t>GROUNDED</a:t>
            </a:r>
            <a:endParaRPr lang="en-US" sz="1665" dirty="0"/>
          </a:p>
        </p:txBody>
      </p:sp>
      <p:sp>
        <p:nvSpPr>
          <p:cNvPr id="38" name="Text 36"/>
          <p:cNvSpPr/>
          <p:nvPr/>
        </p:nvSpPr>
        <p:spPr>
          <a:xfrm>
            <a:off x="1390650" y="8570570"/>
            <a:ext cx="13663449"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F1EDE5">
                    <a:alpha val="50000"/>
                  </a:srgbClr>
                </a:solidFill>
                <a:latin typeface="Courier New" pitchFamily="34" charset="0"/>
                <a:ea typeface="Courier New" pitchFamily="34" charset="-122"/>
                <a:cs typeface="Courier New" pitchFamily="34" charset="-120"/>
              </a:rPr>
              <a:t>NOT IN THE APPROVED DETAILS → GOES TO JOE. AUTOMATIC WHEN GROUNDED. HUMAN WHEN UNCERTAIN.</a:t>
            </a:r>
            <a:endParaRPr lang="en-US" sz="1665" dirty="0"/>
          </a:p>
        </p:txBody>
      </p:sp>
      <p:sp>
        <p:nvSpPr>
          <p:cNvPr id="39" name="Text 37"/>
          <p:cNvSpPr/>
          <p:nvPr/>
        </p:nvSpPr>
        <p:spPr>
          <a:xfrm>
            <a:off x="685788" y="9765543"/>
            <a:ext cx="3042704"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alpha val="55000"/>
                  </a:srgbClr>
                </a:solidFill>
                <a:latin typeface="Courier New" pitchFamily="34" charset="0"/>
                <a:ea typeface="Courier New" pitchFamily="34" charset="-122"/>
                <a:cs typeface="Courier New" pitchFamily="34" charset="-120"/>
              </a:rPr>
              <a:t>SCENE 12 · 0:49–0:53</a:t>
            </a:r>
            <a:endParaRPr lang="en-US" sz="1650" dirty="0"/>
          </a:p>
        </p:txBody>
      </p:sp>
      <p:sp>
        <p:nvSpPr>
          <p:cNvPr id="40" name="Text 38"/>
          <p:cNvSpPr/>
          <p:nvPr/>
        </p:nvSpPr>
        <p:spPr>
          <a:xfrm>
            <a:off x="7207746" y="9765543"/>
            <a:ext cx="4107644"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solidFill>
                <a:latin typeface="Courier New" pitchFamily="34" charset="0"/>
                <a:ea typeface="Courier New" pitchFamily="34" charset="-122"/>
                <a:cs typeface="Courier New" pitchFamily="34" charset="-120"/>
              </a:rPr>
              <a:t>PROVENANCE · SIGNATURE SHOT</a:t>
            </a:r>
            <a:endParaRPr lang="en-US" sz="1650" dirty="0"/>
          </a:p>
        </p:txBody>
      </p:sp>
      <p:sp>
        <p:nvSpPr>
          <p:cNvPr id="41" name="Text 39"/>
          <p:cNvSpPr/>
          <p:nvPr/>
        </p:nvSpPr>
        <p:spPr>
          <a:xfrm>
            <a:off x="14697831" y="9765543"/>
            <a:ext cx="3194819"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alpha val="55000"/>
                  </a:srgbClr>
                </a:solidFill>
                <a:latin typeface="Courier New" pitchFamily="34" charset="0"/>
                <a:ea typeface="Courier New" pitchFamily="34" charset="-122"/>
                <a:cs typeface="Courier New" pitchFamily="34" charset="-120"/>
              </a:rPr>
              <a:t>FOCUSED DARK · YELLOW</a:t>
            </a:r>
            <a:endParaRPr lang="en-US" sz="16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1013"/>
        </a:solidFill>
      </p:bgPr>
    </p:bg>
    <p:spTree>
      <p:nvGrpSpPr>
        <p:cNvPr id="1" name=""/>
        <p:cNvGrpSpPr/>
        <p:nvPr/>
      </p:nvGrpSpPr>
      <p:grpSpPr>
        <a:xfrm>
          <a:off x="0" y="0"/>
          <a:ext cx="0" cy="0"/>
          <a:chOff x="0" y="0"/>
          <a:chExt cx="0" cy="0"/>
        </a:xfrm>
      </p:grpSpPr>
      <p:sp>
        <p:nvSpPr>
          <p:cNvPr id="2" name="Shape 0"/>
          <p:cNvSpPr/>
          <p:nvPr/>
        </p:nvSpPr>
        <p:spPr>
          <a:xfrm>
            <a:off x="685800" y="0"/>
            <a:ext cx="16916401" cy="9515475"/>
          </a:xfrm>
          <a:prstGeom prst="rect">
            <a:avLst/>
          </a:prstGeom>
          <a:solidFill>
            <a:srgbClr val="0F1C24"/>
          </a:solidFill>
          <a:ln/>
        </p:spPr>
      </p:sp>
      <p:sp>
        <p:nvSpPr>
          <p:cNvPr id="3" name="Shape 1"/>
          <p:cNvSpPr/>
          <p:nvPr/>
        </p:nvSpPr>
        <p:spPr>
          <a:xfrm>
            <a:off x="685800" y="7929563"/>
            <a:ext cx="16916401" cy="1593254"/>
          </a:xfrm>
          <a:prstGeom prst="rect">
            <a:avLst/>
          </a:prstGeom>
          <a:solidFill>
            <a:srgbClr val="F1EDE5">
              <a:alpha val="3000"/>
            </a:srgbClr>
          </a:solidFill>
          <a:ln/>
        </p:spPr>
      </p:sp>
      <p:sp>
        <p:nvSpPr>
          <p:cNvPr id="4" name="Shape 2"/>
          <p:cNvSpPr/>
          <p:nvPr/>
        </p:nvSpPr>
        <p:spPr>
          <a:xfrm>
            <a:off x="685800" y="7929563"/>
            <a:ext cx="16916401" cy="9525"/>
          </a:xfrm>
          <a:prstGeom prst="rect">
            <a:avLst/>
          </a:prstGeom>
          <a:solidFill>
            <a:srgbClr val="F1EDE5">
              <a:alpha val="16000"/>
            </a:srgbClr>
          </a:solidFill>
          <a:ln/>
        </p:spPr>
      </p:sp>
      <p:sp>
        <p:nvSpPr>
          <p:cNvPr id="5" name="Shape 3"/>
          <p:cNvSpPr/>
          <p:nvPr/>
        </p:nvSpPr>
        <p:spPr>
          <a:xfrm>
            <a:off x="1214438" y="1321594"/>
            <a:ext cx="15859125" cy="6607969"/>
          </a:xfrm>
          <a:prstGeom prst="rect">
            <a:avLst/>
          </a:prstGeom>
          <a:gradFill rotWithShape="1">
            <a:gsLst>
              <a:gs pos="0">
                <a:srgbClr val="E2A24F">
                  <a:alpha val="14000"/>
                </a:srgbClr>
              </a:gs>
              <a:gs pos="80000">
                <a:srgbClr val="E2A24F">
                  <a:alpha val="0"/>
                </a:srgbClr>
              </a:gs>
            </a:gsLst>
            <a:path path="circle">
              <a:fillToRect l="50000" t="100000" r="50000" b="0"/>
            </a:path>
          </a:gradFill>
          <a:ln/>
        </p:spPr>
      </p:sp>
      <p:sp>
        <p:nvSpPr>
          <p:cNvPr id="6" name="Shape 4"/>
          <p:cNvSpPr/>
          <p:nvPr/>
        </p:nvSpPr>
        <p:spPr>
          <a:xfrm>
            <a:off x="1214438" y="7914878"/>
            <a:ext cx="15859125" cy="14684"/>
          </a:xfrm>
          <a:prstGeom prst="rect">
            <a:avLst/>
          </a:prstGeom>
          <a:solidFill>
            <a:srgbClr val="F1EDE5">
              <a:alpha val="24000"/>
            </a:srgbClr>
          </a:solidFill>
          <a:ln/>
        </p:spPr>
      </p:sp>
      <p:sp>
        <p:nvSpPr>
          <p:cNvPr id="7" name="Shape 5"/>
          <p:cNvSpPr/>
          <p:nvPr/>
        </p:nvSpPr>
        <p:spPr>
          <a:xfrm>
            <a:off x="1214438" y="1321594"/>
            <a:ext cx="15859125" cy="9525"/>
          </a:xfrm>
          <a:prstGeom prst="rect">
            <a:avLst/>
          </a:prstGeom>
          <a:solidFill>
            <a:srgbClr val="F1EDE5">
              <a:alpha val="11000"/>
            </a:srgbClr>
          </a:solidFill>
          <a:ln/>
        </p:spPr>
      </p:sp>
      <p:sp>
        <p:nvSpPr>
          <p:cNvPr id="8" name="Shape 6"/>
          <p:cNvSpPr/>
          <p:nvPr/>
        </p:nvSpPr>
        <p:spPr>
          <a:xfrm>
            <a:off x="1214438" y="1321594"/>
            <a:ext cx="9525" cy="6607969"/>
          </a:xfrm>
          <a:prstGeom prst="rect">
            <a:avLst/>
          </a:prstGeom>
          <a:solidFill>
            <a:srgbClr val="F1EDE5">
              <a:alpha val="11000"/>
            </a:srgbClr>
          </a:solidFill>
          <a:ln/>
        </p:spPr>
      </p:sp>
      <p:sp>
        <p:nvSpPr>
          <p:cNvPr id="9" name="Shape 7"/>
          <p:cNvSpPr/>
          <p:nvPr/>
        </p:nvSpPr>
        <p:spPr>
          <a:xfrm>
            <a:off x="17066221" y="1321594"/>
            <a:ext cx="9525" cy="6607969"/>
          </a:xfrm>
          <a:prstGeom prst="rect">
            <a:avLst/>
          </a:prstGeom>
          <a:solidFill>
            <a:srgbClr val="F1EDE5">
              <a:alpha val="11000"/>
            </a:srgbClr>
          </a:solidFill>
          <a:ln/>
        </p:spPr>
      </p:sp>
      <p:sp>
        <p:nvSpPr>
          <p:cNvPr id="10" name="Shape 8"/>
          <p:cNvSpPr/>
          <p:nvPr/>
        </p:nvSpPr>
        <p:spPr>
          <a:xfrm>
            <a:off x="869355" y="800298"/>
            <a:ext cx="16549292" cy="9525"/>
          </a:xfrm>
          <a:prstGeom prst="rect">
            <a:avLst/>
          </a:prstGeom>
          <a:solidFill>
            <a:srgbClr val="F1EDE5">
              <a:alpha val="16000"/>
            </a:srgbClr>
          </a:solidFill>
          <a:ln/>
        </p:spPr>
      </p:sp>
      <p:sp>
        <p:nvSpPr>
          <p:cNvPr id="11" name="Shape 9"/>
          <p:cNvSpPr/>
          <p:nvPr/>
        </p:nvSpPr>
        <p:spPr>
          <a:xfrm>
            <a:off x="869355" y="800298"/>
            <a:ext cx="9525" cy="535980"/>
          </a:xfrm>
          <a:prstGeom prst="rect">
            <a:avLst/>
          </a:prstGeom>
          <a:solidFill>
            <a:srgbClr val="F1EDE5">
              <a:alpha val="16000"/>
            </a:srgbClr>
          </a:solidFill>
          <a:ln/>
        </p:spPr>
      </p:sp>
      <p:sp>
        <p:nvSpPr>
          <p:cNvPr id="12" name="Shape 10"/>
          <p:cNvSpPr/>
          <p:nvPr/>
        </p:nvSpPr>
        <p:spPr>
          <a:xfrm>
            <a:off x="17411305" y="800298"/>
            <a:ext cx="9525" cy="535980"/>
          </a:xfrm>
          <a:prstGeom prst="rect">
            <a:avLst/>
          </a:prstGeom>
          <a:solidFill>
            <a:srgbClr val="F1EDE5">
              <a:alpha val="16000"/>
            </a:srgbClr>
          </a:solidFill>
          <a:ln/>
        </p:spPr>
      </p:sp>
      <p:sp>
        <p:nvSpPr>
          <p:cNvPr id="13" name="Shape 11"/>
          <p:cNvSpPr/>
          <p:nvPr/>
        </p:nvSpPr>
        <p:spPr>
          <a:xfrm>
            <a:off x="3864967" y="1328936"/>
            <a:ext cx="9525" cy="6585942"/>
          </a:xfrm>
          <a:prstGeom prst="rect">
            <a:avLst/>
          </a:prstGeom>
          <a:solidFill>
            <a:srgbClr val="F1EDE5">
              <a:alpha val="8000"/>
            </a:srgbClr>
          </a:solidFill>
          <a:ln/>
        </p:spPr>
      </p:sp>
      <p:sp>
        <p:nvSpPr>
          <p:cNvPr id="14" name="Shape 12"/>
          <p:cNvSpPr/>
          <p:nvPr/>
        </p:nvSpPr>
        <p:spPr>
          <a:xfrm>
            <a:off x="14437718" y="1328936"/>
            <a:ext cx="9525" cy="6585942"/>
          </a:xfrm>
          <a:prstGeom prst="rect">
            <a:avLst/>
          </a:prstGeom>
          <a:solidFill>
            <a:srgbClr val="F1EDE5">
              <a:alpha val="8000"/>
            </a:srgbClr>
          </a:solidFill>
          <a:ln/>
        </p:spPr>
      </p:sp>
      <p:sp>
        <p:nvSpPr>
          <p:cNvPr id="15" name="Shape 13"/>
          <p:cNvSpPr/>
          <p:nvPr/>
        </p:nvSpPr>
        <p:spPr>
          <a:xfrm>
            <a:off x="1221780" y="5469929"/>
            <a:ext cx="15844441" cy="9525"/>
          </a:xfrm>
          <a:prstGeom prst="rect">
            <a:avLst/>
          </a:prstGeom>
          <a:solidFill>
            <a:srgbClr val="F1EDE5">
              <a:alpha val="24000"/>
            </a:srgbClr>
          </a:solidFill>
          <a:ln/>
        </p:spPr>
      </p:sp>
      <p:sp>
        <p:nvSpPr>
          <p:cNvPr id="16" name="Shape 14"/>
          <p:cNvSpPr/>
          <p:nvPr/>
        </p:nvSpPr>
        <p:spPr>
          <a:xfrm>
            <a:off x="1221780" y="5478706"/>
            <a:ext cx="15844441" cy="2458142"/>
          </a:xfrm>
          <a:prstGeom prst="rect">
            <a:avLst/>
          </a:prstGeom>
          <a:solidFill>
            <a:srgbClr val="0A1820">
              <a:alpha val="56000"/>
            </a:srgbClr>
          </a:solidFill>
          <a:ln/>
        </p:spPr>
      </p:sp>
      <p:sp>
        <p:nvSpPr>
          <p:cNvPr id="17" name="Shape 15"/>
          <p:cNvSpPr/>
          <p:nvPr/>
        </p:nvSpPr>
        <p:spPr>
          <a:xfrm>
            <a:off x="14966355" y="3531592"/>
            <a:ext cx="123326" cy="123326"/>
          </a:xfrm>
          <a:prstGeom prst="ellipse">
            <a:avLst/>
          </a:prstGeom>
          <a:solidFill>
            <a:srgbClr val="E2A24F">
              <a:alpha val="56000"/>
            </a:srgbClr>
          </a:solidFill>
          <a:ln/>
        </p:spPr>
      </p:sp>
      <p:sp>
        <p:nvSpPr>
          <p:cNvPr id="18" name="Shape 16"/>
          <p:cNvSpPr/>
          <p:nvPr/>
        </p:nvSpPr>
        <p:spPr>
          <a:xfrm>
            <a:off x="4393605" y="6527204"/>
            <a:ext cx="193822" cy="193822"/>
          </a:xfrm>
          <a:prstGeom prst="ellipse">
            <a:avLst/>
          </a:prstGeom>
          <a:solidFill>
            <a:srgbClr val="E2A24F">
              <a:alpha val="80000"/>
            </a:srgbClr>
          </a:solidFill>
          <a:ln/>
        </p:spPr>
      </p:sp>
      <p:sp>
        <p:nvSpPr>
          <p:cNvPr id="19" name="Shape 17"/>
          <p:cNvSpPr/>
          <p:nvPr/>
        </p:nvSpPr>
        <p:spPr>
          <a:xfrm>
            <a:off x="6324600" y="-528637"/>
            <a:ext cx="5668169" cy="10954543"/>
          </a:xfrm>
          <a:prstGeom prst="roundRect">
            <a:avLst>
              <a:gd name="adj" fmla="val 13990"/>
            </a:avLst>
          </a:prstGeom>
          <a:ln w="14684">
            <a:solidFill>
              <a:srgbClr val="F1EDE5">
                <a:alpha val="10000"/>
              </a:srgbClr>
            </a:solidFill>
            <a:prstDash val="solid"/>
          </a:ln>
        </p:spPr>
      </p:sp>
      <p:sp>
        <p:nvSpPr>
          <p:cNvPr id="20" name="Shape 18"/>
          <p:cNvSpPr/>
          <p:nvPr/>
        </p:nvSpPr>
        <p:spPr>
          <a:xfrm>
            <a:off x="6853238" y="1321594"/>
            <a:ext cx="4581526" cy="6872288"/>
          </a:xfrm>
          <a:prstGeom prst="roundRect">
            <a:avLst>
              <a:gd name="adj" fmla="val 8462"/>
            </a:avLst>
          </a:prstGeom>
          <a:solidFill>
            <a:srgbClr val="5FD6BB"/>
          </a:solidFill>
          <a:ln/>
          <a:effectLst>
            <a:outerShdw sx="100000" sy="100000" kx="0" ky="0" algn="bl" rotWithShape="0" blurRad="1143000" dist="571500" dir="5400000">
              <a:srgbClr val="000000">
                <a:alpha val="70000"/>
              </a:srgbClr>
            </a:outerShdw>
          </a:effectLst>
        </p:spPr>
      </p:sp>
      <p:sp>
        <p:nvSpPr>
          <p:cNvPr id="21" name="Shape 19"/>
          <p:cNvSpPr/>
          <p:nvPr/>
        </p:nvSpPr>
        <p:spPr>
          <a:xfrm>
            <a:off x="6853238" y="1321594"/>
            <a:ext cx="4581526" cy="685692"/>
          </a:xfrm>
          <a:prstGeom prst="rect">
            <a:avLst/>
          </a:prstGeom>
          <a:solidFill>
            <a:srgbClr val="17201F"/>
          </a:solidFill>
          <a:ln/>
        </p:spPr>
      </p:sp>
      <p:sp>
        <p:nvSpPr>
          <p:cNvPr id="22" name="Text 20"/>
          <p:cNvSpPr/>
          <p:nvPr/>
        </p:nvSpPr>
        <p:spPr>
          <a:xfrm>
            <a:off x="7311379" y="1550636"/>
            <a:ext cx="1918967" cy="265708"/>
          </a:xfrm>
          <a:prstGeom prst="rect">
            <a:avLst/>
          </a:prstGeom>
          <a:noFill/>
          <a:ln/>
        </p:spPr>
        <p:txBody>
          <a:bodyPr wrap="square" lIns="25400" tIns="25400" rIns="25400" bIns="25400" rtlCol="0" anchor="t">
            <a:normAutofit/>
          </a:bodyPr>
          <a:lstStyle/>
          <a:p>
            <a:pPr algn="l" indent="0" marL="0">
              <a:buNone/>
            </a:pPr>
            <a:r>
              <a:rPr lang="en-US" sz="1388" spc="83" kern="0" dirty="0">
                <a:solidFill>
                  <a:srgbClr val="F1EDE5"/>
                </a:solidFill>
                <a:latin typeface="Courier New" pitchFamily="34" charset="0"/>
                <a:ea typeface="Courier New" pitchFamily="34" charset="-122"/>
                <a:cs typeface="Courier New" pitchFamily="34" charset="-120"/>
              </a:rPr>
              <a:t>JOE'S FUEL &amp; GO</a:t>
            </a:r>
            <a:endParaRPr lang="en-US" sz="1388" dirty="0"/>
          </a:p>
        </p:txBody>
      </p:sp>
      <p:sp>
        <p:nvSpPr>
          <p:cNvPr id="23" name="Text 21"/>
          <p:cNvSpPr/>
          <p:nvPr/>
        </p:nvSpPr>
        <p:spPr>
          <a:xfrm>
            <a:off x="9464705" y="1550636"/>
            <a:ext cx="1663108" cy="265708"/>
          </a:xfrm>
          <a:prstGeom prst="rect">
            <a:avLst/>
          </a:prstGeom>
          <a:noFill/>
          <a:ln/>
        </p:spPr>
        <p:txBody>
          <a:bodyPr wrap="square" lIns="25400" tIns="25400" rIns="25400" bIns="25400" rtlCol="0" anchor="t">
            <a:normAutofit/>
          </a:bodyPr>
          <a:lstStyle/>
          <a:p>
            <a:pPr algn="l" indent="0" marL="0">
              <a:buNone/>
            </a:pPr>
            <a:r>
              <a:rPr lang="en-US" sz="1388" spc="83" kern="0" dirty="0">
                <a:solidFill>
                  <a:srgbClr val="F1EDE5"/>
                </a:solidFill>
                <a:latin typeface="Courier New" pitchFamily="34" charset="0"/>
                <a:ea typeface="Courier New" pitchFamily="34" charset="-122"/>
                <a:cs typeface="Courier New" pitchFamily="34" charset="-120"/>
              </a:rPr>
              <a:t>FRI · 7:42 AM</a:t>
            </a:r>
            <a:endParaRPr lang="en-US" sz="1388" dirty="0"/>
          </a:p>
        </p:txBody>
      </p:sp>
      <p:sp>
        <p:nvSpPr>
          <p:cNvPr id="24" name="Text 22"/>
          <p:cNvSpPr/>
          <p:nvPr/>
        </p:nvSpPr>
        <p:spPr>
          <a:xfrm>
            <a:off x="7311379" y="2535923"/>
            <a:ext cx="4031767" cy="875109"/>
          </a:xfrm>
          <a:prstGeom prst="rect">
            <a:avLst/>
          </a:prstGeom>
          <a:noFill/>
          <a:ln/>
        </p:spPr>
        <p:txBody>
          <a:bodyPr wrap="square" lIns="25400" tIns="25400" rIns="25400" bIns="25400" rtlCol="0" anchor="t">
            <a:normAutofit/>
          </a:bodyPr>
          <a:lstStyle/>
          <a:p>
            <a:pPr algn="l" indent="0" marL="0">
              <a:lnSpc>
                <a:spcPct val="82609"/>
              </a:lnSpc>
              <a:buNone/>
            </a:pPr>
            <a:r>
              <a:rPr lang="en-US" sz="6938" spc="-312" kern="0" dirty="0">
                <a:solidFill>
                  <a:srgbClr val="17201F"/>
                </a:solidFill>
                <a:latin typeface="Arial" pitchFamily="34" charset="0"/>
                <a:ea typeface="Arial" pitchFamily="34" charset="-122"/>
                <a:cs typeface="Arial" pitchFamily="34" charset="-120"/>
              </a:rPr>
              <a:t>Redeemed.</a:t>
            </a:r>
            <a:endParaRPr lang="en-US" sz="6938" dirty="0"/>
          </a:p>
        </p:txBody>
      </p:sp>
      <p:sp>
        <p:nvSpPr>
          <p:cNvPr id="25" name="Text 23"/>
          <p:cNvSpPr/>
          <p:nvPr/>
        </p:nvSpPr>
        <p:spPr>
          <a:xfrm>
            <a:off x="7311379" y="3619584"/>
            <a:ext cx="3775200" cy="751669"/>
          </a:xfrm>
          <a:prstGeom prst="rect">
            <a:avLst/>
          </a:prstGeom>
          <a:noFill/>
          <a:ln/>
        </p:spPr>
        <p:txBody>
          <a:bodyPr wrap="square" lIns="25400" tIns="25400" rIns="25400" bIns="25400" rtlCol="0" anchor="t">
            <a:normAutofit/>
          </a:bodyPr>
          <a:lstStyle/>
          <a:p>
            <a:pPr algn="l" indent="0" marL="0">
              <a:lnSpc>
                <a:spcPct val="118537"/>
              </a:lnSpc>
              <a:buNone/>
            </a:pPr>
            <a:r>
              <a:rPr lang="en-US" sz="2081" dirty="0">
                <a:solidFill>
                  <a:srgbClr val="17201F">
                    <a:alpha val="75000"/>
                  </a:srgbClr>
                </a:solidFill>
                <a:latin typeface="Arial" pitchFamily="34" charset="0"/>
                <a:ea typeface="Arial" pitchFamily="34" charset="-122"/>
                <a:cs typeface="Arial" pitchFamily="34" charset="-120"/>
              </a:rPr>
              <a:t>One large coffee. Enjoy the morning.</a:t>
            </a:r>
            <a:endParaRPr lang="en-US" sz="2081" dirty="0"/>
          </a:p>
        </p:txBody>
      </p:sp>
      <p:sp>
        <p:nvSpPr>
          <p:cNvPr id="26" name="Shape 24"/>
          <p:cNvSpPr/>
          <p:nvPr/>
        </p:nvSpPr>
        <p:spPr>
          <a:xfrm>
            <a:off x="7311379" y="7402474"/>
            <a:ext cx="3665243" cy="17609"/>
          </a:xfrm>
          <a:prstGeom prst="rect">
            <a:avLst/>
          </a:prstGeom>
          <a:solidFill>
            <a:srgbClr val="17201F">
              <a:alpha val="18000"/>
            </a:srgbClr>
          </a:solidFill>
          <a:ln/>
        </p:spPr>
      </p:sp>
      <p:sp>
        <p:nvSpPr>
          <p:cNvPr id="27" name="Text 25"/>
          <p:cNvSpPr/>
          <p:nvPr/>
        </p:nvSpPr>
        <p:spPr>
          <a:xfrm>
            <a:off x="7311379" y="7543409"/>
            <a:ext cx="1535211" cy="265708"/>
          </a:xfrm>
          <a:prstGeom prst="rect">
            <a:avLst/>
          </a:prstGeom>
          <a:noFill/>
          <a:ln/>
        </p:spPr>
        <p:txBody>
          <a:bodyPr wrap="square" lIns="25400" tIns="25400" rIns="25400" bIns="25400" rtlCol="0" anchor="t">
            <a:normAutofit/>
          </a:bodyPr>
          <a:lstStyle/>
          <a:p>
            <a:pPr algn="l" indent="0" marL="0">
              <a:buNone/>
            </a:pPr>
            <a:r>
              <a:rPr lang="en-US" sz="1388" spc="83" kern="0" dirty="0">
                <a:solidFill>
                  <a:srgbClr val="17201F">
                    <a:alpha val="60000"/>
                  </a:srgbClr>
                </a:solidFill>
                <a:latin typeface="Courier New" pitchFamily="34" charset="0"/>
                <a:ea typeface="Courier New" pitchFamily="34" charset="-122"/>
                <a:cs typeface="Courier New" pitchFamily="34" charset="-120"/>
              </a:rPr>
              <a:t>PASS JF·0417</a:t>
            </a:r>
            <a:endParaRPr lang="en-US" sz="1388" dirty="0"/>
          </a:p>
        </p:txBody>
      </p:sp>
      <p:sp>
        <p:nvSpPr>
          <p:cNvPr id="28" name="Text 26"/>
          <p:cNvSpPr/>
          <p:nvPr/>
        </p:nvSpPr>
        <p:spPr>
          <a:xfrm>
            <a:off x="8883180" y="7543409"/>
            <a:ext cx="2302785" cy="265708"/>
          </a:xfrm>
          <a:prstGeom prst="rect">
            <a:avLst/>
          </a:prstGeom>
          <a:noFill/>
          <a:ln/>
        </p:spPr>
        <p:txBody>
          <a:bodyPr wrap="square" lIns="25400" tIns="25400" rIns="25400" bIns="25400" rtlCol="0" anchor="t">
            <a:normAutofit/>
          </a:bodyPr>
          <a:lstStyle/>
          <a:p>
            <a:pPr algn="l" indent="0" marL="0">
              <a:buNone/>
            </a:pPr>
            <a:r>
              <a:rPr lang="en-US" sz="1388" spc="83" kern="0" dirty="0">
                <a:solidFill>
                  <a:srgbClr val="17201F">
                    <a:alpha val="60000"/>
                  </a:srgbClr>
                </a:solidFill>
                <a:latin typeface="Courier New" pitchFamily="34" charset="0"/>
                <a:ea typeface="Courier New" pitchFamily="34" charset="-122"/>
                <a:cs typeface="Courier New" pitchFamily="34" charset="-120"/>
              </a:rPr>
              <a:t>CONFIRMED BY STAFF</a:t>
            </a:r>
            <a:endParaRPr lang="en-US" sz="1388" dirty="0"/>
          </a:p>
        </p:txBody>
      </p:sp>
      <p:sp>
        <p:nvSpPr>
          <p:cNvPr id="29" name="Text 27"/>
          <p:cNvSpPr/>
          <p:nvPr/>
        </p:nvSpPr>
        <p:spPr>
          <a:xfrm>
            <a:off x="1390650" y="528637"/>
            <a:ext cx="4912537"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F1EDE5">
                    <a:alpha val="50000"/>
                  </a:srgbClr>
                </a:solidFill>
                <a:latin typeface="Courier New" pitchFamily="34" charset="0"/>
                <a:ea typeface="Courier New" pitchFamily="34" charset="-122"/>
                <a:cs typeface="Courier New" pitchFamily="34" charset="-120"/>
              </a:rPr>
              <a:t>FRIDAY · 7:42 AM · JOE'S COUNTER</a:t>
            </a:r>
            <a:endParaRPr lang="en-US" sz="1665" dirty="0"/>
          </a:p>
        </p:txBody>
      </p:sp>
      <p:sp>
        <p:nvSpPr>
          <p:cNvPr id="30" name="Text 28"/>
          <p:cNvSpPr/>
          <p:nvPr/>
        </p:nvSpPr>
        <p:spPr>
          <a:xfrm>
            <a:off x="14385232" y="528637"/>
            <a:ext cx="2763330"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5FD6BB"/>
                </a:solidFill>
                <a:latin typeface="Courier New" pitchFamily="34" charset="0"/>
                <a:ea typeface="Courier New" pitchFamily="34" charset="-122"/>
                <a:cs typeface="Courier New" pitchFamily="34" charset="-120"/>
              </a:rPr>
              <a:t>REDEEMED · 1 OF 30</a:t>
            </a:r>
            <a:endParaRPr lang="en-US" sz="1665" dirty="0"/>
          </a:p>
        </p:txBody>
      </p:sp>
      <p:sp>
        <p:nvSpPr>
          <p:cNvPr id="31" name="Text 29"/>
          <p:cNvSpPr/>
          <p:nvPr/>
        </p:nvSpPr>
        <p:spPr>
          <a:xfrm>
            <a:off x="1390650" y="8570570"/>
            <a:ext cx="13970038"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F1EDE5">
                    <a:alpha val="50000"/>
                  </a:srgbClr>
                </a:solidFill>
                <a:latin typeface="Courier New" pitchFamily="34" charset="0"/>
                <a:ea typeface="Courier New" pitchFamily="34" charset="-122"/>
                <a:cs typeface="Courier New" pitchFamily="34" charset="-120"/>
              </a:rPr>
              <a:t>BEFORE THE SWEEP: "SHOW THIS SCREEN TO STAFF." THE LIGHT IS ON AT JOE'S FOR THE FIRST TIME.</a:t>
            </a:r>
            <a:endParaRPr lang="en-US" sz="1665" dirty="0"/>
          </a:p>
        </p:txBody>
      </p:sp>
      <p:sp>
        <p:nvSpPr>
          <p:cNvPr id="32" name="Text 30"/>
          <p:cNvSpPr/>
          <p:nvPr/>
        </p:nvSpPr>
        <p:spPr>
          <a:xfrm>
            <a:off x="685788" y="9765543"/>
            <a:ext cx="3042704"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alpha val="55000"/>
                  </a:srgbClr>
                </a:solidFill>
                <a:latin typeface="Courier New" pitchFamily="34" charset="0"/>
                <a:ea typeface="Courier New" pitchFamily="34" charset="-122"/>
                <a:cs typeface="Courier New" pitchFamily="34" charset="-120"/>
              </a:rPr>
              <a:t>SCENE 13 · 0:53–0:56</a:t>
            </a:r>
            <a:endParaRPr lang="en-US" sz="1650" dirty="0"/>
          </a:p>
        </p:txBody>
      </p:sp>
      <p:sp>
        <p:nvSpPr>
          <p:cNvPr id="33" name="Text 31"/>
          <p:cNvSpPr/>
          <p:nvPr/>
        </p:nvSpPr>
        <p:spPr>
          <a:xfrm>
            <a:off x="8175873" y="9765543"/>
            <a:ext cx="2129879"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solidFill>
                <a:latin typeface="Courier New" pitchFamily="34" charset="0"/>
                <a:ea typeface="Courier New" pitchFamily="34" charset="-122"/>
                <a:cs typeface="Courier New" pitchFamily="34" charset="-120"/>
              </a:rPr>
              <a:t>VISIT · REDEEM</a:t>
            </a:r>
            <a:endParaRPr lang="en-US" sz="1650" dirty="0"/>
          </a:p>
        </p:txBody>
      </p:sp>
      <p:sp>
        <p:nvSpPr>
          <p:cNvPr id="34" name="Text 32"/>
          <p:cNvSpPr/>
          <p:nvPr/>
        </p:nvSpPr>
        <p:spPr>
          <a:xfrm>
            <a:off x="14836118" y="9765543"/>
            <a:ext cx="3042704"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alpha val="55000"/>
                  </a:srgbClr>
                </a:solidFill>
                <a:latin typeface="Courier New" pitchFamily="34" charset="0"/>
                <a:ea typeface="Courier New" pitchFamily="34" charset="-122"/>
                <a:cs typeface="Courier New" pitchFamily="34" charset="-120"/>
              </a:rPr>
              <a:t>FOCUSED DARK · GREEN</a:t>
            </a:r>
            <a:endParaRPr lang="en-US" sz="16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1013"/>
        </a:solidFill>
      </p:bgPr>
    </p:bg>
    <p:spTree>
      <p:nvGrpSpPr>
        <p:cNvPr id="1" name=""/>
        <p:cNvGrpSpPr/>
        <p:nvPr/>
      </p:nvGrpSpPr>
      <p:grpSpPr>
        <a:xfrm>
          <a:off x="0" y="0"/>
          <a:ext cx="0" cy="0"/>
          <a:chOff x="0" y="0"/>
          <a:chExt cx="0" cy="0"/>
        </a:xfrm>
      </p:grpSpPr>
      <p:sp>
        <p:nvSpPr>
          <p:cNvPr id="2" name="Shape 0"/>
          <p:cNvSpPr/>
          <p:nvPr/>
        </p:nvSpPr>
        <p:spPr>
          <a:xfrm>
            <a:off x="685800" y="0"/>
            <a:ext cx="16916401" cy="9515475"/>
          </a:xfrm>
          <a:prstGeom prst="rect">
            <a:avLst/>
          </a:prstGeom>
          <a:solidFill>
            <a:srgbClr val="0E1F29"/>
          </a:solidFill>
          <a:ln/>
        </p:spPr>
      </p:sp>
      <p:sp>
        <p:nvSpPr>
          <p:cNvPr id="3" name="Shape 1"/>
          <p:cNvSpPr/>
          <p:nvPr/>
        </p:nvSpPr>
        <p:spPr>
          <a:xfrm>
            <a:off x="4223205" y="2490179"/>
            <a:ext cx="12361278" cy="3760846"/>
          </a:xfrm>
          <a:prstGeom prst="rect">
            <a:avLst/>
          </a:prstGeom>
          <a:solidFill>
            <a:srgbClr val="F1EDE5">
              <a:alpha val="6000"/>
            </a:srgbClr>
          </a:solidFill>
          <a:ln/>
        </p:spPr>
      </p:sp>
      <p:sp>
        <p:nvSpPr>
          <p:cNvPr id="4" name="Shape 2"/>
          <p:cNvSpPr/>
          <p:nvPr/>
        </p:nvSpPr>
        <p:spPr>
          <a:xfrm>
            <a:off x="4867114" y="3164365"/>
            <a:ext cx="12821287" cy="4178443"/>
          </a:xfrm>
          <a:prstGeom prst="rect">
            <a:avLst/>
          </a:prstGeom>
          <a:solidFill>
            <a:srgbClr val="F1EDE5">
              <a:alpha val="6000"/>
            </a:srgbClr>
          </a:solidFill>
          <a:ln/>
        </p:spPr>
      </p:sp>
      <p:sp>
        <p:nvSpPr>
          <p:cNvPr id="5" name="Shape 3"/>
          <p:cNvSpPr/>
          <p:nvPr/>
        </p:nvSpPr>
        <p:spPr>
          <a:xfrm>
            <a:off x="4333326" y="2606630"/>
            <a:ext cx="13173492" cy="4554749"/>
          </a:xfrm>
          <a:prstGeom prst="rect">
            <a:avLst/>
          </a:prstGeom>
          <a:solidFill>
            <a:srgbClr val="F1EDE5">
              <a:alpha val="3000"/>
            </a:srgbClr>
          </a:solidFill>
          <a:ln/>
        </p:spPr>
      </p:sp>
      <p:sp>
        <p:nvSpPr>
          <p:cNvPr id="6" name="Shape 4"/>
          <p:cNvSpPr/>
          <p:nvPr/>
        </p:nvSpPr>
        <p:spPr>
          <a:xfrm>
            <a:off x="4333326" y="7141556"/>
            <a:ext cx="13173492" cy="19824"/>
          </a:xfrm>
          <a:prstGeom prst="rect">
            <a:avLst/>
          </a:prstGeom>
          <a:solidFill>
            <a:srgbClr val="F1EDE5">
              <a:alpha val="20000"/>
            </a:srgbClr>
          </a:solidFill>
          <a:ln/>
        </p:spPr>
      </p:sp>
      <p:sp>
        <p:nvSpPr>
          <p:cNvPr id="7" name="Shape 5"/>
          <p:cNvSpPr/>
          <p:nvPr/>
        </p:nvSpPr>
        <p:spPr>
          <a:xfrm>
            <a:off x="4333326" y="2606630"/>
            <a:ext cx="13173492" cy="19824"/>
          </a:xfrm>
          <a:prstGeom prst="rect">
            <a:avLst/>
          </a:prstGeom>
          <a:solidFill>
            <a:srgbClr val="F1EDE5">
              <a:alpha val="20000"/>
            </a:srgbClr>
          </a:solidFill>
          <a:ln/>
        </p:spPr>
      </p:sp>
      <p:sp>
        <p:nvSpPr>
          <p:cNvPr id="8" name="Shape 6"/>
          <p:cNvSpPr/>
          <p:nvPr/>
        </p:nvSpPr>
        <p:spPr>
          <a:xfrm>
            <a:off x="4585476" y="2871475"/>
            <a:ext cx="12437163" cy="19824"/>
          </a:xfrm>
          <a:prstGeom prst="rect">
            <a:avLst/>
          </a:prstGeom>
          <a:solidFill>
            <a:srgbClr val="F1EDE5">
              <a:alpha val="12000"/>
            </a:srgbClr>
          </a:solidFill>
          <a:ln/>
        </p:spPr>
      </p:sp>
      <p:sp>
        <p:nvSpPr>
          <p:cNvPr id="9" name="Shape 7"/>
          <p:cNvSpPr/>
          <p:nvPr/>
        </p:nvSpPr>
        <p:spPr>
          <a:xfrm>
            <a:off x="5324844" y="3621028"/>
            <a:ext cx="3584473" cy="1869417"/>
          </a:xfrm>
          <a:prstGeom prst="rect">
            <a:avLst/>
          </a:prstGeom>
          <a:gradFill rotWithShape="1">
            <a:gsLst>
              <a:gs pos="0">
                <a:srgbClr val="E2A24F">
                  <a:alpha val="16000"/>
                </a:srgbClr>
              </a:gs>
              <a:gs pos="100000">
                <a:srgbClr val="E2A24F">
                  <a:alpha val="0"/>
                </a:srgbClr>
              </a:gs>
            </a:gsLst>
            <a:path path="circle">
              <a:fillToRect l="50000" t="100000" r="50000" b="0"/>
            </a:path>
          </a:gradFill>
          <a:ln/>
        </p:spPr>
      </p:sp>
      <p:sp>
        <p:nvSpPr>
          <p:cNvPr id="10" name="Shape 8"/>
          <p:cNvSpPr/>
          <p:nvPr/>
        </p:nvSpPr>
        <p:spPr>
          <a:xfrm>
            <a:off x="5324844" y="5450797"/>
            <a:ext cx="3584473" cy="39648"/>
          </a:xfrm>
          <a:prstGeom prst="rect">
            <a:avLst/>
          </a:prstGeom>
          <a:solidFill>
            <a:srgbClr val="F1EDE5">
              <a:alpha val="30000"/>
            </a:srgbClr>
          </a:solidFill>
          <a:ln/>
        </p:spPr>
      </p:sp>
      <p:sp>
        <p:nvSpPr>
          <p:cNvPr id="11" name="Shape 9"/>
          <p:cNvSpPr/>
          <p:nvPr/>
        </p:nvSpPr>
        <p:spPr>
          <a:xfrm>
            <a:off x="5324844" y="3621028"/>
            <a:ext cx="3584473" cy="19824"/>
          </a:xfrm>
          <a:prstGeom prst="rect">
            <a:avLst/>
          </a:prstGeom>
          <a:solidFill>
            <a:srgbClr val="F1EDE5">
              <a:alpha val="12000"/>
            </a:srgbClr>
          </a:solidFill>
          <a:ln/>
        </p:spPr>
      </p:sp>
      <p:sp>
        <p:nvSpPr>
          <p:cNvPr id="12" name="Shape 10"/>
          <p:cNvSpPr/>
          <p:nvPr/>
        </p:nvSpPr>
        <p:spPr>
          <a:xfrm>
            <a:off x="5324844" y="3621028"/>
            <a:ext cx="19824" cy="1869417"/>
          </a:xfrm>
          <a:prstGeom prst="rect">
            <a:avLst/>
          </a:prstGeom>
          <a:solidFill>
            <a:srgbClr val="F1EDE5">
              <a:alpha val="12000"/>
            </a:srgbClr>
          </a:solidFill>
          <a:ln/>
        </p:spPr>
      </p:sp>
      <p:sp>
        <p:nvSpPr>
          <p:cNvPr id="13" name="Shape 11"/>
          <p:cNvSpPr/>
          <p:nvPr/>
        </p:nvSpPr>
        <p:spPr>
          <a:xfrm>
            <a:off x="8889493" y="3621028"/>
            <a:ext cx="19824" cy="1869417"/>
          </a:xfrm>
          <a:prstGeom prst="rect">
            <a:avLst/>
          </a:prstGeom>
          <a:solidFill>
            <a:srgbClr val="F1EDE5">
              <a:alpha val="12000"/>
            </a:srgbClr>
          </a:solidFill>
          <a:ln/>
        </p:spPr>
      </p:sp>
      <p:sp>
        <p:nvSpPr>
          <p:cNvPr id="14" name="Shape 12"/>
          <p:cNvSpPr/>
          <p:nvPr/>
        </p:nvSpPr>
        <p:spPr>
          <a:xfrm>
            <a:off x="7347632" y="5031739"/>
            <a:ext cx="301145" cy="114549"/>
          </a:xfrm>
          <a:prstGeom prst="rect">
            <a:avLst/>
          </a:prstGeom>
          <a:solidFill>
            <a:srgbClr val="E2A24F">
              <a:alpha val="70000"/>
            </a:srgbClr>
          </a:solidFill>
          <a:ln/>
        </p:spPr>
      </p:sp>
      <p:sp>
        <p:nvSpPr>
          <p:cNvPr id="15" name="Shape 13"/>
          <p:cNvSpPr/>
          <p:nvPr/>
        </p:nvSpPr>
        <p:spPr>
          <a:xfrm>
            <a:off x="8313920" y="2731816"/>
            <a:ext cx="4043425" cy="1832983"/>
          </a:xfrm>
          <a:prstGeom prst="rect">
            <a:avLst/>
          </a:prstGeom>
          <a:gradFill rotWithShape="1">
            <a:gsLst>
              <a:gs pos="0">
                <a:srgbClr val="E2A24F">
                  <a:alpha val="20000"/>
                </a:srgbClr>
              </a:gs>
              <a:gs pos="100000">
                <a:srgbClr val="E2A24F">
                  <a:alpha val="0"/>
                </a:srgbClr>
              </a:gs>
            </a:gsLst>
            <a:path path="circle">
              <a:fillToRect l="50000" t="100000" r="50000" b="0"/>
            </a:path>
          </a:gradFill>
          <a:ln/>
        </p:spPr>
      </p:sp>
      <p:sp>
        <p:nvSpPr>
          <p:cNvPr id="16" name="Shape 14"/>
          <p:cNvSpPr/>
          <p:nvPr/>
        </p:nvSpPr>
        <p:spPr>
          <a:xfrm>
            <a:off x="8313920" y="4525151"/>
            <a:ext cx="4043425" cy="39648"/>
          </a:xfrm>
          <a:prstGeom prst="rect">
            <a:avLst/>
          </a:prstGeom>
          <a:solidFill>
            <a:srgbClr val="F1EDE5">
              <a:alpha val="30000"/>
            </a:srgbClr>
          </a:solidFill>
          <a:ln/>
        </p:spPr>
      </p:sp>
      <p:sp>
        <p:nvSpPr>
          <p:cNvPr id="17" name="Shape 15"/>
          <p:cNvSpPr/>
          <p:nvPr/>
        </p:nvSpPr>
        <p:spPr>
          <a:xfrm>
            <a:off x="8313920" y="2731816"/>
            <a:ext cx="4043425" cy="19824"/>
          </a:xfrm>
          <a:prstGeom prst="rect">
            <a:avLst/>
          </a:prstGeom>
          <a:solidFill>
            <a:srgbClr val="F1EDE5">
              <a:alpha val="12000"/>
            </a:srgbClr>
          </a:solidFill>
          <a:ln/>
        </p:spPr>
      </p:sp>
      <p:sp>
        <p:nvSpPr>
          <p:cNvPr id="18" name="Shape 16"/>
          <p:cNvSpPr/>
          <p:nvPr/>
        </p:nvSpPr>
        <p:spPr>
          <a:xfrm>
            <a:off x="8313920" y="2731816"/>
            <a:ext cx="19824" cy="1832983"/>
          </a:xfrm>
          <a:prstGeom prst="rect">
            <a:avLst/>
          </a:prstGeom>
          <a:solidFill>
            <a:srgbClr val="F1EDE5">
              <a:alpha val="12000"/>
            </a:srgbClr>
          </a:solidFill>
          <a:ln/>
        </p:spPr>
      </p:sp>
      <p:sp>
        <p:nvSpPr>
          <p:cNvPr id="19" name="Shape 17"/>
          <p:cNvSpPr/>
          <p:nvPr/>
        </p:nvSpPr>
        <p:spPr>
          <a:xfrm>
            <a:off x="12337521" y="2731816"/>
            <a:ext cx="19824" cy="1832983"/>
          </a:xfrm>
          <a:prstGeom prst="rect">
            <a:avLst/>
          </a:prstGeom>
          <a:solidFill>
            <a:srgbClr val="F1EDE5">
              <a:alpha val="12000"/>
            </a:srgbClr>
          </a:solidFill>
          <a:ln/>
        </p:spPr>
      </p:sp>
      <p:sp>
        <p:nvSpPr>
          <p:cNvPr id="20" name="Shape 18"/>
          <p:cNvSpPr/>
          <p:nvPr/>
        </p:nvSpPr>
        <p:spPr>
          <a:xfrm>
            <a:off x="10614685" y="4070731"/>
            <a:ext cx="315921" cy="113667"/>
          </a:xfrm>
          <a:prstGeom prst="rect">
            <a:avLst/>
          </a:prstGeom>
          <a:solidFill>
            <a:srgbClr val="E2A24F">
              <a:alpha val="70000"/>
            </a:srgbClr>
          </a:solidFill>
          <a:ln/>
        </p:spPr>
      </p:sp>
      <p:sp>
        <p:nvSpPr>
          <p:cNvPr id="21" name="Shape 19"/>
          <p:cNvSpPr/>
          <p:nvPr/>
        </p:nvSpPr>
        <p:spPr>
          <a:xfrm>
            <a:off x="10012270" y="3865457"/>
            <a:ext cx="1869714" cy="586662"/>
          </a:xfrm>
          <a:prstGeom prst="rect">
            <a:avLst/>
          </a:prstGeom>
          <a:solidFill>
            <a:srgbClr val="E2A24F">
              <a:alpha val="20000"/>
            </a:srgbClr>
          </a:solidFill>
          <a:ln/>
        </p:spPr>
      </p:sp>
      <p:sp>
        <p:nvSpPr>
          <p:cNvPr id="22" name="Shape 20"/>
          <p:cNvSpPr/>
          <p:nvPr/>
        </p:nvSpPr>
        <p:spPr>
          <a:xfrm>
            <a:off x="10802324" y="3378432"/>
            <a:ext cx="587691" cy="217371"/>
          </a:xfrm>
          <a:prstGeom prst="rect">
            <a:avLst/>
          </a:prstGeom>
          <a:solidFill>
            <a:srgbClr val="5FD6BB">
              <a:alpha val="70000"/>
            </a:srgbClr>
          </a:solidFill>
          <a:ln/>
        </p:spPr>
      </p:sp>
      <p:sp>
        <p:nvSpPr>
          <p:cNvPr id="23" name="Shape 21"/>
          <p:cNvSpPr/>
          <p:nvPr/>
        </p:nvSpPr>
        <p:spPr>
          <a:xfrm>
            <a:off x="9531162" y="3642691"/>
            <a:ext cx="180972" cy="91759"/>
          </a:xfrm>
          <a:prstGeom prst="roundRect">
            <a:avLst>
              <a:gd name="adj" fmla="val 50000"/>
            </a:avLst>
          </a:prstGeom>
          <a:solidFill>
            <a:srgbClr val="E2A24F">
              <a:alpha val="60000"/>
            </a:srgbClr>
          </a:solidFill>
          <a:ln/>
        </p:spPr>
      </p:sp>
      <p:sp>
        <p:nvSpPr>
          <p:cNvPr id="24" name="Shape 22"/>
          <p:cNvSpPr/>
          <p:nvPr/>
        </p:nvSpPr>
        <p:spPr>
          <a:xfrm>
            <a:off x="10837199" y="3653620"/>
            <a:ext cx="183188" cy="91889"/>
          </a:xfrm>
          <a:prstGeom prst="roundRect">
            <a:avLst>
              <a:gd name="adj" fmla="val 50000"/>
            </a:avLst>
          </a:prstGeom>
          <a:solidFill>
            <a:srgbClr val="E2A24F">
              <a:alpha val="60000"/>
            </a:srgbClr>
          </a:solidFill>
          <a:ln/>
        </p:spPr>
      </p:sp>
      <p:sp>
        <p:nvSpPr>
          <p:cNvPr id="25" name="Shape 23"/>
          <p:cNvSpPr/>
          <p:nvPr/>
        </p:nvSpPr>
        <p:spPr>
          <a:xfrm>
            <a:off x="11562615" y="2118409"/>
            <a:ext cx="3157168" cy="1448006"/>
          </a:xfrm>
          <a:prstGeom prst="rect">
            <a:avLst/>
          </a:prstGeom>
          <a:gradFill rotWithShape="1">
            <a:gsLst>
              <a:gs pos="0">
                <a:srgbClr val="E2A24F">
                  <a:alpha val="16000"/>
                </a:srgbClr>
              </a:gs>
              <a:gs pos="100000">
                <a:srgbClr val="E2A24F">
                  <a:alpha val="0"/>
                </a:srgbClr>
              </a:gs>
            </a:gsLst>
            <a:path path="circle">
              <a:fillToRect l="50000" t="100000" r="50000" b="0"/>
            </a:path>
          </a:gradFill>
          <a:ln/>
        </p:spPr>
      </p:sp>
      <p:sp>
        <p:nvSpPr>
          <p:cNvPr id="26" name="Shape 24"/>
          <p:cNvSpPr/>
          <p:nvPr/>
        </p:nvSpPr>
        <p:spPr>
          <a:xfrm>
            <a:off x="11562615" y="3526767"/>
            <a:ext cx="3157168" cy="39648"/>
          </a:xfrm>
          <a:prstGeom prst="rect">
            <a:avLst/>
          </a:prstGeom>
          <a:solidFill>
            <a:srgbClr val="F1EDE5">
              <a:alpha val="30000"/>
            </a:srgbClr>
          </a:solidFill>
          <a:ln/>
        </p:spPr>
      </p:sp>
      <p:sp>
        <p:nvSpPr>
          <p:cNvPr id="27" name="Shape 25"/>
          <p:cNvSpPr/>
          <p:nvPr/>
        </p:nvSpPr>
        <p:spPr>
          <a:xfrm>
            <a:off x="11562615" y="2118409"/>
            <a:ext cx="3157168" cy="19824"/>
          </a:xfrm>
          <a:prstGeom prst="rect">
            <a:avLst/>
          </a:prstGeom>
          <a:solidFill>
            <a:srgbClr val="F1EDE5">
              <a:alpha val="12000"/>
            </a:srgbClr>
          </a:solidFill>
          <a:ln/>
        </p:spPr>
      </p:sp>
      <p:sp>
        <p:nvSpPr>
          <p:cNvPr id="28" name="Shape 26"/>
          <p:cNvSpPr/>
          <p:nvPr/>
        </p:nvSpPr>
        <p:spPr>
          <a:xfrm>
            <a:off x="11562615" y="2118409"/>
            <a:ext cx="19824" cy="1448006"/>
          </a:xfrm>
          <a:prstGeom prst="rect">
            <a:avLst/>
          </a:prstGeom>
          <a:solidFill>
            <a:srgbClr val="F1EDE5">
              <a:alpha val="12000"/>
            </a:srgbClr>
          </a:solidFill>
          <a:ln/>
        </p:spPr>
      </p:sp>
      <p:sp>
        <p:nvSpPr>
          <p:cNvPr id="29" name="Shape 27"/>
          <p:cNvSpPr/>
          <p:nvPr/>
        </p:nvSpPr>
        <p:spPr>
          <a:xfrm>
            <a:off x="14699959" y="2118409"/>
            <a:ext cx="19824" cy="1448006"/>
          </a:xfrm>
          <a:prstGeom prst="rect">
            <a:avLst/>
          </a:prstGeom>
          <a:solidFill>
            <a:srgbClr val="F1EDE5">
              <a:alpha val="12000"/>
            </a:srgbClr>
          </a:solidFill>
          <a:ln/>
        </p:spPr>
      </p:sp>
      <p:sp>
        <p:nvSpPr>
          <p:cNvPr id="30" name="Shape 28"/>
          <p:cNvSpPr/>
          <p:nvPr/>
        </p:nvSpPr>
        <p:spPr>
          <a:xfrm>
            <a:off x="13602400" y="3213970"/>
            <a:ext cx="253386" cy="90978"/>
          </a:xfrm>
          <a:prstGeom prst="rect">
            <a:avLst/>
          </a:prstGeom>
          <a:solidFill>
            <a:srgbClr val="E2A24F">
              <a:alpha val="70000"/>
            </a:srgbClr>
          </a:solidFill>
          <a:ln/>
        </p:spPr>
      </p:sp>
      <p:sp>
        <p:nvSpPr>
          <p:cNvPr id="31" name="Shape 29"/>
          <p:cNvSpPr/>
          <p:nvPr/>
        </p:nvSpPr>
        <p:spPr>
          <a:xfrm>
            <a:off x="7065948" y="5347329"/>
            <a:ext cx="5566940" cy="2894234"/>
          </a:xfrm>
          <a:prstGeom prst="rect">
            <a:avLst/>
          </a:prstGeom>
          <a:gradFill rotWithShape="1">
            <a:gsLst>
              <a:gs pos="0">
                <a:srgbClr val="E2A24F">
                  <a:alpha val="14000"/>
                </a:srgbClr>
              </a:gs>
              <a:gs pos="100000">
                <a:srgbClr val="E2A24F">
                  <a:alpha val="0"/>
                </a:srgbClr>
              </a:gs>
            </a:gsLst>
            <a:path path="circle">
              <a:fillToRect l="50000" t="0" r="50000" b="100000"/>
            </a:path>
          </a:gradFill>
          <a:ln/>
        </p:spPr>
      </p:sp>
      <p:sp>
        <p:nvSpPr>
          <p:cNvPr id="32" name="Shape 30"/>
          <p:cNvSpPr/>
          <p:nvPr/>
        </p:nvSpPr>
        <p:spPr>
          <a:xfrm>
            <a:off x="7065948" y="8221738"/>
            <a:ext cx="5566940" cy="19824"/>
          </a:xfrm>
          <a:prstGeom prst="rect">
            <a:avLst/>
          </a:prstGeom>
          <a:solidFill>
            <a:srgbClr val="F1EDE5">
              <a:alpha val="12000"/>
            </a:srgbClr>
          </a:solidFill>
          <a:ln/>
        </p:spPr>
      </p:sp>
      <p:sp>
        <p:nvSpPr>
          <p:cNvPr id="33" name="Shape 31"/>
          <p:cNvSpPr/>
          <p:nvPr/>
        </p:nvSpPr>
        <p:spPr>
          <a:xfrm>
            <a:off x="7065948" y="5347329"/>
            <a:ext cx="5566940" cy="39648"/>
          </a:xfrm>
          <a:prstGeom prst="rect">
            <a:avLst/>
          </a:prstGeom>
          <a:solidFill>
            <a:srgbClr val="F1EDE5">
              <a:alpha val="30000"/>
            </a:srgbClr>
          </a:solidFill>
          <a:ln/>
        </p:spPr>
      </p:sp>
      <p:sp>
        <p:nvSpPr>
          <p:cNvPr id="34" name="Shape 32"/>
          <p:cNvSpPr/>
          <p:nvPr/>
        </p:nvSpPr>
        <p:spPr>
          <a:xfrm>
            <a:off x="7065948" y="5347329"/>
            <a:ext cx="19824" cy="2894234"/>
          </a:xfrm>
          <a:prstGeom prst="rect">
            <a:avLst/>
          </a:prstGeom>
          <a:solidFill>
            <a:srgbClr val="F1EDE5">
              <a:alpha val="12000"/>
            </a:srgbClr>
          </a:solidFill>
          <a:ln/>
        </p:spPr>
      </p:sp>
      <p:sp>
        <p:nvSpPr>
          <p:cNvPr id="35" name="Shape 33"/>
          <p:cNvSpPr/>
          <p:nvPr/>
        </p:nvSpPr>
        <p:spPr>
          <a:xfrm>
            <a:off x="12613064" y="5347329"/>
            <a:ext cx="19824" cy="2894234"/>
          </a:xfrm>
          <a:prstGeom prst="rect">
            <a:avLst/>
          </a:prstGeom>
          <a:solidFill>
            <a:srgbClr val="F1EDE5">
              <a:alpha val="12000"/>
            </a:srgbClr>
          </a:solidFill>
          <a:ln/>
        </p:spPr>
      </p:sp>
      <p:sp>
        <p:nvSpPr>
          <p:cNvPr id="36" name="Shape 34"/>
          <p:cNvSpPr/>
          <p:nvPr/>
        </p:nvSpPr>
        <p:spPr>
          <a:xfrm>
            <a:off x="9017464" y="5949130"/>
            <a:ext cx="359446" cy="142428"/>
          </a:xfrm>
          <a:prstGeom prst="rect">
            <a:avLst/>
          </a:prstGeom>
          <a:solidFill>
            <a:srgbClr val="E2A24F">
              <a:alpha val="70000"/>
            </a:srgbClr>
          </a:solidFill>
          <a:ln/>
        </p:spPr>
      </p:sp>
      <p:sp>
        <p:nvSpPr>
          <p:cNvPr id="37" name="Shape 35"/>
          <p:cNvSpPr/>
          <p:nvPr/>
        </p:nvSpPr>
        <p:spPr>
          <a:xfrm>
            <a:off x="11673513" y="3843385"/>
            <a:ext cx="5876710" cy="2680115"/>
          </a:xfrm>
          <a:prstGeom prst="rect">
            <a:avLst/>
          </a:prstGeom>
          <a:gradFill rotWithShape="1">
            <a:gsLst>
              <a:gs pos="0">
                <a:srgbClr val="D6A759">
                  <a:alpha val="37000"/>
                </a:srgbClr>
              </a:gs>
              <a:gs pos="100000">
                <a:srgbClr val="5FD6BB">
                  <a:alpha val="5000"/>
                </a:srgbClr>
              </a:gs>
            </a:gsLst>
            <a:path path="circle">
              <a:fillToRect l="80000" t="0" r="20000" b="100000"/>
            </a:path>
          </a:gradFill>
          <a:ln/>
        </p:spPr>
      </p:sp>
      <p:sp>
        <p:nvSpPr>
          <p:cNvPr id="38" name="Shape 36"/>
          <p:cNvSpPr/>
          <p:nvPr/>
        </p:nvSpPr>
        <p:spPr>
          <a:xfrm>
            <a:off x="11673513" y="6503676"/>
            <a:ext cx="5876710" cy="19824"/>
          </a:xfrm>
          <a:prstGeom prst="rect">
            <a:avLst/>
          </a:prstGeom>
          <a:solidFill>
            <a:srgbClr val="5FD6BB"/>
          </a:solidFill>
          <a:ln/>
        </p:spPr>
      </p:sp>
      <p:sp>
        <p:nvSpPr>
          <p:cNvPr id="39" name="Shape 37"/>
          <p:cNvSpPr/>
          <p:nvPr/>
        </p:nvSpPr>
        <p:spPr>
          <a:xfrm>
            <a:off x="11673513" y="3843385"/>
            <a:ext cx="5876710" cy="39648"/>
          </a:xfrm>
          <a:prstGeom prst="rect">
            <a:avLst/>
          </a:prstGeom>
          <a:solidFill>
            <a:srgbClr val="5FD6BB"/>
          </a:solidFill>
          <a:ln/>
        </p:spPr>
      </p:sp>
      <p:sp>
        <p:nvSpPr>
          <p:cNvPr id="40" name="Shape 38"/>
          <p:cNvSpPr/>
          <p:nvPr/>
        </p:nvSpPr>
        <p:spPr>
          <a:xfrm>
            <a:off x="11673513" y="3843385"/>
            <a:ext cx="19824" cy="2680115"/>
          </a:xfrm>
          <a:prstGeom prst="rect">
            <a:avLst/>
          </a:prstGeom>
          <a:solidFill>
            <a:srgbClr val="5FD6BB"/>
          </a:solidFill>
          <a:ln/>
        </p:spPr>
      </p:sp>
      <p:sp>
        <p:nvSpPr>
          <p:cNvPr id="41" name="Shape 39"/>
          <p:cNvSpPr/>
          <p:nvPr/>
        </p:nvSpPr>
        <p:spPr>
          <a:xfrm>
            <a:off x="17530399" y="3843385"/>
            <a:ext cx="19824" cy="2680115"/>
          </a:xfrm>
          <a:prstGeom prst="rect">
            <a:avLst/>
          </a:prstGeom>
          <a:solidFill>
            <a:srgbClr val="5FD6BB"/>
          </a:solidFill>
          <a:ln/>
        </p:spPr>
      </p:sp>
      <p:sp>
        <p:nvSpPr>
          <p:cNvPr id="42" name="Shape 40"/>
          <p:cNvSpPr/>
          <p:nvPr/>
        </p:nvSpPr>
        <p:spPr>
          <a:xfrm>
            <a:off x="12502571" y="5886100"/>
            <a:ext cx="3136275" cy="19824"/>
          </a:xfrm>
          <a:prstGeom prst="rect">
            <a:avLst/>
          </a:prstGeom>
          <a:solidFill>
            <a:srgbClr val="F1EDE5">
              <a:alpha val="35000"/>
            </a:srgbClr>
          </a:solidFill>
          <a:ln/>
        </p:spPr>
      </p:sp>
      <p:sp>
        <p:nvSpPr>
          <p:cNvPr id="43" name="Shape 41"/>
          <p:cNvSpPr/>
          <p:nvPr/>
        </p:nvSpPr>
        <p:spPr>
          <a:xfrm>
            <a:off x="12502571" y="4526342"/>
            <a:ext cx="3136275" cy="19824"/>
          </a:xfrm>
          <a:prstGeom prst="rect">
            <a:avLst/>
          </a:prstGeom>
          <a:solidFill>
            <a:srgbClr val="F1EDE5">
              <a:alpha val="35000"/>
            </a:srgbClr>
          </a:solidFill>
          <a:ln/>
        </p:spPr>
      </p:sp>
      <p:sp>
        <p:nvSpPr>
          <p:cNvPr id="44" name="Shape 42"/>
          <p:cNvSpPr/>
          <p:nvPr/>
        </p:nvSpPr>
        <p:spPr>
          <a:xfrm>
            <a:off x="12502571" y="4526342"/>
            <a:ext cx="19824" cy="1379581"/>
          </a:xfrm>
          <a:prstGeom prst="rect">
            <a:avLst/>
          </a:prstGeom>
          <a:solidFill>
            <a:srgbClr val="F1EDE5">
              <a:alpha val="35000"/>
            </a:srgbClr>
          </a:solidFill>
          <a:ln/>
        </p:spPr>
      </p:sp>
      <p:sp>
        <p:nvSpPr>
          <p:cNvPr id="45" name="Shape 43"/>
          <p:cNvSpPr/>
          <p:nvPr/>
        </p:nvSpPr>
        <p:spPr>
          <a:xfrm>
            <a:off x="15619022" y="4526342"/>
            <a:ext cx="19824" cy="1379581"/>
          </a:xfrm>
          <a:prstGeom prst="rect">
            <a:avLst/>
          </a:prstGeom>
          <a:solidFill>
            <a:srgbClr val="F1EDE5">
              <a:alpha val="35000"/>
            </a:srgbClr>
          </a:solidFill>
          <a:ln/>
        </p:spPr>
      </p:sp>
      <p:sp>
        <p:nvSpPr>
          <p:cNvPr id="46" name="Shape 44"/>
          <p:cNvSpPr/>
          <p:nvPr/>
        </p:nvSpPr>
        <p:spPr>
          <a:xfrm>
            <a:off x="13274596" y="5511264"/>
            <a:ext cx="474405" cy="19824"/>
          </a:xfrm>
          <a:prstGeom prst="rect">
            <a:avLst/>
          </a:prstGeom>
          <a:solidFill>
            <a:srgbClr val="F1EDE5">
              <a:alpha val="50000"/>
            </a:srgbClr>
          </a:solidFill>
          <a:ln/>
        </p:spPr>
      </p:sp>
      <p:sp>
        <p:nvSpPr>
          <p:cNvPr id="47" name="Shape 45"/>
          <p:cNvSpPr/>
          <p:nvPr/>
        </p:nvSpPr>
        <p:spPr>
          <a:xfrm>
            <a:off x="13274596" y="5229543"/>
            <a:ext cx="474405" cy="19824"/>
          </a:xfrm>
          <a:prstGeom prst="rect">
            <a:avLst/>
          </a:prstGeom>
          <a:solidFill>
            <a:srgbClr val="F1EDE5">
              <a:alpha val="50000"/>
            </a:srgbClr>
          </a:solidFill>
          <a:ln/>
        </p:spPr>
      </p:sp>
      <p:sp>
        <p:nvSpPr>
          <p:cNvPr id="48" name="Shape 46"/>
          <p:cNvSpPr/>
          <p:nvPr/>
        </p:nvSpPr>
        <p:spPr>
          <a:xfrm>
            <a:off x="13274596" y="5229543"/>
            <a:ext cx="19824" cy="301545"/>
          </a:xfrm>
          <a:prstGeom prst="rect">
            <a:avLst/>
          </a:prstGeom>
          <a:solidFill>
            <a:srgbClr val="F1EDE5">
              <a:alpha val="50000"/>
            </a:srgbClr>
          </a:solidFill>
          <a:ln/>
        </p:spPr>
      </p:sp>
      <p:sp>
        <p:nvSpPr>
          <p:cNvPr id="49" name="Shape 47"/>
          <p:cNvSpPr/>
          <p:nvPr/>
        </p:nvSpPr>
        <p:spPr>
          <a:xfrm>
            <a:off x="13729177" y="5229543"/>
            <a:ext cx="19824" cy="301545"/>
          </a:xfrm>
          <a:prstGeom prst="rect">
            <a:avLst/>
          </a:prstGeom>
          <a:solidFill>
            <a:srgbClr val="F1EDE5">
              <a:alpha val="50000"/>
            </a:srgbClr>
          </a:solidFill>
          <a:ln/>
        </p:spPr>
      </p:sp>
      <p:sp>
        <p:nvSpPr>
          <p:cNvPr id="50" name="Shape 48"/>
          <p:cNvSpPr/>
          <p:nvPr/>
        </p:nvSpPr>
        <p:spPr>
          <a:xfrm>
            <a:off x="14406116" y="5126901"/>
            <a:ext cx="474816" cy="19824"/>
          </a:xfrm>
          <a:prstGeom prst="rect">
            <a:avLst/>
          </a:prstGeom>
          <a:solidFill>
            <a:srgbClr val="F1EDE5">
              <a:alpha val="50000"/>
            </a:srgbClr>
          </a:solidFill>
          <a:ln/>
        </p:spPr>
      </p:sp>
      <p:sp>
        <p:nvSpPr>
          <p:cNvPr id="51" name="Shape 49"/>
          <p:cNvSpPr/>
          <p:nvPr/>
        </p:nvSpPr>
        <p:spPr>
          <a:xfrm>
            <a:off x="14406116" y="4858351"/>
            <a:ext cx="474816" cy="19824"/>
          </a:xfrm>
          <a:prstGeom prst="rect">
            <a:avLst/>
          </a:prstGeom>
          <a:solidFill>
            <a:srgbClr val="F1EDE5">
              <a:alpha val="50000"/>
            </a:srgbClr>
          </a:solidFill>
          <a:ln/>
        </p:spPr>
      </p:sp>
      <p:sp>
        <p:nvSpPr>
          <p:cNvPr id="52" name="Shape 50"/>
          <p:cNvSpPr/>
          <p:nvPr/>
        </p:nvSpPr>
        <p:spPr>
          <a:xfrm>
            <a:off x="14406116" y="4858351"/>
            <a:ext cx="19824" cy="288374"/>
          </a:xfrm>
          <a:prstGeom prst="rect">
            <a:avLst/>
          </a:prstGeom>
          <a:solidFill>
            <a:srgbClr val="F1EDE5">
              <a:alpha val="50000"/>
            </a:srgbClr>
          </a:solidFill>
          <a:ln/>
        </p:spPr>
      </p:sp>
      <p:sp>
        <p:nvSpPr>
          <p:cNvPr id="53" name="Shape 51"/>
          <p:cNvSpPr/>
          <p:nvPr/>
        </p:nvSpPr>
        <p:spPr>
          <a:xfrm>
            <a:off x="14861108" y="4858351"/>
            <a:ext cx="19824" cy="288374"/>
          </a:xfrm>
          <a:prstGeom prst="rect">
            <a:avLst/>
          </a:prstGeom>
          <a:solidFill>
            <a:srgbClr val="F1EDE5">
              <a:alpha val="50000"/>
            </a:srgbClr>
          </a:solidFill>
          <a:ln/>
        </p:spPr>
      </p:sp>
      <p:sp>
        <p:nvSpPr>
          <p:cNvPr id="54" name="Shape 52"/>
          <p:cNvSpPr/>
          <p:nvPr/>
        </p:nvSpPr>
        <p:spPr>
          <a:xfrm>
            <a:off x="15096933" y="5196670"/>
            <a:ext cx="2103486" cy="19824"/>
          </a:xfrm>
          <a:prstGeom prst="rect">
            <a:avLst/>
          </a:prstGeom>
          <a:solidFill>
            <a:srgbClr val="F1EDE5">
              <a:alpha val="45000"/>
            </a:srgbClr>
          </a:solidFill>
          <a:ln/>
        </p:spPr>
      </p:sp>
      <p:sp>
        <p:nvSpPr>
          <p:cNvPr id="55" name="Shape 53"/>
          <p:cNvSpPr/>
          <p:nvPr/>
        </p:nvSpPr>
        <p:spPr>
          <a:xfrm>
            <a:off x="15096933" y="4055593"/>
            <a:ext cx="2103486" cy="19824"/>
          </a:xfrm>
          <a:prstGeom prst="rect">
            <a:avLst/>
          </a:prstGeom>
          <a:solidFill>
            <a:srgbClr val="F1EDE5">
              <a:alpha val="45000"/>
            </a:srgbClr>
          </a:solidFill>
          <a:ln/>
        </p:spPr>
      </p:sp>
      <p:sp>
        <p:nvSpPr>
          <p:cNvPr id="56" name="Shape 54"/>
          <p:cNvSpPr/>
          <p:nvPr/>
        </p:nvSpPr>
        <p:spPr>
          <a:xfrm>
            <a:off x="15096933" y="4055593"/>
            <a:ext cx="19824" cy="1160901"/>
          </a:xfrm>
          <a:prstGeom prst="rect">
            <a:avLst/>
          </a:prstGeom>
          <a:solidFill>
            <a:srgbClr val="F1EDE5">
              <a:alpha val="45000"/>
            </a:srgbClr>
          </a:solidFill>
          <a:ln/>
        </p:spPr>
      </p:sp>
      <p:sp>
        <p:nvSpPr>
          <p:cNvPr id="57" name="Shape 55"/>
          <p:cNvSpPr/>
          <p:nvPr/>
        </p:nvSpPr>
        <p:spPr>
          <a:xfrm>
            <a:off x="17180595" y="4055593"/>
            <a:ext cx="19824" cy="1160901"/>
          </a:xfrm>
          <a:prstGeom prst="rect">
            <a:avLst/>
          </a:prstGeom>
          <a:solidFill>
            <a:srgbClr val="F1EDE5">
              <a:alpha val="45000"/>
            </a:srgbClr>
          </a:solidFill>
          <a:ln/>
        </p:spPr>
      </p:sp>
      <p:sp>
        <p:nvSpPr>
          <p:cNvPr id="58" name="Shape 56"/>
          <p:cNvSpPr/>
          <p:nvPr/>
        </p:nvSpPr>
        <p:spPr>
          <a:xfrm>
            <a:off x="15170117" y="4008540"/>
            <a:ext cx="299760" cy="112769"/>
          </a:xfrm>
          <a:prstGeom prst="rect">
            <a:avLst/>
          </a:prstGeom>
          <a:solidFill>
            <a:srgbClr val="E2A24F"/>
          </a:solidFill>
          <a:ln/>
          <a:effectLst>
            <a:outerShdw sx="100000" sy="100000" kx="0" ky="0" algn="bl" rotWithShape="0" blurRad="76200" dist="50800" dir="16200000">
              <a:srgbClr val="E2A24F">
                <a:alpha val="80000"/>
              </a:srgbClr>
            </a:outerShdw>
          </a:effectLst>
        </p:spPr>
      </p:sp>
      <p:sp>
        <p:nvSpPr>
          <p:cNvPr id="59" name="Shape 57"/>
          <p:cNvSpPr/>
          <p:nvPr/>
        </p:nvSpPr>
        <p:spPr>
          <a:xfrm>
            <a:off x="15390236" y="4372975"/>
            <a:ext cx="199404" cy="100714"/>
          </a:xfrm>
          <a:prstGeom prst="roundRect">
            <a:avLst>
              <a:gd name="adj" fmla="val 50000"/>
            </a:avLst>
          </a:prstGeom>
          <a:solidFill>
            <a:srgbClr val="E2A24F"/>
          </a:solidFill>
          <a:ln/>
        </p:spPr>
      </p:sp>
      <p:sp>
        <p:nvSpPr>
          <p:cNvPr id="60" name="Shape 58"/>
          <p:cNvSpPr/>
          <p:nvPr/>
        </p:nvSpPr>
        <p:spPr>
          <a:xfrm>
            <a:off x="15901874" y="4389984"/>
            <a:ext cx="200473" cy="100929"/>
          </a:xfrm>
          <a:prstGeom prst="roundRect">
            <a:avLst>
              <a:gd name="adj" fmla="val 50000"/>
            </a:avLst>
          </a:prstGeom>
          <a:solidFill>
            <a:srgbClr val="E2A24F"/>
          </a:solidFill>
          <a:ln/>
        </p:spPr>
      </p:sp>
      <p:sp>
        <p:nvSpPr>
          <p:cNvPr id="61" name="Shape 59"/>
          <p:cNvSpPr/>
          <p:nvPr/>
        </p:nvSpPr>
        <p:spPr>
          <a:xfrm>
            <a:off x="15877426" y="4649506"/>
            <a:ext cx="203673" cy="104215"/>
          </a:xfrm>
          <a:prstGeom prst="roundRect">
            <a:avLst>
              <a:gd name="adj" fmla="val 50000"/>
            </a:avLst>
          </a:prstGeom>
          <a:solidFill>
            <a:srgbClr val="E2A24F"/>
          </a:solidFill>
          <a:ln/>
        </p:spPr>
      </p:sp>
      <p:sp>
        <p:nvSpPr>
          <p:cNvPr id="62" name="Shape 60"/>
          <p:cNvSpPr/>
          <p:nvPr/>
        </p:nvSpPr>
        <p:spPr>
          <a:xfrm>
            <a:off x="16503976" y="4663712"/>
            <a:ext cx="204914" cy="104398"/>
          </a:xfrm>
          <a:prstGeom prst="roundRect">
            <a:avLst>
              <a:gd name="adj" fmla="val 50000"/>
            </a:avLst>
          </a:prstGeom>
          <a:solidFill>
            <a:srgbClr val="E2A24F"/>
          </a:solidFill>
          <a:ln/>
        </p:spPr>
      </p:sp>
      <p:sp>
        <p:nvSpPr>
          <p:cNvPr id="63" name="Shape 61"/>
          <p:cNvSpPr/>
          <p:nvPr/>
        </p:nvSpPr>
        <p:spPr>
          <a:xfrm>
            <a:off x="16388340" y="4900011"/>
            <a:ext cx="207681" cy="107439"/>
          </a:xfrm>
          <a:prstGeom prst="roundRect">
            <a:avLst>
              <a:gd name="adj" fmla="val 50000"/>
            </a:avLst>
          </a:prstGeom>
          <a:solidFill>
            <a:srgbClr val="E2A24F"/>
          </a:solidFill>
          <a:ln/>
        </p:spPr>
      </p:sp>
      <p:sp>
        <p:nvSpPr>
          <p:cNvPr id="64" name="Shape 62"/>
          <p:cNvSpPr/>
          <p:nvPr/>
        </p:nvSpPr>
        <p:spPr>
          <a:xfrm>
            <a:off x="13385981" y="5549301"/>
            <a:ext cx="210439" cy="116024"/>
          </a:xfrm>
          <a:prstGeom prst="roundRect">
            <a:avLst>
              <a:gd name="adj" fmla="val 50000"/>
            </a:avLst>
          </a:prstGeom>
          <a:solidFill>
            <a:srgbClr val="E2A24F"/>
          </a:solidFill>
          <a:ln/>
        </p:spPr>
      </p:sp>
      <p:sp>
        <p:nvSpPr>
          <p:cNvPr id="65" name="Shape 63"/>
          <p:cNvSpPr/>
          <p:nvPr/>
        </p:nvSpPr>
        <p:spPr>
          <a:xfrm>
            <a:off x="14932189" y="5030653"/>
            <a:ext cx="206787" cy="109140"/>
          </a:xfrm>
          <a:prstGeom prst="roundRect">
            <a:avLst>
              <a:gd name="adj" fmla="val 50000"/>
            </a:avLst>
          </a:prstGeom>
          <a:solidFill>
            <a:srgbClr val="E2A24F"/>
          </a:solidFill>
          <a:ln/>
        </p:spPr>
      </p:sp>
      <p:sp>
        <p:nvSpPr>
          <p:cNvPr id="66" name="Shape 64"/>
          <p:cNvSpPr/>
          <p:nvPr/>
        </p:nvSpPr>
        <p:spPr>
          <a:xfrm>
            <a:off x="14533361" y="5535964"/>
            <a:ext cx="212333" cy="115845"/>
          </a:xfrm>
          <a:prstGeom prst="roundRect">
            <a:avLst>
              <a:gd name="adj" fmla="val 50000"/>
            </a:avLst>
          </a:prstGeom>
          <a:solidFill>
            <a:srgbClr val="E2A24F"/>
          </a:solidFill>
          <a:ln/>
        </p:spPr>
      </p:sp>
      <p:sp>
        <p:nvSpPr>
          <p:cNvPr id="67" name="Shape 65"/>
          <p:cNvSpPr/>
          <p:nvPr/>
        </p:nvSpPr>
        <p:spPr>
          <a:xfrm>
            <a:off x="13430838" y="6085572"/>
            <a:ext cx="460693" cy="19824"/>
          </a:xfrm>
          <a:prstGeom prst="rect">
            <a:avLst/>
          </a:prstGeom>
          <a:solidFill>
            <a:srgbClr val="F1EDE5">
              <a:alpha val="50000"/>
            </a:srgbClr>
          </a:solidFill>
          <a:ln/>
        </p:spPr>
      </p:sp>
      <p:sp>
        <p:nvSpPr>
          <p:cNvPr id="68" name="Shape 66"/>
          <p:cNvSpPr/>
          <p:nvPr/>
        </p:nvSpPr>
        <p:spPr>
          <a:xfrm>
            <a:off x="13430838" y="5878412"/>
            <a:ext cx="460693" cy="19824"/>
          </a:xfrm>
          <a:prstGeom prst="rect">
            <a:avLst/>
          </a:prstGeom>
          <a:solidFill>
            <a:srgbClr val="F1EDE5">
              <a:alpha val="50000"/>
            </a:srgbClr>
          </a:solidFill>
          <a:ln/>
        </p:spPr>
      </p:sp>
      <p:sp>
        <p:nvSpPr>
          <p:cNvPr id="69" name="Shape 67"/>
          <p:cNvSpPr/>
          <p:nvPr/>
        </p:nvSpPr>
        <p:spPr>
          <a:xfrm>
            <a:off x="13430838" y="5878412"/>
            <a:ext cx="19824" cy="226984"/>
          </a:xfrm>
          <a:prstGeom prst="rect">
            <a:avLst/>
          </a:prstGeom>
          <a:solidFill>
            <a:srgbClr val="F1EDE5">
              <a:alpha val="50000"/>
            </a:srgbClr>
          </a:solidFill>
          <a:ln/>
        </p:spPr>
      </p:sp>
      <p:sp>
        <p:nvSpPr>
          <p:cNvPr id="70" name="Shape 68"/>
          <p:cNvSpPr/>
          <p:nvPr/>
        </p:nvSpPr>
        <p:spPr>
          <a:xfrm>
            <a:off x="13871707" y="5878412"/>
            <a:ext cx="19824" cy="226984"/>
          </a:xfrm>
          <a:prstGeom prst="rect">
            <a:avLst/>
          </a:prstGeom>
          <a:solidFill>
            <a:srgbClr val="F1EDE5">
              <a:alpha val="50000"/>
            </a:srgbClr>
          </a:solidFill>
          <a:ln/>
        </p:spPr>
      </p:sp>
      <p:sp>
        <p:nvSpPr>
          <p:cNvPr id="71" name="Shape 69"/>
          <p:cNvSpPr/>
          <p:nvPr/>
        </p:nvSpPr>
        <p:spPr>
          <a:xfrm>
            <a:off x="14027704" y="4964934"/>
            <a:ext cx="431764" cy="19824"/>
          </a:xfrm>
          <a:prstGeom prst="rect">
            <a:avLst/>
          </a:prstGeom>
          <a:solidFill>
            <a:srgbClr val="F1EDE5">
              <a:alpha val="50000"/>
            </a:srgbClr>
          </a:solidFill>
          <a:ln/>
        </p:spPr>
      </p:sp>
      <p:sp>
        <p:nvSpPr>
          <p:cNvPr id="72" name="Shape 70"/>
          <p:cNvSpPr/>
          <p:nvPr/>
        </p:nvSpPr>
        <p:spPr>
          <a:xfrm>
            <a:off x="14027704" y="4785249"/>
            <a:ext cx="431764" cy="19824"/>
          </a:xfrm>
          <a:prstGeom prst="rect">
            <a:avLst/>
          </a:prstGeom>
          <a:solidFill>
            <a:srgbClr val="F1EDE5">
              <a:alpha val="50000"/>
            </a:srgbClr>
          </a:solidFill>
          <a:ln/>
        </p:spPr>
      </p:sp>
      <p:sp>
        <p:nvSpPr>
          <p:cNvPr id="73" name="Shape 71"/>
          <p:cNvSpPr/>
          <p:nvPr/>
        </p:nvSpPr>
        <p:spPr>
          <a:xfrm>
            <a:off x="14027704" y="4785249"/>
            <a:ext cx="19824" cy="199509"/>
          </a:xfrm>
          <a:prstGeom prst="rect">
            <a:avLst/>
          </a:prstGeom>
          <a:solidFill>
            <a:srgbClr val="F1EDE5">
              <a:alpha val="50000"/>
            </a:srgbClr>
          </a:solidFill>
          <a:ln/>
        </p:spPr>
      </p:sp>
      <p:sp>
        <p:nvSpPr>
          <p:cNvPr id="74" name="Shape 72"/>
          <p:cNvSpPr/>
          <p:nvPr/>
        </p:nvSpPr>
        <p:spPr>
          <a:xfrm>
            <a:off x="14439645" y="4785249"/>
            <a:ext cx="19824" cy="199509"/>
          </a:xfrm>
          <a:prstGeom prst="rect">
            <a:avLst/>
          </a:prstGeom>
          <a:solidFill>
            <a:srgbClr val="F1EDE5">
              <a:alpha val="50000"/>
            </a:srgbClr>
          </a:solidFill>
          <a:ln/>
        </p:spPr>
      </p:sp>
      <p:sp>
        <p:nvSpPr>
          <p:cNvPr id="75" name="Shape 73"/>
          <p:cNvSpPr/>
          <p:nvPr/>
        </p:nvSpPr>
        <p:spPr>
          <a:xfrm>
            <a:off x="15216065" y="4011667"/>
            <a:ext cx="194629" cy="96231"/>
          </a:xfrm>
          <a:prstGeom prst="roundRect">
            <a:avLst>
              <a:gd name="adj" fmla="val 50000"/>
            </a:avLst>
          </a:prstGeom>
          <a:solidFill>
            <a:srgbClr val="5FD6BB"/>
          </a:solidFill>
          <a:ln/>
          <a:effectLst>
            <a:outerShdw sx="100000" sy="100000" kx="0" ky="0" algn="bl" rotWithShape="0" blurRad="114300" dist="50800" dir="16200000">
              <a:srgbClr val="5FD6BB">
                <a:alpha val="90000"/>
              </a:srgbClr>
            </a:outerShdw>
          </a:effectLst>
        </p:spPr>
      </p:sp>
      <p:sp>
        <p:nvSpPr>
          <p:cNvPr id="76" name="Shape 74"/>
          <p:cNvSpPr/>
          <p:nvPr/>
        </p:nvSpPr>
        <p:spPr>
          <a:xfrm>
            <a:off x="14157513" y="4234003"/>
            <a:ext cx="195632" cy="98978"/>
          </a:xfrm>
          <a:prstGeom prst="roundRect">
            <a:avLst>
              <a:gd name="adj" fmla="val 50000"/>
            </a:avLst>
          </a:prstGeom>
          <a:solidFill>
            <a:srgbClr val="E2A24F"/>
          </a:solidFill>
          <a:ln/>
        </p:spPr>
      </p:sp>
      <p:sp>
        <p:nvSpPr>
          <p:cNvPr id="77" name="Shape 75"/>
          <p:cNvSpPr/>
          <p:nvPr/>
        </p:nvSpPr>
        <p:spPr>
          <a:xfrm>
            <a:off x="13112200" y="4042102"/>
            <a:ext cx="191560" cy="96605"/>
          </a:xfrm>
          <a:prstGeom prst="roundRect">
            <a:avLst>
              <a:gd name="adj" fmla="val 50000"/>
            </a:avLst>
          </a:prstGeom>
          <a:solidFill>
            <a:srgbClr val="E2A24F">
              <a:alpha val="80000"/>
            </a:srgbClr>
          </a:solidFill>
          <a:ln/>
        </p:spPr>
      </p:sp>
      <p:sp>
        <p:nvSpPr>
          <p:cNvPr id="78" name="Shape 76"/>
          <p:cNvSpPr/>
          <p:nvPr/>
        </p:nvSpPr>
        <p:spPr>
          <a:xfrm>
            <a:off x="11258605" y="4046311"/>
            <a:ext cx="188574" cy="96657"/>
          </a:xfrm>
          <a:prstGeom prst="roundRect">
            <a:avLst>
              <a:gd name="adj" fmla="val 50000"/>
            </a:avLst>
          </a:prstGeom>
          <a:solidFill>
            <a:srgbClr val="E2A24F">
              <a:alpha val="70000"/>
            </a:srgbClr>
          </a:solidFill>
          <a:ln/>
        </p:spPr>
      </p:sp>
      <p:sp>
        <p:nvSpPr>
          <p:cNvPr id="79" name="Shape 77"/>
          <p:cNvSpPr/>
          <p:nvPr/>
        </p:nvSpPr>
        <p:spPr>
          <a:xfrm>
            <a:off x="16579991" y="3527728"/>
            <a:ext cx="190781" cy="90387"/>
          </a:xfrm>
          <a:prstGeom prst="roundRect">
            <a:avLst>
              <a:gd name="adj" fmla="val 50000"/>
            </a:avLst>
          </a:prstGeom>
          <a:solidFill>
            <a:srgbClr val="E2A24F">
              <a:alpha val="60000"/>
            </a:srgbClr>
          </a:solidFill>
          <a:ln/>
        </p:spPr>
      </p:sp>
      <p:sp>
        <p:nvSpPr>
          <p:cNvPr id="80" name="Shape 78"/>
          <p:cNvSpPr/>
          <p:nvPr/>
        </p:nvSpPr>
        <p:spPr>
          <a:xfrm>
            <a:off x="17658798" y="3242054"/>
            <a:ext cx="188872" cy="87023"/>
          </a:xfrm>
          <a:prstGeom prst="roundRect">
            <a:avLst>
              <a:gd name="adj" fmla="val 50000"/>
            </a:avLst>
          </a:prstGeom>
          <a:solidFill>
            <a:srgbClr val="E2A24F">
              <a:alpha val="40000"/>
            </a:srgbClr>
          </a:solidFill>
          <a:ln/>
        </p:spPr>
      </p:sp>
      <p:sp>
        <p:nvSpPr>
          <p:cNvPr id="81" name="Shape 79"/>
          <p:cNvSpPr/>
          <p:nvPr/>
        </p:nvSpPr>
        <p:spPr>
          <a:xfrm rot="1560000">
            <a:off x="10837657" y="4074348"/>
            <a:ext cx="4281962" cy="19824"/>
          </a:xfrm>
          <a:prstGeom prst="rect">
            <a:avLst/>
          </a:prstGeom>
          <a:solidFill>
            <a:srgbClr val="E2A24F">
              <a:alpha val="35000"/>
            </a:srgbClr>
          </a:solidFill>
          <a:ln/>
        </p:spPr>
      </p:sp>
      <p:sp>
        <p:nvSpPr>
          <p:cNvPr id="82" name="Shape 80"/>
          <p:cNvSpPr/>
          <p:nvPr/>
        </p:nvSpPr>
        <p:spPr>
          <a:xfrm>
            <a:off x="15389040" y="3168455"/>
            <a:ext cx="2612973" cy="19824"/>
          </a:xfrm>
          <a:prstGeom prst="rect">
            <a:avLst/>
          </a:prstGeom>
          <a:solidFill>
            <a:srgbClr val="E2A24F">
              <a:alpha val="35000"/>
            </a:srgbClr>
          </a:solidFill>
          <a:ln/>
        </p:spPr>
      </p:sp>
      <p:sp>
        <p:nvSpPr>
          <p:cNvPr id="83" name="Text 81"/>
          <p:cNvSpPr/>
          <p:nvPr/>
        </p:nvSpPr>
        <p:spPr>
          <a:xfrm>
            <a:off x="1390650" y="528637"/>
            <a:ext cx="3684419"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F1EDE5">
                    <a:alpha val="50000"/>
                  </a:srgbClr>
                </a:solidFill>
                <a:latin typeface="Courier New" pitchFamily="34" charset="0"/>
                <a:ea typeface="Courier New" pitchFamily="34" charset="-122"/>
                <a:cs typeface="Courier New" pitchFamily="34" charset="-120"/>
              </a:rPr>
              <a:t>MAIN ST · FRIDAY · 08:31</a:t>
            </a:r>
            <a:endParaRPr lang="en-US" sz="1665" dirty="0"/>
          </a:p>
        </p:txBody>
      </p:sp>
      <p:sp>
        <p:nvSpPr>
          <p:cNvPr id="84" name="Text 82"/>
          <p:cNvSpPr/>
          <p:nvPr/>
        </p:nvSpPr>
        <p:spPr>
          <a:xfrm>
            <a:off x="13268761" y="528637"/>
            <a:ext cx="3991449"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5FD6BB"/>
                </a:solidFill>
                <a:latin typeface="Courier New" pitchFamily="34" charset="0"/>
                <a:ea typeface="Courier New" pitchFamily="34" charset="-122"/>
                <a:cs typeface="Courier New" pitchFamily="34" charset="-120"/>
              </a:rPr>
              <a:t>MORNING COFFEE DROP · LIVE</a:t>
            </a:r>
            <a:endParaRPr lang="en-US" sz="1665" dirty="0"/>
          </a:p>
        </p:txBody>
      </p:sp>
      <p:sp>
        <p:nvSpPr>
          <p:cNvPr id="85" name="Text 83"/>
          <p:cNvSpPr/>
          <p:nvPr/>
        </p:nvSpPr>
        <p:spPr>
          <a:xfrm>
            <a:off x="1249657" y="2202656"/>
            <a:ext cx="2500468" cy="3932385"/>
          </a:xfrm>
          <a:prstGeom prst="rect">
            <a:avLst/>
          </a:prstGeom>
          <a:noFill/>
          <a:ln/>
        </p:spPr>
        <p:txBody>
          <a:bodyPr wrap="square" lIns="25400" tIns="25400" rIns="25400" bIns="25400" rtlCol="0" anchor="t">
            <a:normAutofit/>
          </a:bodyPr>
          <a:lstStyle/>
          <a:p>
            <a:pPr algn="l" indent="0" marL="0">
              <a:lnSpc>
                <a:spcPct val="73923"/>
              </a:lnSpc>
              <a:buNone/>
            </a:pPr>
            <a:r>
              <a:rPr lang="en-US" sz="36075" spc="-2000" kern="0" dirty="0">
                <a:solidFill>
                  <a:srgbClr val="F1EDE5"/>
                </a:solidFill>
                <a:latin typeface="Arial" pitchFamily="34" charset="0"/>
                <a:ea typeface="Arial" pitchFamily="34" charset="-122"/>
                <a:cs typeface="Arial" pitchFamily="34" charset="-120"/>
              </a:rPr>
              <a:t>9</a:t>
            </a:r>
            <a:endParaRPr lang="en-US" sz="36075" dirty="0"/>
          </a:p>
        </p:txBody>
      </p:sp>
      <p:sp>
        <p:nvSpPr>
          <p:cNvPr id="86" name="Text 84"/>
          <p:cNvSpPr/>
          <p:nvPr/>
        </p:nvSpPr>
        <p:spPr>
          <a:xfrm>
            <a:off x="1390650" y="6343650"/>
            <a:ext cx="5488234" cy="483851"/>
          </a:xfrm>
          <a:prstGeom prst="rect">
            <a:avLst/>
          </a:prstGeom>
          <a:noFill/>
          <a:ln/>
        </p:spPr>
        <p:txBody>
          <a:bodyPr wrap="square" lIns="25400" tIns="25400" rIns="25400" bIns="25400" rtlCol="0" anchor="t">
            <a:normAutofit/>
          </a:bodyPr>
          <a:lstStyle/>
          <a:p>
            <a:pPr algn="l" indent="0" marL="0">
              <a:lnSpc>
                <a:spcPct val="100364"/>
              </a:lnSpc>
              <a:buNone/>
            </a:pPr>
            <a:r>
              <a:rPr lang="en-US" sz="3053" spc="-61" kern="0" dirty="0">
                <a:solidFill>
                  <a:srgbClr val="F1EDE5"/>
                </a:solidFill>
                <a:latin typeface="Arial" pitchFamily="34" charset="0"/>
                <a:ea typeface="Arial" pitchFamily="34" charset="-122"/>
                <a:cs typeface="Arial" pitchFamily="34" charset="-120"/>
              </a:rPr>
              <a:t>back so far.</a:t>
            </a:r>
            <a:endParaRPr lang="en-US" sz="3053" dirty="0"/>
          </a:p>
        </p:txBody>
      </p:sp>
      <p:sp>
        <p:nvSpPr>
          <p:cNvPr id="87" name="Text 85"/>
          <p:cNvSpPr/>
          <p:nvPr/>
        </p:nvSpPr>
        <p:spPr>
          <a:xfrm>
            <a:off x="1390650" y="6912727"/>
            <a:ext cx="5488234"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F1EDE5">
                    <a:alpha val="50000"/>
                  </a:srgbClr>
                </a:solidFill>
                <a:latin typeface="Courier New" pitchFamily="34" charset="0"/>
                <a:ea typeface="Courier New" pitchFamily="34" charset="-122"/>
                <a:cs typeface="Courier New" pitchFamily="34" charset="-120"/>
              </a:rPr>
              <a:t>1 · 4 · </a:t>
            </a:r>
            <a:pPr algn="l" indent="0" marL="0">
              <a:buNone/>
            </a:pPr>
            <a:r>
              <a:rPr lang="en-US" sz="1665" spc="100" kern="0" dirty="0">
                <a:solidFill>
                  <a:srgbClr val="F1EDE5"/>
                </a:solidFill>
                <a:latin typeface="Courier New" pitchFamily="34" charset="0"/>
                <a:ea typeface="Courier New" pitchFamily="34" charset="-122"/>
                <a:cs typeface="Courier New" pitchFamily="34" charset="-120"/>
              </a:rPr>
              <a:t>9 </a:t>
            </a:r>
            <a:pPr algn="l" indent="0" marL="0">
              <a:buNone/>
            </a:pPr>
            <a:r>
              <a:rPr lang="en-US" sz="1665" spc="100" kern="0" dirty="0">
                <a:solidFill>
                  <a:srgbClr val="F1EDE5">
                    <a:alpha val="50000"/>
                  </a:srgbClr>
                </a:solidFill>
                <a:latin typeface="Courier New" pitchFamily="34" charset="0"/>
                <a:ea typeface="Courier New" pitchFamily="34" charset="-122"/>
                <a:cs typeface="Courier New" pitchFamily="34" charset="-120"/>
              </a:rPr>
              <a:t>· 14 · 21</a:t>
            </a:r>
            <a:endParaRPr lang="en-US" sz="1665" dirty="0"/>
          </a:p>
        </p:txBody>
      </p:sp>
      <p:sp>
        <p:nvSpPr>
          <p:cNvPr id="88" name="Text 86"/>
          <p:cNvSpPr/>
          <p:nvPr/>
        </p:nvSpPr>
        <p:spPr>
          <a:xfrm>
            <a:off x="1390650" y="7399491"/>
            <a:ext cx="5488234" cy="291405"/>
          </a:xfrm>
          <a:prstGeom prst="rect">
            <a:avLst/>
          </a:prstGeom>
          <a:noFill/>
          <a:ln/>
        </p:spPr>
        <p:txBody>
          <a:bodyPr wrap="square" lIns="25400" tIns="25400" rIns="25400" bIns="25400" rtlCol="0" anchor="t">
            <a:normAutofit/>
          </a:bodyPr>
          <a:lstStyle/>
          <a:p>
            <a:pPr algn="l" indent="0" marL="0">
              <a:buNone/>
            </a:pPr>
            <a:r>
              <a:rPr lang="en-US" sz="1526" spc="92" kern="0" dirty="0">
                <a:solidFill>
                  <a:srgbClr val="F1EDE5">
                    <a:alpha val="50000"/>
                  </a:srgbClr>
                </a:solidFill>
                <a:latin typeface="Courier New" pitchFamily="34" charset="0"/>
                <a:ea typeface="Courier New" pitchFamily="34" charset="-122"/>
                <a:cs typeface="Courier New" pitchFamily="34" charset="-120"/>
              </a:rPr>
              <a:t>FROM TEXT · 6 FROM NEARBY SCREEN · 3</a:t>
            </a:r>
            <a:endParaRPr lang="en-US" sz="1526" dirty="0"/>
          </a:p>
        </p:txBody>
      </p:sp>
      <p:sp>
        <p:nvSpPr>
          <p:cNvPr id="89" name="Text 87"/>
          <p:cNvSpPr/>
          <p:nvPr/>
        </p:nvSpPr>
        <p:spPr>
          <a:xfrm>
            <a:off x="14430375" y="4933950"/>
            <a:ext cx="425126" cy="379511"/>
          </a:xfrm>
          <a:prstGeom prst="rect">
            <a:avLst/>
          </a:prstGeom>
          <a:noFill/>
          <a:ln/>
        </p:spPr>
        <p:txBody>
          <a:bodyPr wrap="square" lIns="25400" tIns="25400" rIns="25400" bIns="25400" rtlCol="0" anchor="t">
            <a:normAutofit/>
          </a:bodyPr>
          <a:lstStyle/>
          <a:p>
            <a:pPr algn="l" indent="0" marL="0">
              <a:buNone/>
            </a:pPr>
            <a:r>
              <a:rPr lang="en-US" sz="2081" spc="125" kern="0" dirty="0">
                <a:solidFill>
                  <a:srgbClr val="5FD6BB"/>
                </a:solidFill>
                <a:latin typeface="Courier New" pitchFamily="34" charset="0"/>
                <a:ea typeface="Courier New" pitchFamily="34" charset="-122"/>
                <a:cs typeface="Courier New" pitchFamily="34" charset="-120"/>
              </a:rPr>
              <a:t>+1</a:t>
            </a:r>
            <a:endParaRPr lang="en-US" sz="2081" dirty="0"/>
          </a:p>
        </p:txBody>
      </p:sp>
      <p:sp>
        <p:nvSpPr>
          <p:cNvPr id="90" name="Text 88"/>
          <p:cNvSpPr/>
          <p:nvPr/>
        </p:nvSpPr>
        <p:spPr>
          <a:xfrm>
            <a:off x="685788" y="9765543"/>
            <a:ext cx="3042704"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alpha val="55000"/>
                  </a:srgbClr>
                </a:solidFill>
                <a:latin typeface="Courier New" pitchFamily="34" charset="0"/>
                <a:ea typeface="Courier New" pitchFamily="34" charset="-122"/>
                <a:cs typeface="Courier New" pitchFamily="34" charset="-120"/>
              </a:rPr>
              <a:t>SCENE 14 · 0:56–1:02</a:t>
            </a:r>
            <a:endParaRPr lang="en-US" sz="1650" dirty="0"/>
          </a:p>
        </p:txBody>
      </p:sp>
      <p:sp>
        <p:nvSpPr>
          <p:cNvPr id="91" name="Text 89"/>
          <p:cNvSpPr/>
          <p:nvPr/>
        </p:nvSpPr>
        <p:spPr>
          <a:xfrm>
            <a:off x="8175873" y="9765543"/>
            <a:ext cx="2129879"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solidFill>
                <a:latin typeface="Courier New" pitchFamily="34" charset="0"/>
                <a:ea typeface="Courier New" pitchFamily="34" charset="-122"/>
                <a:cs typeface="Courier New" pitchFamily="34" charset="-120"/>
              </a:rPr>
              <a:t>RETURN · BUILD</a:t>
            </a:r>
            <a:endParaRPr lang="en-US" sz="1650" dirty="0"/>
          </a:p>
        </p:txBody>
      </p:sp>
      <p:sp>
        <p:nvSpPr>
          <p:cNvPr id="92" name="Text 90"/>
          <p:cNvSpPr/>
          <p:nvPr/>
        </p:nvSpPr>
        <p:spPr>
          <a:xfrm>
            <a:off x="14836118" y="9765543"/>
            <a:ext cx="3042704"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alpha val="55000"/>
                  </a:srgbClr>
                </a:solidFill>
                <a:latin typeface="Courier New" pitchFamily="34" charset="0"/>
                <a:ea typeface="Courier New" pitchFamily="34" charset="-122"/>
                <a:cs typeface="Courier New" pitchFamily="34" charset="-120"/>
              </a:rPr>
              <a:t>DIRECTION 2 · YELLOW</a:t>
            </a:r>
            <a:endParaRPr lang="en-US" sz="16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1013"/>
        </a:solidFill>
      </p:bgPr>
    </p:bg>
    <p:spTree>
      <p:nvGrpSpPr>
        <p:cNvPr id="1" name=""/>
        <p:cNvGrpSpPr/>
        <p:nvPr/>
      </p:nvGrpSpPr>
      <p:grpSpPr>
        <a:xfrm>
          <a:off x="0" y="0"/>
          <a:ext cx="0" cy="0"/>
          <a:chOff x="0" y="0"/>
          <a:chExt cx="0" cy="0"/>
        </a:xfrm>
      </p:grpSpPr>
      <p:sp>
        <p:nvSpPr>
          <p:cNvPr id="2" name="Shape 0"/>
          <p:cNvSpPr/>
          <p:nvPr/>
        </p:nvSpPr>
        <p:spPr>
          <a:xfrm>
            <a:off x="685800" y="0"/>
            <a:ext cx="16916401" cy="9515475"/>
          </a:xfrm>
          <a:prstGeom prst="rect">
            <a:avLst/>
          </a:prstGeom>
          <a:solidFill>
            <a:srgbClr val="FAF8F4"/>
          </a:solidFill>
          <a:ln/>
        </p:spPr>
      </p:sp>
      <p:sp>
        <p:nvSpPr>
          <p:cNvPr id="3" name="Text 1"/>
          <p:cNvSpPr/>
          <p:nvPr/>
        </p:nvSpPr>
        <p:spPr>
          <a:xfrm>
            <a:off x="1390650" y="528637"/>
            <a:ext cx="4451993"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17201F">
                    <a:alpha val="50000"/>
                  </a:srgbClr>
                </a:solidFill>
                <a:latin typeface="Courier New" pitchFamily="34" charset="0"/>
                <a:ea typeface="Courier New" pitchFamily="34" charset="-122"/>
                <a:cs typeface="Courier New" pitchFamily="34" charset="-120"/>
              </a:rPr>
              <a:t>JOE'S FUEL &amp; GO · 118 MAIN ST</a:t>
            </a:r>
            <a:endParaRPr lang="en-US" sz="1665" dirty="0"/>
          </a:p>
        </p:txBody>
      </p:sp>
      <p:sp>
        <p:nvSpPr>
          <p:cNvPr id="4" name="Text 2"/>
          <p:cNvSpPr/>
          <p:nvPr/>
        </p:nvSpPr>
        <p:spPr>
          <a:xfrm>
            <a:off x="13408320" y="528637"/>
            <a:ext cx="3837933"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17201F">
                    <a:alpha val="50000"/>
                  </a:srgbClr>
                </a:solidFill>
                <a:latin typeface="Courier New" pitchFamily="34" charset="0"/>
                <a:ea typeface="Courier New" pitchFamily="34" charset="-122"/>
                <a:cs typeface="Courier New" pitchFamily="34" charset="-120"/>
              </a:rPr>
              <a:t>THIS FRIDAY · 07:00–10:00</a:t>
            </a:r>
            <a:endParaRPr lang="en-US" sz="1665" dirty="0"/>
          </a:p>
        </p:txBody>
      </p:sp>
      <p:sp>
        <p:nvSpPr>
          <p:cNvPr id="5" name="Shape 3"/>
          <p:cNvSpPr/>
          <p:nvPr/>
        </p:nvSpPr>
        <p:spPr>
          <a:xfrm>
            <a:off x="1390650" y="1092495"/>
            <a:ext cx="15506700" cy="17610"/>
          </a:xfrm>
          <a:prstGeom prst="rect">
            <a:avLst/>
          </a:prstGeom>
          <a:solidFill>
            <a:srgbClr val="17201F">
              <a:alpha val="14000"/>
            </a:srgbClr>
          </a:solidFill>
          <a:ln/>
        </p:spPr>
      </p:sp>
      <p:sp>
        <p:nvSpPr>
          <p:cNvPr id="6" name="Text 4"/>
          <p:cNvSpPr/>
          <p:nvPr/>
        </p:nvSpPr>
        <p:spPr>
          <a:xfrm>
            <a:off x="1073445" y="2978003"/>
            <a:ext cx="7915572" cy="5958828"/>
          </a:xfrm>
          <a:prstGeom prst="rect">
            <a:avLst/>
          </a:prstGeom>
          <a:noFill/>
          <a:ln/>
        </p:spPr>
        <p:txBody>
          <a:bodyPr wrap="square" lIns="25400" tIns="25400" rIns="25400" bIns="25400" rtlCol="0" anchor="t">
            <a:normAutofit/>
          </a:bodyPr>
          <a:lstStyle/>
          <a:p>
            <a:pPr algn="l" indent="0" marL="0">
              <a:lnSpc>
                <a:spcPct val="101365"/>
              </a:lnSpc>
              <a:buNone/>
            </a:pPr>
            <a:r>
              <a:rPr lang="en-US" sz="40000" spc="-2000" kern="0" dirty="0">
                <a:solidFill>
                  <a:srgbClr val="17201F"/>
                </a:solidFill>
                <a:latin typeface="Arial" pitchFamily="34" charset="0"/>
                <a:ea typeface="Arial" pitchFamily="34" charset="-122"/>
                <a:cs typeface="Arial" pitchFamily="34" charset="-120"/>
              </a:rPr>
              <a:t>21</a:t>
            </a:r>
            <a:endParaRPr lang="en-US" sz="40000" dirty="0"/>
          </a:p>
        </p:txBody>
      </p:sp>
      <p:sp>
        <p:nvSpPr>
          <p:cNvPr id="7" name="Text 5"/>
          <p:cNvSpPr/>
          <p:nvPr/>
        </p:nvSpPr>
        <p:spPr>
          <a:xfrm>
            <a:off x="10553700" y="6264090"/>
            <a:ext cx="6127658" cy="714729"/>
          </a:xfrm>
          <a:prstGeom prst="rect">
            <a:avLst/>
          </a:prstGeom>
          <a:noFill/>
          <a:ln/>
        </p:spPr>
        <p:txBody>
          <a:bodyPr wrap="square" lIns="25400" tIns="25400" rIns="25400" bIns="25400" rtlCol="0" anchor="t">
            <a:normAutofit/>
          </a:bodyPr>
          <a:lstStyle/>
          <a:p>
            <a:pPr algn="l" indent="0" marL="0">
              <a:lnSpc>
                <a:spcPct val="104136"/>
              </a:lnSpc>
              <a:buNone/>
            </a:pPr>
            <a:r>
              <a:rPr lang="en-US" sz="4440" spc="-89" kern="0" dirty="0">
                <a:solidFill>
                  <a:srgbClr val="17201F"/>
                </a:solidFill>
                <a:latin typeface="Arial" pitchFamily="34" charset="0"/>
                <a:ea typeface="Arial" pitchFamily="34" charset="-122"/>
                <a:cs typeface="Arial" pitchFamily="34" charset="-120"/>
              </a:rPr>
              <a:t>customers came back.</a:t>
            </a:r>
            <a:endParaRPr lang="en-US" sz="4440" dirty="0"/>
          </a:p>
        </p:txBody>
      </p:sp>
      <p:sp>
        <p:nvSpPr>
          <p:cNvPr id="8" name="Shape 6"/>
          <p:cNvSpPr/>
          <p:nvPr/>
        </p:nvSpPr>
        <p:spPr>
          <a:xfrm>
            <a:off x="10553700" y="7169761"/>
            <a:ext cx="493360" cy="35219"/>
          </a:xfrm>
          <a:prstGeom prst="rect">
            <a:avLst/>
          </a:prstGeom>
          <a:solidFill>
            <a:srgbClr val="5FD6BB"/>
          </a:solidFill>
          <a:ln/>
        </p:spPr>
      </p:sp>
      <p:sp>
        <p:nvSpPr>
          <p:cNvPr id="9" name="Text 7"/>
          <p:cNvSpPr/>
          <p:nvPr/>
        </p:nvSpPr>
        <p:spPr>
          <a:xfrm>
            <a:off x="10553700" y="7434022"/>
            <a:ext cx="6127658" cy="381691"/>
          </a:xfrm>
          <a:prstGeom prst="rect">
            <a:avLst/>
          </a:prstGeom>
          <a:noFill/>
          <a:ln/>
        </p:spPr>
        <p:txBody>
          <a:bodyPr wrap="square" lIns="25400" tIns="25400" rIns="25400" bIns="25400" rtlCol="0" anchor="t">
            <a:normAutofit/>
          </a:bodyPr>
          <a:lstStyle/>
          <a:p>
            <a:pPr algn="l" indent="0" marL="0">
              <a:lnSpc>
                <a:spcPct val="114146"/>
              </a:lnSpc>
              <a:buNone/>
            </a:pPr>
            <a:r>
              <a:rPr lang="en-US" sz="2081" dirty="0">
                <a:solidFill>
                  <a:srgbClr val="17201F">
                    <a:alpha val="70000"/>
                  </a:srgbClr>
                </a:solidFill>
                <a:latin typeface="Arial" pitchFamily="34" charset="0"/>
                <a:ea typeface="Arial" pitchFamily="34" charset="-122"/>
                <a:cs typeface="Arial" pitchFamily="34" charset="-120"/>
              </a:rPr>
              <a:t>7 of them had never been to Joe's.</a:t>
            </a:r>
            <a:endParaRPr lang="en-US" sz="2081" dirty="0"/>
          </a:p>
        </p:txBody>
      </p:sp>
      <p:sp>
        <p:nvSpPr>
          <p:cNvPr id="10" name="Text 8"/>
          <p:cNvSpPr/>
          <p:nvPr/>
        </p:nvSpPr>
        <p:spPr>
          <a:xfrm>
            <a:off x="10553700" y="8006655"/>
            <a:ext cx="6127658"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17201F">
                    <a:alpha val="50000"/>
                  </a:srgbClr>
                </a:solidFill>
                <a:latin typeface="Courier New" pitchFamily="34" charset="0"/>
                <a:ea typeface="Courier New" pitchFamily="34" charset="-122"/>
                <a:cs typeface="Courier New" pitchFamily="34" charset="-120"/>
              </a:rPr>
              <a:t>ILLUSTRATIVE · EXAMPLE BUSINESS</a:t>
            </a:r>
            <a:endParaRPr lang="en-US" sz="1665" dirty="0"/>
          </a:p>
        </p:txBody>
      </p:sp>
      <p:sp>
        <p:nvSpPr>
          <p:cNvPr id="11" name="Text 9"/>
          <p:cNvSpPr/>
          <p:nvPr/>
        </p:nvSpPr>
        <p:spPr>
          <a:xfrm>
            <a:off x="685788" y="9765543"/>
            <a:ext cx="3042704"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alpha val="55000"/>
                  </a:srgbClr>
                </a:solidFill>
                <a:latin typeface="Courier New" pitchFamily="34" charset="0"/>
                <a:ea typeface="Courier New" pitchFamily="34" charset="-122"/>
                <a:cs typeface="Courier New" pitchFamily="34" charset="-120"/>
              </a:rPr>
              <a:t>SCENE 15 · 1:02–1:07</a:t>
            </a:r>
            <a:endParaRPr lang="en-US" sz="1650" dirty="0"/>
          </a:p>
        </p:txBody>
      </p:sp>
      <p:sp>
        <p:nvSpPr>
          <p:cNvPr id="12" name="Text 10"/>
          <p:cNvSpPr/>
          <p:nvPr/>
        </p:nvSpPr>
        <p:spPr>
          <a:xfrm>
            <a:off x="8867366" y="9765543"/>
            <a:ext cx="767755"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solidFill>
                <a:latin typeface="Courier New" pitchFamily="34" charset="0"/>
                <a:ea typeface="Courier New" pitchFamily="34" charset="-122"/>
                <a:cs typeface="Courier New" pitchFamily="34" charset="-120"/>
              </a:rPr>
              <a:t>PROOF</a:t>
            </a:r>
            <a:endParaRPr lang="en-US" sz="1650" dirty="0"/>
          </a:p>
        </p:txBody>
      </p:sp>
      <p:sp>
        <p:nvSpPr>
          <p:cNvPr id="13" name="Text 11"/>
          <p:cNvSpPr/>
          <p:nvPr/>
        </p:nvSpPr>
        <p:spPr>
          <a:xfrm>
            <a:off x="14974403" y="9765543"/>
            <a:ext cx="2890589"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alpha val="55000"/>
                  </a:srgbClr>
                </a:solidFill>
                <a:latin typeface="Courier New" pitchFamily="34" charset="0"/>
                <a:ea typeface="Courier New" pitchFamily="34" charset="-122"/>
                <a:cs typeface="Courier New" pitchFamily="34" charset="-120"/>
              </a:rPr>
              <a:t>DIRECTION 1 · GREEN</a:t>
            </a:r>
            <a:endParaRPr lang="en-US" sz="16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1013"/>
        </a:solidFill>
      </p:bgPr>
    </p:bg>
    <p:spTree>
      <p:nvGrpSpPr>
        <p:cNvPr id="1" name=""/>
        <p:cNvGrpSpPr/>
        <p:nvPr/>
      </p:nvGrpSpPr>
      <p:grpSpPr>
        <a:xfrm>
          <a:off x="0" y="0"/>
          <a:ext cx="0" cy="0"/>
          <a:chOff x="0" y="0"/>
          <a:chExt cx="0" cy="0"/>
        </a:xfrm>
      </p:grpSpPr>
      <p:sp>
        <p:nvSpPr>
          <p:cNvPr id="2" name="Shape 0"/>
          <p:cNvSpPr/>
          <p:nvPr/>
        </p:nvSpPr>
        <p:spPr>
          <a:xfrm>
            <a:off x="685800" y="0"/>
            <a:ext cx="16916401" cy="9515475"/>
          </a:xfrm>
          <a:prstGeom prst="rect">
            <a:avLst/>
          </a:prstGeom>
          <a:solidFill>
            <a:srgbClr val="FAF8F4"/>
          </a:solidFill>
          <a:ln/>
        </p:spPr>
      </p:sp>
      <p:sp>
        <p:nvSpPr>
          <p:cNvPr id="3" name="Text 1"/>
          <p:cNvSpPr/>
          <p:nvPr/>
        </p:nvSpPr>
        <p:spPr>
          <a:xfrm>
            <a:off x="1390650" y="528637"/>
            <a:ext cx="4451993"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17201F">
                    <a:alpha val="50000"/>
                  </a:srgbClr>
                </a:solidFill>
                <a:latin typeface="Courier New" pitchFamily="34" charset="0"/>
                <a:ea typeface="Courier New" pitchFamily="34" charset="-122"/>
                <a:cs typeface="Courier New" pitchFamily="34" charset="-120"/>
              </a:rPr>
              <a:t>JOE'S FUEL &amp; GO · 118 MAIN ST</a:t>
            </a:r>
            <a:endParaRPr lang="en-US" sz="1665" dirty="0"/>
          </a:p>
        </p:txBody>
      </p:sp>
      <p:sp>
        <p:nvSpPr>
          <p:cNvPr id="4" name="Text 2"/>
          <p:cNvSpPr/>
          <p:nvPr/>
        </p:nvSpPr>
        <p:spPr>
          <a:xfrm>
            <a:off x="14106115" y="528637"/>
            <a:ext cx="3070359"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17201F">
                    <a:alpha val="50000"/>
                  </a:srgbClr>
                </a:solidFill>
                <a:latin typeface="Courier New" pitchFamily="34" charset="0"/>
                <a:ea typeface="Courier New" pitchFamily="34" charset="-122"/>
                <a:cs typeface="Courier New" pitchFamily="34" charset="-120"/>
              </a:rPr>
              <a:t>THIS WEEK · MESSAGES</a:t>
            </a:r>
            <a:endParaRPr lang="en-US" sz="1665" dirty="0"/>
          </a:p>
        </p:txBody>
      </p:sp>
      <p:sp>
        <p:nvSpPr>
          <p:cNvPr id="5" name="Shape 3"/>
          <p:cNvSpPr/>
          <p:nvPr/>
        </p:nvSpPr>
        <p:spPr>
          <a:xfrm>
            <a:off x="1390650" y="1092495"/>
            <a:ext cx="15506700" cy="17610"/>
          </a:xfrm>
          <a:prstGeom prst="rect">
            <a:avLst/>
          </a:prstGeom>
          <a:solidFill>
            <a:srgbClr val="17201F">
              <a:alpha val="14000"/>
            </a:srgbClr>
          </a:solidFill>
          <a:ln/>
        </p:spPr>
      </p:sp>
      <p:sp>
        <p:nvSpPr>
          <p:cNvPr id="6" name="Shape 4"/>
          <p:cNvSpPr/>
          <p:nvPr/>
        </p:nvSpPr>
        <p:spPr>
          <a:xfrm>
            <a:off x="1390650" y="2643188"/>
            <a:ext cx="7224713" cy="14684"/>
          </a:xfrm>
          <a:prstGeom prst="rect">
            <a:avLst/>
          </a:prstGeom>
          <a:solidFill>
            <a:srgbClr val="17201F">
              <a:alpha val="14000"/>
            </a:srgbClr>
          </a:solidFill>
          <a:ln/>
        </p:spPr>
      </p:sp>
      <p:sp>
        <p:nvSpPr>
          <p:cNvPr id="7" name="Text 5"/>
          <p:cNvSpPr/>
          <p:nvPr/>
        </p:nvSpPr>
        <p:spPr>
          <a:xfrm>
            <a:off x="1390650" y="3010297"/>
            <a:ext cx="7947184" cy="3072431"/>
          </a:xfrm>
          <a:prstGeom prst="rect">
            <a:avLst/>
          </a:prstGeom>
          <a:noFill/>
          <a:ln/>
        </p:spPr>
        <p:txBody>
          <a:bodyPr wrap="square" lIns="25400" tIns="25400" rIns="25400" bIns="25400" rtlCol="0" anchor="t">
            <a:normAutofit/>
          </a:bodyPr>
          <a:lstStyle/>
          <a:p>
            <a:pPr algn="l" indent="0" marL="0">
              <a:lnSpc>
                <a:spcPct val="71255"/>
              </a:lnSpc>
              <a:buNone/>
            </a:pPr>
            <a:r>
              <a:rPr lang="en-US" sz="29138" spc="-1748" kern="0" dirty="0">
                <a:solidFill>
                  <a:srgbClr val="17201F"/>
                </a:solidFill>
                <a:latin typeface="Arial" pitchFamily="34" charset="0"/>
                <a:ea typeface="Arial" pitchFamily="34" charset="-122"/>
                <a:cs typeface="Arial" pitchFamily="34" charset="-120"/>
              </a:rPr>
              <a:t>38</a:t>
            </a:r>
            <a:endParaRPr lang="en-US" sz="29138" dirty="0"/>
          </a:p>
        </p:txBody>
      </p:sp>
      <p:sp>
        <p:nvSpPr>
          <p:cNvPr id="8" name="Text 6"/>
          <p:cNvSpPr/>
          <p:nvPr/>
        </p:nvSpPr>
        <p:spPr>
          <a:xfrm>
            <a:off x="1390650" y="6220841"/>
            <a:ext cx="7947184" cy="503239"/>
          </a:xfrm>
          <a:prstGeom prst="rect">
            <a:avLst/>
          </a:prstGeom>
          <a:noFill/>
          <a:ln/>
        </p:spPr>
        <p:txBody>
          <a:bodyPr wrap="square" lIns="25400" tIns="25400" rIns="25400" bIns="25400" rtlCol="0" anchor="t">
            <a:normAutofit/>
          </a:bodyPr>
          <a:lstStyle/>
          <a:p>
            <a:pPr algn="l" indent="0" marL="0">
              <a:lnSpc>
                <a:spcPct val="104727"/>
              </a:lnSpc>
              <a:buNone/>
            </a:pPr>
            <a:r>
              <a:rPr lang="en-US" sz="3053" spc="-61" kern="0" dirty="0">
                <a:solidFill>
                  <a:srgbClr val="17201F"/>
                </a:solidFill>
                <a:latin typeface="Arial" pitchFamily="34" charset="0"/>
                <a:ea typeface="Arial" pitchFamily="34" charset="-122"/>
                <a:cs typeface="Arial" pitchFamily="34" charset="-120"/>
              </a:rPr>
              <a:t>customer questions answered.</a:t>
            </a:r>
            <a:endParaRPr lang="en-US" sz="3053" dirty="0"/>
          </a:p>
        </p:txBody>
      </p:sp>
      <p:sp>
        <p:nvSpPr>
          <p:cNvPr id="9" name="Shape 7"/>
          <p:cNvSpPr/>
          <p:nvPr/>
        </p:nvSpPr>
        <p:spPr>
          <a:xfrm>
            <a:off x="9672638" y="2643188"/>
            <a:ext cx="7224712" cy="14684"/>
          </a:xfrm>
          <a:prstGeom prst="rect">
            <a:avLst/>
          </a:prstGeom>
          <a:solidFill>
            <a:srgbClr val="5FD6BB"/>
          </a:solidFill>
          <a:ln/>
        </p:spPr>
      </p:sp>
      <p:sp>
        <p:nvSpPr>
          <p:cNvPr id="10" name="Text 8"/>
          <p:cNvSpPr/>
          <p:nvPr/>
        </p:nvSpPr>
        <p:spPr>
          <a:xfrm>
            <a:off x="9672638" y="3010297"/>
            <a:ext cx="7947183" cy="3072431"/>
          </a:xfrm>
          <a:prstGeom prst="rect">
            <a:avLst/>
          </a:prstGeom>
          <a:noFill/>
          <a:ln/>
        </p:spPr>
        <p:txBody>
          <a:bodyPr wrap="square" lIns="25400" tIns="25400" rIns="25400" bIns="25400" rtlCol="0" anchor="t">
            <a:normAutofit/>
          </a:bodyPr>
          <a:lstStyle/>
          <a:p>
            <a:pPr algn="l" indent="0" marL="0">
              <a:lnSpc>
                <a:spcPct val="71255"/>
              </a:lnSpc>
              <a:buNone/>
            </a:pPr>
            <a:r>
              <a:rPr lang="en-US" sz="29138" spc="-1748" kern="0" dirty="0">
                <a:solidFill>
                  <a:srgbClr val="17201F"/>
                </a:solidFill>
                <a:latin typeface="Arial" pitchFamily="34" charset="0"/>
                <a:ea typeface="Arial" pitchFamily="34" charset="-122"/>
                <a:cs typeface="Arial" pitchFamily="34" charset="-120"/>
              </a:rPr>
              <a:t>2</a:t>
            </a:r>
            <a:endParaRPr lang="en-US" sz="29138" dirty="0"/>
          </a:p>
        </p:txBody>
      </p:sp>
      <p:sp>
        <p:nvSpPr>
          <p:cNvPr id="11" name="Text 9"/>
          <p:cNvSpPr/>
          <p:nvPr/>
        </p:nvSpPr>
        <p:spPr>
          <a:xfrm>
            <a:off x="9672638" y="6220841"/>
            <a:ext cx="7947183" cy="503239"/>
          </a:xfrm>
          <a:prstGeom prst="rect">
            <a:avLst/>
          </a:prstGeom>
          <a:noFill/>
          <a:ln/>
        </p:spPr>
        <p:txBody>
          <a:bodyPr wrap="square" lIns="25400" tIns="25400" rIns="25400" bIns="25400" rtlCol="0" anchor="t">
            <a:normAutofit/>
          </a:bodyPr>
          <a:lstStyle/>
          <a:p>
            <a:pPr algn="l" indent="0" marL="0">
              <a:lnSpc>
                <a:spcPct val="104727"/>
              </a:lnSpc>
              <a:buNone/>
            </a:pPr>
            <a:r>
              <a:rPr lang="en-US" sz="3053" spc="-61" kern="0" dirty="0">
                <a:solidFill>
                  <a:srgbClr val="17201F"/>
                </a:solidFill>
                <a:latin typeface="Arial" pitchFamily="34" charset="0"/>
                <a:ea typeface="Arial" pitchFamily="34" charset="-122"/>
                <a:cs typeface="Arial" pitchFamily="34" charset="-120"/>
              </a:rPr>
              <a:t>needed you.</a:t>
            </a:r>
            <a:endParaRPr lang="en-US" sz="3053" dirty="0"/>
          </a:p>
        </p:txBody>
      </p:sp>
      <p:sp>
        <p:nvSpPr>
          <p:cNvPr id="12" name="Text 10"/>
          <p:cNvSpPr/>
          <p:nvPr/>
        </p:nvSpPr>
        <p:spPr>
          <a:xfrm>
            <a:off x="1390650" y="8570570"/>
            <a:ext cx="9364971"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17201F">
                    <a:alpha val="50000"/>
                  </a:srgbClr>
                </a:solidFill>
                <a:latin typeface="Courier New" pitchFamily="34" charset="0"/>
                <a:ea typeface="Courier New" pitchFamily="34" charset="-122"/>
                <a:cs typeface="Courier New" pitchFamily="34" charset="-120"/>
              </a:rPr>
              <a:t>"CAN I SWAP THE COFFEE FOR A RED BULL?" → JOE: NO · 4 SECONDS</a:t>
            </a:r>
            <a:endParaRPr lang="en-US" sz="1665" dirty="0"/>
          </a:p>
        </p:txBody>
      </p:sp>
      <p:sp>
        <p:nvSpPr>
          <p:cNvPr id="13" name="Text 11"/>
          <p:cNvSpPr/>
          <p:nvPr/>
        </p:nvSpPr>
        <p:spPr>
          <a:xfrm>
            <a:off x="685788" y="9765543"/>
            <a:ext cx="3042704"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alpha val="55000"/>
                  </a:srgbClr>
                </a:solidFill>
                <a:latin typeface="Courier New" pitchFamily="34" charset="0"/>
                <a:ea typeface="Courier New" pitchFamily="34" charset="-122"/>
                <a:cs typeface="Courier New" pitchFamily="34" charset="-120"/>
              </a:rPr>
              <a:t>SCENE 16 · 1:07–1:10</a:t>
            </a:r>
            <a:endParaRPr lang="en-US" sz="1650" dirty="0"/>
          </a:p>
        </p:txBody>
      </p:sp>
      <p:sp>
        <p:nvSpPr>
          <p:cNvPr id="14" name="Text 12"/>
          <p:cNvSpPr/>
          <p:nvPr/>
        </p:nvSpPr>
        <p:spPr>
          <a:xfrm>
            <a:off x="8245016" y="9765543"/>
            <a:ext cx="2129879"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solidFill>
                <a:latin typeface="Courier New" pitchFamily="34" charset="0"/>
                <a:ea typeface="Courier New" pitchFamily="34" charset="-122"/>
                <a:cs typeface="Courier New" pitchFamily="34" charset="-120"/>
              </a:rPr>
              <a:t>BURDEN REMOVED</a:t>
            </a:r>
            <a:endParaRPr lang="en-US" sz="1650" dirty="0"/>
          </a:p>
        </p:txBody>
      </p:sp>
      <p:sp>
        <p:nvSpPr>
          <p:cNvPr id="15" name="Text 13"/>
          <p:cNvSpPr/>
          <p:nvPr/>
        </p:nvSpPr>
        <p:spPr>
          <a:xfrm>
            <a:off x="14974403" y="9765543"/>
            <a:ext cx="2890589"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alpha val="55000"/>
                  </a:srgbClr>
                </a:solidFill>
                <a:latin typeface="Courier New" pitchFamily="34" charset="0"/>
                <a:ea typeface="Courier New" pitchFamily="34" charset="-122"/>
                <a:cs typeface="Courier New" pitchFamily="34" charset="-120"/>
              </a:rPr>
              <a:t>DIRECTION 1 · GREEN</a:t>
            </a:r>
            <a:endParaRPr lang="en-US" sz="16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C1013"/>
        </a:solidFill>
      </p:bgPr>
    </p:bg>
    <p:spTree>
      <p:nvGrpSpPr>
        <p:cNvPr id="1" name=""/>
        <p:cNvGrpSpPr/>
        <p:nvPr/>
      </p:nvGrpSpPr>
      <p:grpSpPr>
        <a:xfrm>
          <a:off x="0" y="0"/>
          <a:ext cx="0" cy="0"/>
          <a:chOff x="0" y="0"/>
          <a:chExt cx="0" cy="0"/>
        </a:xfrm>
      </p:grpSpPr>
      <p:sp>
        <p:nvSpPr>
          <p:cNvPr id="2" name="Shape 0"/>
          <p:cNvSpPr/>
          <p:nvPr/>
        </p:nvSpPr>
        <p:spPr>
          <a:xfrm>
            <a:off x="685800" y="0"/>
            <a:ext cx="16916401" cy="9515475"/>
          </a:xfrm>
          <a:prstGeom prst="rect">
            <a:avLst/>
          </a:prstGeom>
          <a:solidFill>
            <a:srgbClr val="FAF8F4"/>
          </a:solidFill>
          <a:ln/>
        </p:spPr>
      </p:sp>
      <p:sp>
        <p:nvSpPr>
          <p:cNvPr id="3" name="Shape 1"/>
          <p:cNvSpPr/>
          <p:nvPr/>
        </p:nvSpPr>
        <p:spPr>
          <a:xfrm>
            <a:off x="1390650" y="3524250"/>
            <a:ext cx="493361" cy="35220"/>
          </a:xfrm>
          <a:prstGeom prst="rect">
            <a:avLst/>
          </a:prstGeom>
          <a:solidFill>
            <a:srgbClr val="5FD6BB"/>
          </a:solidFill>
          <a:ln/>
        </p:spPr>
      </p:sp>
      <p:sp>
        <p:nvSpPr>
          <p:cNvPr id="4" name="Text 2"/>
          <p:cNvSpPr/>
          <p:nvPr/>
        </p:nvSpPr>
        <p:spPr>
          <a:xfrm>
            <a:off x="1390650" y="4052830"/>
            <a:ext cx="15427406" cy="2734059"/>
          </a:xfrm>
          <a:prstGeom prst="rect">
            <a:avLst/>
          </a:prstGeom>
          <a:noFill/>
          <a:ln/>
        </p:spPr>
        <p:txBody>
          <a:bodyPr wrap="square" lIns="25400" tIns="25400" rIns="25400" bIns="25400" rtlCol="0" anchor="t">
            <a:normAutofit/>
          </a:bodyPr>
          <a:lstStyle/>
          <a:p>
            <a:pPr algn="l" indent="0" marL="0">
              <a:lnSpc>
                <a:spcPct val="88696"/>
              </a:lnSpc>
              <a:buNone/>
            </a:pPr>
            <a:r>
              <a:rPr lang="en-US" sz="10406" spc="-468" kern="0" dirty="0">
                <a:solidFill>
                  <a:srgbClr val="17201F"/>
                </a:solidFill>
                <a:latin typeface="Arial" pitchFamily="34" charset="0"/>
                <a:ea typeface="Arial" pitchFamily="34" charset="-122"/>
                <a:cs typeface="Arial" pitchFamily="34" charset="-120"/>
              </a:rPr>
              <a:t>Tell Uptick what you want more of.</a:t>
            </a:r>
            <a:endParaRPr lang="en-US" sz="10406" dirty="0"/>
          </a:p>
        </p:txBody>
      </p:sp>
      <p:sp>
        <p:nvSpPr>
          <p:cNvPr id="5" name="Text 3"/>
          <p:cNvSpPr/>
          <p:nvPr/>
        </p:nvSpPr>
        <p:spPr>
          <a:xfrm>
            <a:off x="1390650" y="7242150"/>
            <a:ext cx="2512204" cy="390525"/>
          </a:xfrm>
          <a:prstGeom prst="rect">
            <a:avLst/>
          </a:prstGeom>
          <a:noFill/>
          <a:ln/>
        </p:spPr>
        <p:txBody>
          <a:bodyPr wrap="square" lIns="25400" tIns="25400" rIns="25400" bIns="25400" rtlCol="0" anchor="t">
            <a:normAutofit/>
          </a:bodyPr>
          <a:lstStyle/>
          <a:p>
            <a:pPr algn="l" indent="0" marL="0">
              <a:lnSpc>
                <a:spcPct val="87273"/>
              </a:lnSpc>
              <a:buNone/>
            </a:pPr>
            <a:r>
              <a:rPr lang="en-US" sz="2775" spc="-56" kern="0" dirty="0">
                <a:solidFill>
                  <a:srgbClr val="17201F"/>
                </a:solidFill>
                <a:latin typeface="Arial" pitchFamily="34" charset="0"/>
                <a:ea typeface="Arial" pitchFamily="34" charset="-122"/>
                <a:cs typeface="Arial" pitchFamily="34" charset="-120"/>
              </a:rPr>
              <a:t>Uptick Growth</a:t>
            </a:r>
            <a:endParaRPr lang="en-US" sz="2775" dirty="0"/>
          </a:p>
        </p:txBody>
      </p:sp>
      <p:sp>
        <p:nvSpPr>
          <p:cNvPr id="6" name="Text 4"/>
          <p:cNvSpPr/>
          <p:nvPr/>
        </p:nvSpPr>
        <p:spPr>
          <a:xfrm>
            <a:off x="4026897" y="7330257"/>
            <a:ext cx="3377389" cy="313432"/>
          </a:xfrm>
          <a:prstGeom prst="rect">
            <a:avLst/>
          </a:prstGeom>
          <a:noFill/>
          <a:ln/>
        </p:spPr>
        <p:txBody>
          <a:bodyPr wrap="square" lIns="25400" tIns="25400" rIns="25400" bIns="25400" rtlCol="0" anchor="t">
            <a:normAutofit/>
          </a:bodyPr>
          <a:lstStyle/>
          <a:p>
            <a:pPr algn="l" indent="0" marL="0">
              <a:buNone/>
            </a:pPr>
            <a:r>
              <a:rPr lang="en-US" sz="1665" spc="100" kern="0" dirty="0">
                <a:solidFill>
                  <a:srgbClr val="17201F">
                    <a:alpha val="50000"/>
                  </a:srgbClr>
                </a:solidFill>
                <a:latin typeface="Courier New" pitchFamily="34" charset="0"/>
                <a:ea typeface="Courier New" pitchFamily="34" charset="-122"/>
                <a:cs typeface="Courier New" pitchFamily="34" charset="-120"/>
              </a:rPr>
              <a:t>UPTICKLOCAL.COM/GROWTH</a:t>
            </a:r>
            <a:endParaRPr lang="en-US" sz="1665" dirty="0"/>
          </a:p>
        </p:txBody>
      </p:sp>
      <p:sp>
        <p:nvSpPr>
          <p:cNvPr id="7" name="Text 5"/>
          <p:cNvSpPr/>
          <p:nvPr/>
        </p:nvSpPr>
        <p:spPr>
          <a:xfrm>
            <a:off x="1390650" y="8592596"/>
            <a:ext cx="10554285" cy="291405"/>
          </a:xfrm>
          <a:prstGeom prst="rect">
            <a:avLst/>
          </a:prstGeom>
          <a:noFill/>
          <a:ln/>
        </p:spPr>
        <p:txBody>
          <a:bodyPr wrap="square" lIns="25400" tIns="25400" rIns="25400" bIns="25400" rtlCol="0" anchor="t">
            <a:normAutofit/>
          </a:bodyPr>
          <a:lstStyle/>
          <a:p>
            <a:pPr algn="l" indent="0" marL="0">
              <a:buNone/>
            </a:pPr>
            <a:r>
              <a:rPr lang="en-US" sz="1526" spc="92" kern="0" dirty="0">
                <a:solidFill>
                  <a:srgbClr val="17201F">
                    <a:alpha val="45000"/>
                  </a:srgbClr>
                </a:solidFill>
                <a:latin typeface="Courier New" pitchFamily="34" charset="0"/>
                <a:ea typeface="Courier New" pitchFamily="34" charset="-122"/>
                <a:cs typeface="Courier New" pitchFamily="34" charset="-120"/>
              </a:rPr>
              <a:t>JOE'S FUEL &amp; GO IS A PRODUCT DEMONSTRATION. RESULTS SHOWN ARE ILLUSTRATIVE.</a:t>
            </a:r>
            <a:endParaRPr lang="en-US" sz="1526" dirty="0"/>
          </a:p>
        </p:txBody>
      </p:sp>
      <p:sp>
        <p:nvSpPr>
          <p:cNvPr id="8" name="Text 6"/>
          <p:cNvSpPr/>
          <p:nvPr/>
        </p:nvSpPr>
        <p:spPr>
          <a:xfrm>
            <a:off x="685788" y="9765543"/>
            <a:ext cx="3042704"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alpha val="55000"/>
                  </a:srgbClr>
                </a:solidFill>
                <a:latin typeface="Courier New" pitchFamily="34" charset="0"/>
                <a:ea typeface="Courier New" pitchFamily="34" charset="-122"/>
                <a:cs typeface="Courier New" pitchFamily="34" charset="-120"/>
              </a:rPr>
              <a:t>SCENE 17 · 1:10–1:14</a:t>
            </a:r>
            <a:endParaRPr lang="en-US" sz="1650" dirty="0"/>
          </a:p>
        </p:txBody>
      </p:sp>
      <p:sp>
        <p:nvSpPr>
          <p:cNvPr id="9" name="Text 7"/>
          <p:cNvSpPr/>
          <p:nvPr/>
        </p:nvSpPr>
        <p:spPr>
          <a:xfrm>
            <a:off x="8729079" y="9765543"/>
            <a:ext cx="1044327"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solidFill>
                <a:latin typeface="Courier New" pitchFamily="34" charset="0"/>
                <a:ea typeface="Courier New" pitchFamily="34" charset="-122"/>
                <a:cs typeface="Courier New" pitchFamily="34" charset="-120"/>
              </a:rPr>
              <a:t>RESOLVE</a:t>
            </a:r>
            <a:endParaRPr lang="en-US" sz="1650" dirty="0"/>
          </a:p>
        </p:txBody>
      </p:sp>
      <p:sp>
        <p:nvSpPr>
          <p:cNvPr id="10" name="Text 8"/>
          <p:cNvSpPr/>
          <p:nvPr/>
        </p:nvSpPr>
        <p:spPr>
          <a:xfrm>
            <a:off x="14974403" y="9765543"/>
            <a:ext cx="2890589"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1EDE5">
                    <a:alpha val="55000"/>
                  </a:srgbClr>
                </a:solidFill>
                <a:latin typeface="Courier New" pitchFamily="34" charset="0"/>
                <a:ea typeface="Courier New" pitchFamily="34" charset="-122"/>
                <a:cs typeface="Courier New" pitchFamily="34" charset="-120"/>
              </a:rPr>
              <a:t>DIRECTION 1 · GREEN</a:t>
            </a:r>
            <a:endParaRPr lang="en-US" sz="16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762000" y="571500"/>
            <a:ext cx="5476813" cy="335756"/>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17201F">
                    <a:alpha val="50000"/>
                  </a:srgbClr>
                </a:solidFill>
                <a:latin typeface="Courier New" pitchFamily="34" charset="0"/>
                <a:ea typeface="Courier New" pitchFamily="34" charset="-122"/>
                <a:cs typeface="Courier New" pitchFamily="34" charset="-120"/>
              </a:rPr>
              <a:t>TRANSITION MAP · ACT I · THINKING</a:t>
            </a:r>
            <a:endParaRPr lang="en-US" sz="1800" dirty="0"/>
          </a:p>
        </p:txBody>
      </p:sp>
      <p:sp>
        <p:nvSpPr>
          <p:cNvPr id="3" name="Text 1"/>
          <p:cNvSpPr/>
          <p:nvPr/>
        </p:nvSpPr>
        <p:spPr>
          <a:xfrm>
            <a:off x="10282969" y="571500"/>
            <a:ext cx="7967334" cy="335756"/>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17201F">
                    <a:alpha val="50000"/>
                  </a:srgbClr>
                </a:solidFill>
                <a:latin typeface="Courier New" pitchFamily="34" charset="0"/>
                <a:ea typeface="Courier New" pitchFamily="34" charset="-122"/>
                <a:cs typeface="Courier New" pitchFamily="34" charset="-120"/>
              </a:rPr>
              <a:t>PERSISTS → TRANSFORMS → CAMERA · SOUND · MEANING</a:t>
            </a:r>
            <a:endParaRPr lang="en-US" sz="1800" dirty="0"/>
          </a:p>
        </p:txBody>
      </p:sp>
      <p:sp>
        <p:nvSpPr>
          <p:cNvPr id="4" name="Shape 2"/>
          <p:cNvSpPr/>
          <p:nvPr/>
        </p:nvSpPr>
        <p:spPr>
          <a:xfrm>
            <a:off x="762000" y="1181075"/>
            <a:ext cx="16764000" cy="19038"/>
          </a:xfrm>
          <a:prstGeom prst="rect">
            <a:avLst/>
          </a:prstGeom>
          <a:solidFill>
            <a:srgbClr val="17201F">
              <a:alpha val="14000"/>
            </a:srgbClr>
          </a:solidFill>
          <a:ln/>
        </p:spPr>
      </p:sp>
      <p:sp>
        <p:nvSpPr>
          <p:cNvPr id="5" name="Shape 3"/>
          <p:cNvSpPr/>
          <p:nvPr/>
        </p:nvSpPr>
        <p:spPr>
          <a:xfrm>
            <a:off x="762000" y="1524000"/>
            <a:ext cx="2857500" cy="9525"/>
          </a:xfrm>
          <a:prstGeom prst="rect">
            <a:avLst/>
          </a:prstGeom>
          <a:solidFill>
            <a:srgbClr val="17201F">
              <a:alpha val="14000"/>
            </a:srgbClr>
          </a:solidFill>
          <a:ln/>
        </p:spPr>
      </p:sp>
      <p:sp>
        <p:nvSpPr>
          <p:cNvPr id="6" name="Text 4"/>
          <p:cNvSpPr/>
          <p:nvPr/>
        </p:nvSpPr>
        <p:spPr>
          <a:xfrm>
            <a:off x="762000" y="1760537"/>
            <a:ext cx="2943225" cy="678011"/>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0F6F5C"/>
                </a:solidFill>
                <a:latin typeface="Courier New" pitchFamily="34" charset="0"/>
                <a:ea typeface="Courier New" pitchFamily="34" charset="-122"/>
                <a:cs typeface="Courier New" pitchFamily="34" charset="-120"/>
              </a:rPr>
              <a:t>01 → 02 · GAP → BLOCK</a:t>
            </a:r>
            <a:endParaRPr lang="en-US" sz="1650" dirty="0"/>
          </a:p>
        </p:txBody>
      </p:sp>
      <p:sp>
        <p:nvSpPr>
          <p:cNvPr id="7" name="Shape 5"/>
          <p:cNvSpPr/>
          <p:nvPr/>
        </p:nvSpPr>
        <p:spPr>
          <a:xfrm>
            <a:off x="4095750" y="1524000"/>
            <a:ext cx="13430250" cy="9525"/>
          </a:xfrm>
          <a:prstGeom prst="rect">
            <a:avLst/>
          </a:prstGeom>
          <a:solidFill>
            <a:srgbClr val="17201F">
              <a:alpha val="14000"/>
            </a:srgbClr>
          </a:solidFill>
          <a:ln/>
        </p:spPr>
      </p:sp>
      <p:sp>
        <p:nvSpPr>
          <p:cNvPr id="8" name="Text 6"/>
          <p:cNvSpPr/>
          <p:nvPr/>
        </p:nvSpPr>
        <p:spPr>
          <a:xfrm>
            <a:off x="4095750" y="1760537"/>
            <a:ext cx="13833158" cy="678011"/>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17201F">
                    <a:alpha val="80000"/>
                  </a:srgbClr>
                </a:solidFill>
                <a:latin typeface="Arial" pitchFamily="34" charset="0"/>
                <a:ea typeface="Arial" pitchFamily="34" charset="-122"/>
                <a:cs typeface="Arial" pitchFamily="34" charset="-120"/>
              </a:rPr>
              <a:t>The 3 shrinks and lands on Joe's lot. The page tilts to 58° and darkens; the hairline becomes the kerb. Plane bezier, 900ms. Room tone widens to a street. A number is a place at a time.</a:t>
            </a:r>
            <a:endParaRPr lang="en-US" sz="1800" dirty="0"/>
          </a:p>
        </p:txBody>
      </p:sp>
      <p:sp>
        <p:nvSpPr>
          <p:cNvPr id="9" name="Shape 7"/>
          <p:cNvSpPr/>
          <p:nvPr/>
        </p:nvSpPr>
        <p:spPr>
          <a:xfrm>
            <a:off x="762000" y="2629049"/>
            <a:ext cx="2857500" cy="9525"/>
          </a:xfrm>
          <a:prstGeom prst="rect">
            <a:avLst/>
          </a:prstGeom>
          <a:solidFill>
            <a:srgbClr val="17201F">
              <a:alpha val="14000"/>
            </a:srgbClr>
          </a:solidFill>
          <a:ln/>
        </p:spPr>
      </p:sp>
      <p:sp>
        <p:nvSpPr>
          <p:cNvPr id="10" name="Text 8"/>
          <p:cNvSpPr/>
          <p:nvPr/>
        </p:nvSpPr>
        <p:spPr>
          <a:xfrm>
            <a:off x="762000" y="2865586"/>
            <a:ext cx="2943225" cy="678011"/>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0F6F5C"/>
                </a:solidFill>
                <a:latin typeface="Courier New" pitchFamily="34" charset="0"/>
                <a:ea typeface="Courier New" pitchFamily="34" charset="-122"/>
                <a:cs typeface="Courier New" pitchFamily="34" charset="-120"/>
              </a:rPr>
              <a:t>02 → 03 · BLOCK → INTENT</a:t>
            </a:r>
            <a:endParaRPr lang="en-US" sz="1650" dirty="0"/>
          </a:p>
        </p:txBody>
      </p:sp>
      <p:sp>
        <p:nvSpPr>
          <p:cNvPr id="11" name="Shape 9"/>
          <p:cNvSpPr/>
          <p:nvPr/>
        </p:nvSpPr>
        <p:spPr>
          <a:xfrm>
            <a:off x="4095750" y="2629049"/>
            <a:ext cx="13430250" cy="9525"/>
          </a:xfrm>
          <a:prstGeom prst="rect">
            <a:avLst/>
          </a:prstGeom>
          <a:solidFill>
            <a:srgbClr val="17201F">
              <a:alpha val="14000"/>
            </a:srgbClr>
          </a:solidFill>
          <a:ln/>
        </p:spPr>
      </p:sp>
      <p:sp>
        <p:nvSpPr>
          <p:cNvPr id="12" name="Text 10"/>
          <p:cNvSpPr/>
          <p:nvPr/>
        </p:nvSpPr>
        <p:spPr>
          <a:xfrm>
            <a:off x="4095750" y="2865586"/>
            <a:ext cx="13833158" cy="678011"/>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17201F">
                    <a:alpha val="80000"/>
                  </a:srgbClr>
                </a:solidFill>
                <a:latin typeface="Arial" pitchFamily="34" charset="0"/>
                <a:ea typeface="Arial" pitchFamily="34" charset="-122"/>
                <a:cs typeface="Arial" pitchFamily="34" charset="-120"/>
              </a:rPr>
              <a:t>Joe's label slides to the header and stays. Plane returns flat and bright; frontages dissolve to one hairline; a caret lands. Street cuts to interior quiet. The owner turns from the street to speak.</a:t>
            </a:r>
            <a:endParaRPr lang="en-US" sz="1800" dirty="0"/>
          </a:p>
        </p:txBody>
      </p:sp>
      <p:sp>
        <p:nvSpPr>
          <p:cNvPr id="13" name="Shape 11"/>
          <p:cNvSpPr/>
          <p:nvPr/>
        </p:nvSpPr>
        <p:spPr>
          <a:xfrm>
            <a:off x="762000" y="3734098"/>
            <a:ext cx="2857500" cy="9525"/>
          </a:xfrm>
          <a:prstGeom prst="rect">
            <a:avLst/>
          </a:prstGeom>
          <a:solidFill>
            <a:srgbClr val="17201F">
              <a:alpha val="14000"/>
            </a:srgbClr>
          </a:solidFill>
          <a:ln/>
        </p:spPr>
      </p:sp>
      <p:sp>
        <p:nvSpPr>
          <p:cNvPr id="14" name="Text 12"/>
          <p:cNvSpPr/>
          <p:nvPr/>
        </p:nvSpPr>
        <p:spPr>
          <a:xfrm>
            <a:off x="762000" y="3970635"/>
            <a:ext cx="2943225" cy="678011"/>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0F6F5C"/>
                </a:solidFill>
                <a:latin typeface="Courier New" pitchFamily="34" charset="0"/>
                <a:ea typeface="Courier New" pitchFamily="34" charset="-122"/>
                <a:cs typeface="Courier New" pitchFamily="34" charset="-120"/>
              </a:rPr>
              <a:t>03 → 04 · INTENT → INTERPRET</a:t>
            </a:r>
            <a:endParaRPr lang="en-US" sz="1650" dirty="0"/>
          </a:p>
        </p:txBody>
      </p:sp>
      <p:sp>
        <p:nvSpPr>
          <p:cNvPr id="15" name="Shape 13"/>
          <p:cNvSpPr/>
          <p:nvPr/>
        </p:nvSpPr>
        <p:spPr>
          <a:xfrm>
            <a:off x="4095750" y="3734098"/>
            <a:ext cx="13430250" cy="9525"/>
          </a:xfrm>
          <a:prstGeom prst="rect">
            <a:avLst/>
          </a:prstGeom>
          <a:solidFill>
            <a:srgbClr val="17201F">
              <a:alpha val="14000"/>
            </a:srgbClr>
          </a:solidFill>
          <a:ln/>
        </p:spPr>
      </p:sp>
      <p:sp>
        <p:nvSpPr>
          <p:cNvPr id="16" name="Text 14"/>
          <p:cNvSpPr/>
          <p:nvPr/>
        </p:nvSpPr>
        <p:spPr>
          <a:xfrm>
            <a:off x="4095750" y="3970635"/>
            <a:ext cx="13833158" cy="678011"/>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17201F">
                    <a:alpha val="80000"/>
                  </a:srgbClr>
                </a:solidFill>
                <a:latin typeface="Arial" pitchFamily="34" charset="0"/>
                <a:ea typeface="Arial" pitchFamily="34" charset="-122"/>
                <a:cs typeface="Arial" pitchFamily="34" charset="-120"/>
              </a:rPr>
              <a:t>Every glyph persists. Words drop into rows on a spring (120/20); a week grid, a day ruler and visit ticks draw beside them. Three ascending ticks. Reading becomes a shape: recurrence, interval, absence.</a:t>
            </a:r>
            <a:endParaRPr lang="en-US" sz="1800" dirty="0"/>
          </a:p>
        </p:txBody>
      </p:sp>
      <p:sp>
        <p:nvSpPr>
          <p:cNvPr id="17" name="Shape 15"/>
          <p:cNvSpPr/>
          <p:nvPr/>
        </p:nvSpPr>
        <p:spPr>
          <a:xfrm>
            <a:off x="762000" y="4839146"/>
            <a:ext cx="2857500" cy="9525"/>
          </a:xfrm>
          <a:prstGeom prst="rect">
            <a:avLst/>
          </a:prstGeom>
          <a:solidFill>
            <a:srgbClr val="17201F">
              <a:alpha val="14000"/>
            </a:srgbClr>
          </a:solidFill>
          <a:ln/>
        </p:spPr>
      </p:sp>
      <p:sp>
        <p:nvSpPr>
          <p:cNvPr id="18" name="Text 16"/>
          <p:cNvSpPr/>
          <p:nvPr/>
        </p:nvSpPr>
        <p:spPr>
          <a:xfrm>
            <a:off x="762000" y="5075684"/>
            <a:ext cx="2943225" cy="997992"/>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0F6F5C"/>
                </a:solidFill>
                <a:latin typeface="Courier New" pitchFamily="34" charset="0"/>
                <a:ea typeface="Courier New" pitchFamily="34" charset="-122"/>
                <a:cs typeface="Courier New" pitchFamily="34" charset="-120"/>
              </a:rPr>
              <a:t>04 → 05 → 06 · INTERPRET → PLAN</a:t>
            </a:r>
            <a:endParaRPr lang="en-US" sz="1650" dirty="0"/>
          </a:p>
        </p:txBody>
      </p:sp>
      <p:sp>
        <p:nvSpPr>
          <p:cNvPr id="19" name="Shape 17"/>
          <p:cNvSpPr/>
          <p:nvPr/>
        </p:nvSpPr>
        <p:spPr>
          <a:xfrm>
            <a:off x="4095750" y="4839146"/>
            <a:ext cx="13430250" cy="9525"/>
          </a:xfrm>
          <a:prstGeom prst="rect">
            <a:avLst/>
          </a:prstGeom>
          <a:solidFill>
            <a:srgbClr val="17201F">
              <a:alpha val="14000"/>
            </a:srgbClr>
          </a:solidFill>
          <a:ln/>
        </p:spPr>
      </p:sp>
      <p:sp>
        <p:nvSpPr>
          <p:cNvPr id="20" name="Text 18"/>
          <p:cNvSpPr/>
          <p:nvPr/>
        </p:nvSpPr>
        <p:spPr>
          <a:xfrm>
            <a:off x="4095750" y="5075684"/>
            <a:ext cx="13833158" cy="997992"/>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17201F">
                    <a:alpha val="80000"/>
                  </a:srgbClr>
                </a:solidFill>
                <a:latin typeface="Arial" pitchFamily="34" charset="0"/>
                <a:ea typeface="Arial" pitchFamily="34" charset="-122"/>
                <a:cs typeface="Arial" pitchFamily="34" charset="-120"/>
              </a:rPr>
              <a:t>The bracket shrinks into the header. Facts rise from the rows they explain; numbers count on their baselines; then every fact travels into a plan row (spring 90/22, 60ms stagger). $0.62 × 30 resolves in place. Nothing new appears; the plan is the context reorganised.</a:t>
            </a:r>
            <a:endParaRPr lang="en-US" sz="1800" dirty="0"/>
          </a:p>
        </p:txBody>
      </p:sp>
      <p:sp>
        <p:nvSpPr>
          <p:cNvPr id="21" name="Shape 19"/>
          <p:cNvSpPr/>
          <p:nvPr/>
        </p:nvSpPr>
        <p:spPr>
          <a:xfrm>
            <a:off x="762000" y="6264176"/>
            <a:ext cx="2857500" cy="9525"/>
          </a:xfrm>
          <a:prstGeom prst="rect">
            <a:avLst/>
          </a:prstGeom>
          <a:solidFill>
            <a:srgbClr val="17201F">
              <a:alpha val="14000"/>
            </a:srgbClr>
          </a:solidFill>
          <a:ln/>
        </p:spPr>
      </p:sp>
      <p:sp>
        <p:nvSpPr>
          <p:cNvPr id="22" name="Text 20"/>
          <p:cNvSpPr/>
          <p:nvPr/>
        </p:nvSpPr>
        <p:spPr>
          <a:xfrm>
            <a:off x="762000" y="6500713"/>
            <a:ext cx="2943225" cy="997992"/>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0F6F5C"/>
                </a:solidFill>
                <a:latin typeface="Courier New" pitchFamily="34" charset="0"/>
                <a:ea typeface="Courier New" pitchFamily="34" charset="-122"/>
                <a:cs typeface="Courier New" pitchFamily="34" charset="-120"/>
              </a:rPr>
              <a:t>06 → 07 → 08 · APPROVE → SIGNAL</a:t>
            </a:r>
            <a:endParaRPr lang="en-US" sz="1650" dirty="0"/>
          </a:p>
        </p:txBody>
      </p:sp>
      <p:sp>
        <p:nvSpPr>
          <p:cNvPr id="23" name="Shape 21"/>
          <p:cNvSpPr/>
          <p:nvPr/>
        </p:nvSpPr>
        <p:spPr>
          <a:xfrm>
            <a:off x="4095750" y="6264176"/>
            <a:ext cx="13430250" cy="9525"/>
          </a:xfrm>
          <a:prstGeom prst="rect">
            <a:avLst/>
          </a:prstGeom>
          <a:solidFill>
            <a:srgbClr val="17201F">
              <a:alpha val="14000"/>
            </a:srgbClr>
          </a:solidFill>
          <a:ln/>
        </p:spPr>
      </p:sp>
      <p:sp>
        <p:nvSpPr>
          <p:cNvPr id="24" name="Text 22"/>
          <p:cNvSpPr/>
          <p:nvPr/>
        </p:nvSpPr>
        <p:spPr>
          <a:xfrm>
            <a:off x="4095750" y="6500713"/>
            <a:ext cx="13833158" cy="997992"/>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17201F">
                    <a:alpha val="80000"/>
                  </a:srgbClr>
                </a:solidFill>
                <a:latin typeface="Arial" pitchFamily="34" charset="0"/>
                <a:ea typeface="Arial" pitchFamily="34" charset="-122"/>
                <a:cs typeface="Arial" pitchFamily="34" charset="-120"/>
              </a:rPr>
              <a:t>Press (4%, 120ms), mint fill, 3.4× push onto the block as rows collapse into it. The block thins to a 4px line, the page tilts to the dusk block, the line drops into Joe's lot and branches only where a channel exists. Click, then the held mint pad. A decision enters the world.</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762000" y="571500"/>
            <a:ext cx="5310851" cy="335756"/>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17201F">
                    <a:alpha val="50000"/>
                  </a:srgbClr>
                </a:solidFill>
                <a:latin typeface="Courier New" pitchFamily="34" charset="0"/>
                <a:ea typeface="Courier New" pitchFamily="34" charset="-122"/>
                <a:cs typeface="Courier New" pitchFamily="34" charset="-120"/>
              </a:rPr>
              <a:t>TRANSITION MAP · ACT II · ACTING</a:t>
            </a:r>
            <a:endParaRPr lang="en-US" sz="1800" dirty="0"/>
          </a:p>
        </p:txBody>
      </p:sp>
      <p:sp>
        <p:nvSpPr>
          <p:cNvPr id="3" name="Shape 1"/>
          <p:cNvSpPr/>
          <p:nvPr/>
        </p:nvSpPr>
        <p:spPr>
          <a:xfrm>
            <a:off x="762000" y="1181075"/>
            <a:ext cx="16764000" cy="19038"/>
          </a:xfrm>
          <a:prstGeom prst="rect">
            <a:avLst/>
          </a:prstGeom>
          <a:solidFill>
            <a:srgbClr val="17201F">
              <a:alpha val="14000"/>
            </a:srgbClr>
          </a:solidFill>
          <a:ln/>
        </p:spPr>
      </p:sp>
      <p:sp>
        <p:nvSpPr>
          <p:cNvPr id="4" name="Shape 2"/>
          <p:cNvSpPr/>
          <p:nvPr/>
        </p:nvSpPr>
        <p:spPr>
          <a:xfrm>
            <a:off x="762000" y="1524000"/>
            <a:ext cx="2857500" cy="9525"/>
          </a:xfrm>
          <a:prstGeom prst="rect">
            <a:avLst/>
          </a:prstGeom>
          <a:solidFill>
            <a:srgbClr val="17201F">
              <a:alpha val="14000"/>
            </a:srgbClr>
          </a:solidFill>
          <a:ln/>
        </p:spPr>
      </p:sp>
      <p:sp>
        <p:nvSpPr>
          <p:cNvPr id="5" name="Text 3"/>
          <p:cNvSpPr/>
          <p:nvPr/>
        </p:nvSpPr>
        <p:spPr>
          <a:xfrm>
            <a:off x="762000" y="1760537"/>
            <a:ext cx="2943225" cy="678011"/>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0F6F5C"/>
                </a:solidFill>
                <a:latin typeface="Courier New" pitchFamily="34" charset="0"/>
                <a:ea typeface="Courier New" pitchFamily="34" charset="-122"/>
                <a:cs typeface="Courier New" pitchFamily="34" charset="-120"/>
              </a:rPr>
              <a:t>08 → 09A · SIGNAL → TEXT</a:t>
            </a:r>
            <a:endParaRPr lang="en-US" sz="1650" dirty="0"/>
          </a:p>
        </p:txBody>
      </p:sp>
      <p:sp>
        <p:nvSpPr>
          <p:cNvPr id="6" name="Shape 4"/>
          <p:cNvSpPr/>
          <p:nvPr/>
        </p:nvSpPr>
        <p:spPr>
          <a:xfrm>
            <a:off x="4095750" y="1524000"/>
            <a:ext cx="13430250" cy="9525"/>
          </a:xfrm>
          <a:prstGeom prst="rect">
            <a:avLst/>
          </a:prstGeom>
          <a:solidFill>
            <a:srgbClr val="17201F">
              <a:alpha val="14000"/>
            </a:srgbClr>
          </a:solidFill>
          <a:ln/>
        </p:spPr>
      </p:sp>
      <p:sp>
        <p:nvSpPr>
          <p:cNvPr id="7" name="Text 5"/>
          <p:cNvSpPr/>
          <p:nvPr/>
        </p:nvSpPr>
        <p:spPr>
          <a:xfrm>
            <a:off x="4095750" y="1760537"/>
            <a:ext cx="13833158" cy="678011"/>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17201F">
                    <a:alpha val="80000"/>
                  </a:srgbClr>
                </a:solidFill>
                <a:latin typeface="Arial" pitchFamily="34" charset="0"/>
                <a:ea typeface="Arial" pitchFamily="34" charset="-122"/>
                <a:cs typeface="Arial" pitchFamily="34" charset="-120"/>
              </a:rPr>
              <a:t>Camera pushes 1.6× on one amber point at home. The point springs upright into a bubble (140/18); the block blurs to 14px at 22%. Street to kitchen; one ordinary text tone. From many to one.</a:t>
            </a:r>
            <a:endParaRPr lang="en-US" sz="1800" dirty="0"/>
          </a:p>
        </p:txBody>
      </p:sp>
      <p:sp>
        <p:nvSpPr>
          <p:cNvPr id="8" name="Shape 6"/>
          <p:cNvSpPr/>
          <p:nvPr/>
        </p:nvSpPr>
        <p:spPr>
          <a:xfrm>
            <a:off x="762000" y="2629049"/>
            <a:ext cx="2857500" cy="9525"/>
          </a:xfrm>
          <a:prstGeom prst="rect">
            <a:avLst/>
          </a:prstGeom>
          <a:solidFill>
            <a:srgbClr val="17201F">
              <a:alpha val="14000"/>
            </a:srgbClr>
          </a:solidFill>
          <a:ln/>
        </p:spPr>
      </p:sp>
      <p:sp>
        <p:nvSpPr>
          <p:cNvPr id="9" name="Text 7"/>
          <p:cNvSpPr/>
          <p:nvPr/>
        </p:nvSpPr>
        <p:spPr>
          <a:xfrm>
            <a:off x="762000" y="2865586"/>
            <a:ext cx="2943225" cy="997992"/>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0F6F5C"/>
                </a:solidFill>
                <a:latin typeface="Courier New" pitchFamily="34" charset="0"/>
                <a:ea typeface="Courier New" pitchFamily="34" charset="-122"/>
                <a:cs typeface="Courier New" pitchFamily="34" charset="-120"/>
              </a:rPr>
              <a:t>09A → 09B · TEXT → SCREEN</a:t>
            </a:r>
            <a:endParaRPr lang="en-US" sz="1650" dirty="0"/>
          </a:p>
        </p:txBody>
      </p:sp>
      <p:sp>
        <p:nvSpPr>
          <p:cNvPr id="10" name="Shape 8"/>
          <p:cNvSpPr/>
          <p:nvPr/>
        </p:nvSpPr>
        <p:spPr>
          <a:xfrm>
            <a:off x="4095750" y="2629049"/>
            <a:ext cx="13430250" cy="9525"/>
          </a:xfrm>
          <a:prstGeom prst="rect">
            <a:avLst/>
          </a:prstGeom>
          <a:solidFill>
            <a:srgbClr val="17201F">
              <a:alpha val="14000"/>
            </a:srgbClr>
          </a:solidFill>
          <a:ln/>
        </p:spPr>
      </p:sp>
      <p:sp>
        <p:nvSpPr>
          <p:cNvPr id="11" name="Text 9"/>
          <p:cNvSpPr/>
          <p:nvPr/>
        </p:nvSpPr>
        <p:spPr>
          <a:xfrm>
            <a:off x="4095750" y="2865586"/>
            <a:ext cx="13833158" cy="997992"/>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17201F">
                    <a:alpha val="80000"/>
                  </a:srgbClr>
                </a:solidFill>
                <a:latin typeface="Arial" pitchFamily="34" charset="0"/>
                <a:ea typeface="Arial" pitchFamily="34" charset="-122"/>
                <a:cs typeface="Arial" pitchFamily="34" charset="-120"/>
              </a:rPr>
              <a:t>The thread slides left; the block un-blurs and the camera drops to street level: the plane rotates from 58° to 0° and the café's frontage line becomes an elevation (awning, glass, door, counter, interior light). The small mint mark in the frontage grows into the upright screen. Café interior sound. Same plan, seen from inside a neighbour.</a:t>
            </a:r>
            <a:endParaRPr lang="en-US" sz="1800" dirty="0"/>
          </a:p>
        </p:txBody>
      </p:sp>
      <p:sp>
        <p:nvSpPr>
          <p:cNvPr id="12" name="Shape 10"/>
          <p:cNvSpPr/>
          <p:nvPr/>
        </p:nvSpPr>
        <p:spPr>
          <a:xfrm>
            <a:off x="762000" y="4054078"/>
            <a:ext cx="2857500" cy="9525"/>
          </a:xfrm>
          <a:prstGeom prst="rect">
            <a:avLst/>
          </a:prstGeom>
          <a:solidFill>
            <a:srgbClr val="17201F">
              <a:alpha val="14000"/>
            </a:srgbClr>
          </a:solidFill>
          <a:ln/>
        </p:spPr>
      </p:sp>
      <p:sp>
        <p:nvSpPr>
          <p:cNvPr id="13" name="Text 11"/>
          <p:cNvSpPr/>
          <p:nvPr/>
        </p:nvSpPr>
        <p:spPr>
          <a:xfrm>
            <a:off x="762000" y="4290616"/>
            <a:ext cx="2943225" cy="997992"/>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0F6F5C"/>
                </a:solidFill>
                <a:latin typeface="Courier New" pitchFamily="34" charset="0"/>
                <a:ea typeface="Courier New" pitchFamily="34" charset="-122"/>
                <a:cs typeface="Courier New" pitchFamily="34" charset="-120"/>
              </a:rPr>
              <a:t>09B → 10 · SCREEN → RELATIONSHIP</a:t>
            </a:r>
            <a:endParaRPr lang="en-US" sz="1650" dirty="0"/>
          </a:p>
        </p:txBody>
      </p:sp>
      <p:sp>
        <p:nvSpPr>
          <p:cNvPr id="14" name="Shape 12"/>
          <p:cNvSpPr/>
          <p:nvPr/>
        </p:nvSpPr>
        <p:spPr>
          <a:xfrm>
            <a:off x="4095750" y="4054078"/>
            <a:ext cx="13430250" cy="9525"/>
          </a:xfrm>
          <a:prstGeom prst="rect">
            <a:avLst/>
          </a:prstGeom>
          <a:solidFill>
            <a:srgbClr val="17201F">
              <a:alpha val="14000"/>
            </a:srgbClr>
          </a:solidFill>
          <a:ln/>
        </p:spPr>
      </p:sp>
      <p:sp>
        <p:nvSpPr>
          <p:cNvPr id="15" name="Text 13"/>
          <p:cNvSpPr/>
          <p:nvPr/>
        </p:nvSpPr>
        <p:spPr>
          <a:xfrm>
            <a:off x="4095750" y="4290616"/>
            <a:ext cx="13833158" cy="997992"/>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17201F">
                    <a:alpha val="80000"/>
                  </a:srgbClr>
                </a:solidFill>
                <a:latin typeface="Arial" pitchFamily="34" charset="0"/>
                <a:ea typeface="Arial" pitchFamily="34" charset="-122"/>
                <a:cs typeface="Arial" pitchFamily="34" charset="-120"/>
              </a:rPr>
              <a:t>A 300ms mint scan line from person to code. The screen content lifts and collapses forward; the Open offer link from the text expands from the left; both interpolate to one Offer slab (110/20). Two trailing hairlines fade. One paper unfold; both arrivals the same note. Two ways in, one relationship.</a:t>
            </a:r>
            <a:endParaRPr lang="en-US" sz="1800" dirty="0"/>
          </a:p>
        </p:txBody>
      </p:sp>
      <p:sp>
        <p:nvSpPr>
          <p:cNvPr id="16" name="Shape 14"/>
          <p:cNvSpPr/>
          <p:nvPr/>
        </p:nvSpPr>
        <p:spPr>
          <a:xfrm>
            <a:off x="762000" y="5479107"/>
            <a:ext cx="2857500" cy="9525"/>
          </a:xfrm>
          <a:prstGeom prst="rect">
            <a:avLst/>
          </a:prstGeom>
          <a:solidFill>
            <a:srgbClr val="17201F">
              <a:alpha val="14000"/>
            </a:srgbClr>
          </a:solidFill>
          <a:ln/>
        </p:spPr>
      </p:sp>
      <p:sp>
        <p:nvSpPr>
          <p:cNvPr id="17" name="Text 15"/>
          <p:cNvSpPr/>
          <p:nvPr/>
        </p:nvSpPr>
        <p:spPr>
          <a:xfrm>
            <a:off x="762000" y="5715645"/>
            <a:ext cx="2943225" cy="997992"/>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0F6F5C"/>
                </a:solidFill>
                <a:latin typeface="Courier New" pitchFamily="34" charset="0"/>
                <a:ea typeface="Courier New" pitchFamily="34" charset="-122"/>
                <a:cs typeface="Courier New" pitchFamily="34" charset="-120"/>
              </a:rPr>
              <a:t>10 → 11 → 12 · QUESTION → PROVENANCE → ANSWER</a:t>
            </a:r>
            <a:endParaRPr lang="en-US" sz="1650" dirty="0"/>
          </a:p>
        </p:txBody>
      </p:sp>
      <p:sp>
        <p:nvSpPr>
          <p:cNvPr id="18" name="Shape 16"/>
          <p:cNvSpPr/>
          <p:nvPr/>
        </p:nvSpPr>
        <p:spPr>
          <a:xfrm>
            <a:off x="4095750" y="5479107"/>
            <a:ext cx="13430250" cy="9525"/>
          </a:xfrm>
          <a:prstGeom prst="rect">
            <a:avLst/>
          </a:prstGeom>
          <a:solidFill>
            <a:srgbClr val="17201F">
              <a:alpha val="14000"/>
            </a:srgbClr>
          </a:solidFill>
          <a:ln/>
        </p:spPr>
      </p:sp>
      <p:sp>
        <p:nvSpPr>
          <p:cNvPr id="19" name="Text 17"/>
          <p:cNvSpPr/>
          <p:nvPr/>
        </p:nvSpPr>
        <p:spPr>
          <a:xfrm>
            <a:off x="4095750" y="5715645"/>
            <a:ext cx="13833158" cy="997992"/>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17201F">
                    <a:alpha val="80000"/>
                  </a:srgbClr>
                </a:solidFill>
                <a:latin typeface="Arial" pitchFamily="34" charset="0"/>
                <a:ea typeface="Arial" pitchFamily="34" charset="-122"/>
                <a:cs typeface="Arial" pitchFamily="34" charset="-120"/>
              </a:rPr>
              <a:t>Slab shrinks into thread history. The question lands; 900ms of nothing. Then the Growth Plan rises into depth behind the thread at 35%, the FUEL row lifts to full scale, travels a mint hairline and its glyphs re-set into the answer. Provenance line 300ms later. The mint tone, then a clean tick. Uptick did not invent the answer.</a:t>
            </a:r>
            <a:endParaRPr lang="en-US" sz="1800" dirty="0"/>
          </a:p>
        </p:txBody>
      </p:sp>
      <p:sp>
        <p:nvSpPr>
          <p:cNvPr id="20" name="Shape 18"/>
          <p:cNvSpPr/>
          <p:nvPr/>
        </p:nvSpPr>
        <p:spPr>
          <a:xfrm>
            <a:off x="762000" y="6904137"/>
            <a:ext cx="2857500" cy="9525"/>
          </a:xfrm>
          <a:prstGeom prst="rect">
            <a:avLst/>
          </a:prstGeom>
          <a:solidFill>
            <a:srgbClr val="17201F">
              <a:alpha val="14000"/>
            </a:srgbClr>
          </a:solidFill>
          <a:ln/>
        </p:spPr>
      </p:sp>
      <p:sp>
        <p:nvSpPr>
          <p:cNvPr id="21" name="Text 19"/>
          <p:cNvSpPr/>
          <p:nvPr/>
        </p:nvSpPr>
        <p:spPr>
          <a:xfrm>
            <a:off x="762000" y="7140674"/>
            <a:ext cx="2943225" cy="997992"/>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0F6F5C"/>
                </a:solidFill>
                <a:latin typeface="Courier New" pitchFamily="34" charset="0"/>
                <a:ea typeface="Courier New" pitchFamily="34" charset="-122"/>
                <a:cs typeface="Courier New" pitchFamily="34" charset="-120"/>
              </a:rPr>
              <a:t>12 → 13 · ANSWER → COUNTER</a:t>
            </a:r>
            <a:endParaRPr lang="en-US" sz="1650" dirty="0"/>
          </a:p>
        </p:txBody>
      </p:sp>
      <p:sp>
        <p:nvSpPr>
          <p:cNvPr id="22" name="Shape 20"/>
          <p:cNvSpPr/>
          <p:nvPr/>
        </p:nvSpPr>
        <p:spPr>
          <a:xfrm>
            <a:off x="4095750" y="6904137"/>
            <a:ext cx="13430250" cy="9525"/>
          </a:xfrm>
          <a:prstGeom prst="rect">
            <a:avLst/>
          </a:prstGeom>
          <a:solidFill>
            <a:srgbClr val="17201F">
              <a:alpha val="14000"/>
            </a:srgbClr>
          </a:solidFill>
          <a:ln/>
        </p:spPr>
      </p:sp>
      <p:sp>
        <p:nvSpPr>
          <p:cNvPr id="23" name="Text 21"/>
          <p:cNvSpPr/>
          <p:nvPr/>
        </p:nvSpPr>
        <p:spPr>
          <a:xfrm>
            <a:off x="4095750" y="7140674"/>
            <a:ext cx="13833158" cy="997992"/>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17201F">
                    <a:alpha val="80000"/>
                  </a:srgbClr>
                </a:solidFill>
                <a:latin typeface="Arial" pitchFamily="34" charset="0"/>
                <a:ea typeface="Arial" pitchFamily="34" charset="-122"/>
                <a:cs typeface="Arial" pitchFamily="34" charset="-120"/>
              </a:rPr>
              <a:t>The slab returns as the Pass; the header clock carries the time jump (THU 6:52 PM → FRI 7:41 AM), no dissolve. Joe's own frontage fades in behind, lit for the first time. Mint sweep top→bottom, 600ms clip-path. Forecourt air, a nozzle click, the clearest note in the film.</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762000" y="571500"/>
            <a:ext cx="5642775" cy="335756"/>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17201F">
                    <a:alpha val="50000"/>
                  </a:srgbClr>
                </a:solidFill>
                <a:latin typeface="Courier New" pitchFamily="34" charset="0"/>
                <a:ea typeface="Courier New" pitchFamily="34" charset="-122"/>
                <a:cs typeface="Courier New" pitchFamily="34" charset="-120"/>
              </a:rPr>
              <a:t>TRANSITION MAP · ACT III · PROVING</a:t>
            </a:r>
            <a:endParaRPr lang="en-US" sz="1800" dirty="0"/>
          </a:p>
        </p:txBody>
      </p:sp>
      <p:sp>
        <p:nvSpPr>
          <p:cNvPr id="3" name="Shape 1"/>
          <p:cNvSpPr/>
          <p:nvPr/>
        </p:nvSpPr>
        <p:spPr>
          <a:xfrm>
            <a:off x="762000" y="1181075"/>
            <a:ext cx="16764000" cy="19038"/>
          </a:xfrm>
          <a:prstGeom prst="rect">
            <a:avLst/>
          </a:prstGeom>
          <a:solidFill>
            <a:srgbClr val="17201F">
              <a:alpha val="14000"/>
            </a:srgbClr>
          </a:solidFill>
          <a:ln/>
        </p:spPr>
      </p:sp>
      <p:sp>
        <p:nvSpPr>
          <p:cNvPr id="4" name="Shape 2"/>
          <p:cNvSpPr/>
          <p:nvPr/>
        </p:nvSpPr>
        <p:spPr>
          <a:xfrm>
            <a:off x="762000" y="1524000"/>
            <a:ext cx="2857500" cy="9525"/>
          </a:xfrm>
          <a:prstGeom prst="rect">
            <a:avLst/>
          </a:prstGeom>
          <a:solidFill>
            <a:srgbClr val="17201F">
              <a:alpha val="14000"/>
            </a:srgbClr>
          </a:solidFill>
          <a:ln/>
        </p:spPr>
      </p:sp>
      <p:sp>
        <p:nvSpPr>
          <p:cNvPr id="5" name="Text 3"/>
          <p:cNvSpPr/>
          <p:nvPr/>
        </p:nvSpPr>
        <p:spPr>
          <a:xfrm>
            <a:off x="762000" y="1760537"/>
            <a:ext cx="2943225" cy="997992"/>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0F6F5C"/>
                </a:solidFill>
                <a:latin typeface="Courier New" pitchFamily="34" charset="0"/>
                <a:ea typeface="Courier New" pitchFamily="34" charset="-122"/>
                <a:cs typeface="Courier New" pitchFamily="34" charset="-120"/>
              </a:rPr>
              <a:t>13 → 14 · REDEMPTION → RETURN</a:t>
            </a:r>
            <a:endParaRPr lang="en-US" sz="1650" dirty="0"/>
          </a:p>
        </p:txBody>
      </p:sp>
      <p:sp>
        <p:nvSpPr>
          <p:cNvPr id="6" name="Shape 4"/>
          <p:cNvSpPr/>
          <p:nvPr/>
        </p:nvSpPr>
        <p:spPr>
          <a:xfrm>
            <a:off x="4095750" y="1524000"/>
            <a:ext cx="13430250" cy="9525"/>
          </a:xfrm>
          <a:prstGeom prst="rect">
            <a:avLst/>
          </a:prstGeom>
          <a:solidFill>
            <a:srgbClr val="17201F">
              <a:alpha val="14000"/>
            </a:srgbClr>
          </a:solidFill>
          <a:ln/>
        </p:spPr>
      </p:sp>
      <p:sp>
        <p:nvSpPr>
          <p:cNvPr id="7" name="Text 5"/>
          <p:cNvSpPr/>
          <p:nvPr/>
        </p:nvSpPr>
        <p:spPr>
          <a:xfrm>
            <a:off x="4095750" y="1760537"/>
            <a:ext cx="13833158" cy="997992"/>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17201F">
                    <a:alpha val="80000"/>
                  </a:srgbClr>
                </a:solidFill>
                <a:latin typeface="Arial" pitchFamily="34" charset="0"/>
                <a:ea typeface="Arial" pitchFamily="34" charset="-122"/>
                <a:cs typeface="Arial" pitchFamily="34" charset="-120"/>
              </a:rPr>
              <a:t>The redeemed slab compresses to a mint point (ease-in, 400ms). The point drops onto the plane, passes through Joe's door opening and turns amber on the threshold. Camera pulls back 1.6× to the morning block. A soft wooden tap. Digital became physical, as one dot crossing one threshold.</a:t>
            </a:r>
            <a:endParaRPr lang="en-US" sz="1800" dirty="0"/>
          </a:p>
        </p:txBody>
      </p:sp>
      <p:sp>
        <p:nvSpPr>
          <p:cNvPr id="8" name="Shape 6"/>
          <p:cNvSpPr/>
          <p:nvPr/>
        </p:nvSpPr>
        <p:spPr>
          <a:xfrm>
            <a:off x="762000" y="2949029"/>
            <a:ext cx="2857500" cy="9525"/>
          </a:xfrm>
          <a:prstGeom prst="rect">
            <a:avLst/>
          </a:prstGeom>
          <a:solidFill>
            <a:srgbClr val="17201F">
              <a:alpha val="14000"/>
            </a:srgbClr>
          </a:solidFill>
          <a:ln/>
        </p:spPr>
      </p:sp>
      <p:sp>
        <p:nvSpPr>
          <p:cNvPr id="9" name="Text 7"/>
          <p:cNvSpPr/>
          <p:nvPr/>
        </p:nvSpPr>
        <p:spPr>
          <a:xfrm>
            <a:off x="762000" y="3185567"/>
            <a:ext cx="2943225" cy="678011"/>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0F6F5C"/>
                </a:solidFill>
                <a:latin typeface="Courier New" pitchFamily="34" charset="0"/>
                <a:ea typeface="Courier New" pitchFamily="34" charset="-122"/>
                <a:cs typeface="Courier New" pitchFamily="34" charset="-120"/>
              </a:rPr>
              <a:t>14 · BUILD</a:t>
            </a:r>
            <a:endParaRPr lang="en-US" sz="1650" dirty="0"/>
          </a:p>
        </p:txBody>
      </p:sp>
      <p:sp>
        <p:nvSpPr>
          <p:cNvPr id="10" name="Shape 8"/>
          <p:cNvSpPr/>
          <p:nvPr/>
        </p:nvSpPr>
        <p:spPr>
          <a:xfrm>
            <a:off x="4095750" y="2949029"/>
            <a:ext cx="13430250" cy="9525"/>
          </a:xfrm>
          <a:prstGeom prst="rect">
            <a:avLst/>
          </a:prstGeom>
          <a:solidFill>
            <a:srgbClr val="17201F">
              <a:alpha val="14000"/>
            </a:srgbClr>
          </a:solidFill>
          <a:ln/>
        </p:spPr>
      </p:sp>
      <p:sp>
        <p:nvSpPr>
          <p:cNvPr id="11" name="Text 9"/>
          <p:cNvSpPr/>
          <p:nvPr/>
        </p:nvSpPr>
        <p:spPr>
          <a:xfrm>
            <a:off x="4095750" y="3185567"/>
            <a:ext cx="13833158" cy="678011"/>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17201F">
                    <a:alpha val="80000"/>
                  </a:srgbClr>
                </a:solidFill>
                <a:latin typeface="Arial" pitchFamily="34" charset="0"/>
                <a:ea typeface="Arial" pitchFamily="34" charset="-122"/>
                <a:cs typeface="Arial" pitchFamily="34" charset="-120"/>
              </a:rPr>
              <a:t>People walk in from both ends of the street and from the café side; each crosses the door; +1 flashes mint. The count steps 1 → 4 → 9 → 14 → 21 at accelerating intervals (1.6s → 1.0s) in the frame-01 position. Header clock advances across the morning.</a:t>
            </a:r>
            <a:endParaRPr lang="en-US" sz="1800" dirty="0"/>
          </a:p>
        </p:txBody>
      </p:sp>
      <p:sp>
        <p:nvSpPr>
          <p:cNvPr id="12" name="Shape 10"/>
          <p:cNvSpPr/>
          <p:nvPr/>
        </p:nvSpPr>
        <p:spPr>
          <a:xfrm>
            <a:off x="762000" y="4054078"/>
            <a:ext cx="2857500" cy="9525"/>
          </a:xfrm>
          <a:prstGeom prst="rect">
            <a:avLst/>
          </a:prstGeom>
          <a:solidFill>
            <a:srgbClr val="17201F">
              <a:alpha val="14000"/>
            </a:srgbClr>
          </a:solidFill>
          <a:ln/>
        </p:spPr>
      </p:sp>
      <p:sp>
        <p:nvSpPr>
          <p:cNvPr id="13" name="Text 11"/>
          <p:cNvSpPr/>
          <p:nvPr/>
        </p:nvSpPr>
        <p:spPr>
          <a:xfrm>
            <a:off x="762000" y="4290616"/>
            <a:ext cx="2943225" cy="678011"/>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0F6F5C"/>
                </a:solidFill>
                <a:latin typeface="Courier New" pitchFamily="34" charset="0"/>
                <a:ea typeface="Courier New" pitchFamily="34" charset="-122"/>
                <a:cs typeface="Courier New" pitchFamily="34" charset="-120"/>
              </a:rPr>
              <a:t>14 → 15 · RETURNS → 21</a:t>
            </a:r>
            <a:endParaRPr lang="en-US" sz="1650" dirty="0"/>
          </a:p>
        </p:txBody>
      </p:sp>
      <p:sp>
        <p:nvSpPr>
          <p:cNvPr id="14" name="Shape 12"/>
          <p:cNvSpPr/>
          <p:nvPr/>
        </p:nvSpPr>
        <p:spPr>
          <a:xfrm>
            <a:off x="4095750" y="4054078"/>
            <a:ext cx="13430250" cy="9525"/>
          </a:xfrm>
          <a:prstGeom prst="rect">
            <a:avLst/>
          </a:prstGeom>
          <a:solidFill>
            <a:srgbClr val="17201F">
              <a:alpha val="14000"/>
            </a:srgbClr>
          </a:solidFill>
          <a:ln/>
        </p:spPr>
      </p:sp>
      <p:sp>
        <p:nvSpPr>
          <p:cNvPr id="15" name="Text 13"/>
          <p:cNvSpPr/>
          <p:nvPr/>
        </p:nvSpPr>
        <p:spPr>
          <a:xfrm>
            <a:off x="4095750" y="4290616"/>
            <a:ext cx="13833158" cy="678011"/>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17201F">
                    <a:alpha val="80000"/>
                  </a:srgbClr>
                </a:solidFill>
                <a:latin typeface="Arial" pitchFamily="34" charset="0"/>
                <a:ea typeface="Arial" pitchFamily="34" charset="-122"/>
                <a:cs typeface="Arial" pitchFamily="34" charset="-120"/>
              </a:rPr>
              <a:t>The 21 grows from 520px to 840px and moves into the opening 3's exact position while the plane tilts flat and brightens, the exact inverse of 01→02. People fade last. Music resolves to the root chord. Proof in the frame where the problem was stated.</a:t>
            </a:r>
            <a:endParaRPr lang="en-US" sz="1800" dirty="0"/>
          </a:p>
        </p:txBody>
      </p:sp>
      <p:sp>
        <p:nvSpPr>
          <p:cNvPr id="16" name="Shape 14"/>
          <p:cNvSpPr/>
          <p:nvPr/>
        </p:nvSpPr>
        <p:spPr>
          <a:xfrm>
            <a:off x="762000" y="5159127"/>
            <a:ext cx="2857500" cy="9525"/>
          </a:xfrm>
          <a:prstGeom prst="rect">
            <a:avLst/>
          </a:prstGeom>
          <a:solidFill>
            <a:srgbClr val="17201F">
              <a:alpha val="14000"/>
            </a:srgbClr>
          </a:solidFill>
          <a:ln/>
        </p:spPr>
      </p:sp>
      <p:sp>
        <p:nvSpPr>
          <p:cNvPr id="17" name="Text 15"/>
          <p:cNvSpPr/>
          <p:nvPr/>
        </p:nvSpPr>
        <p:spPr>
          <a:xfrm>
            <a:off x="762000" y="5395664"/>
            <a:ext cx="2943225" cy="997992"/>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0F6F5C"/>
                </a:solidFill>
                <a:latin typeface="Courier New" pitchFamily="34" charset="0"/>
                <a:ea typeface="Courier New" pitchFamily="34" charset="-122"/>
                <a:cs typeface="Courier New" pitchFamily="34" charset="-120"/>
              </a:rPr>
              <a:t>15 → 16 → 17 · 21 → FINALE</a:t>
            </a:r>
            <a:endParaRPr lang="en-US" sz="1650" dirty="0"/>
          </a:p>
        </p:txBody>
      </p:sp>
      <p:sp>
        <p:nvSpPr>
          <p:cNvPr id="18" name="Shape 16"/>
          <p:cNvSpPr/>
          <p:nvPr/>
        </p:nvSpPr>
        <p:spPr>
          <a:xfrm>
            <a:off x="4095750" y="5159127"/>
            <a:ext cx="13430250" cy="9525"/>
          </a:xfrm>
          <a:prstGeom prst="rect">
            <a:avLst/>
          </a:prstGeom>
          <a:solidFill>
            <a:srgbClr val="17201F">
              <a:alpha val="14000"/>
            </a:srgbClr>
          </a:solidFill>
          <a:ln/>
        </p:spPr>
      </p:sp>
      <p:sp>
        <p:nvSpPr>
          <p:cNvPr id="19" name="Text 17"/>
          <p:cNvSpPr/>
          <p:nvPr/>
        </p:nvSpPr>
        <p:spPr>
          <a:xfrm>
            <a:off x="4095750" y="5395664"/>
            <a:ext cx="13833158" cy="997992"/>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17201F">
                    <a:alpha val="80000"/>
                  </a:srgbClr>
                </a:solidFill>
                <a:latin typeface="Arial" pitchFamily="34" charset="0"/>
                <a:ea typeface="Arial" pitchFamily="34" charset="-122"/>
                <a:cs typeface="Arial" pitchFamily="34" charset="-120"/>
              </a:rPr>
              <a:t>21 exits up through a clip; 38 and 2 enter on the same baseline like a counter drum. Then everything fades except the hairline, which shortens to the 56px mint rule. The final line types with the owner's caret, speed and size class; the caret becomes a mint dot. Root note decays to room tone; cut to black.</a:t>
            </a:r>
            <a:endParaRPr lang="en-US" sz="1800" dirty="0"/>
          </a:p>
        </p:txBody>
      </p:sp>
      <p:sp>
        <p:nvSpPr>
          <p:cNvPr id="20" name="Shape 18"/>
          <p:cNvSpPr/>
          <p:nvPr/>
        </p:nvSpPr>
        <p:spPr>
          <a:xfrm>
            <a:off x="762000" y="6584156"/>
            <a:ext cx="2857500" cy="9525"/>
          </a:xfrm>
          <a:prstGeom prst="rect">
            <a:avLst/>
          </a:prstGeom>
          <a:solidFill>
            <a:srgbClr val="17201F">
              <a:alpha val="14000"/>
            </a:srgbClr>
          </a:solidFill>
          <a:ln/>
        </p:spPr>
      </p:sp>
      <p:sp>
        <p:nvSpPr>
          <p:cNvPr id="21" name="Text 19"/>
          <p:cNvSpPr/>
          <p:nvPr/>
        </p:nvSpPr>
        <p:spPr>
          <a:xfrm>
            <a:off x="762000" y="6820694"/>
            <a:ext cx="2943225" cy="678011"/>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17201F">
                    <a:alpha val="50000"/>
                  </a:srgbClr>
                </a:solidFill>
                <a:latin typeface="Courier New" pitchFamily="34" charset="0"/>
                <a:ea typeface="Courier New" pitchFamily="34" charset="-122"/>
                <a:cs typeface="Courier New" pitchFamily="34" charset="-120"/>
              </a:rPr>
              <a:t>RULES</a:t>
            </a:r>
            <a:endParaRPr lang="en-US" sz="1650" dirty="0"/>
          </a:p>
        </p:txBody>
      </p:sp>
      <p:sp>
        <p:nvSpPr>
          <p:cNvPr id="22" name="Shape 20"/>
          <p:cNvSpPr/>
          <p:nvPr/>
        </p:nvSpPr>
        <p:spPr>
          <a:xfrm>
            <a:off x="4095750" y="6584156"/>
            <a:ext cx="13430250" cy="9525"/>
          </a:xfrm>
          <a:prstGeom prst="rect">
            <a:avLst/>
          </a:prstGeom>
          <a:solidFill>
            <a:srgbClr val="17201F">
              <a:alpha val="14000"/>
            </a:srgbClr>
          </a:solidFill>
          <a:ln/>
        </p:spPr>
      </p:sp>
      <p:sp>
        <p:nvSpPr>
          <p:cNvPr id="23" name="Text 21"/>
          <p:cNvSpPr/>
          <p:nvPr/>
        </p:nvSpPr>
        <p:spPr>
          <a:xfrm>
            <a:off x="4095750" y="6820694"/>
            <a:ext cx="13833158" cy="678011"/>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17201F">
                    <a:alpha val="80000"/>
                  </a:srgbClr>
                </a:solidFill>
                <a:latin typeface="Arial" pitchFamily="34" charset="0"/>
                <a:ea typeface="Arial" pitchFamily="34" charset="-122"/>
                <a:cs typeface="Arial" pitchFamily="34" charset="-120"/>
              </a:rPr>
              <a:t>One plane bezier for every tilt, cubic-bezier(.7,0,.2,1). One hard cut (the end). Two silences (1.8s before the owner types; 900ms before the answer). Every persistent object is a product primitive.</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762000" y="571500"/>
            <a:ext cx="4481041" cy="335756"/>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17201F">
                    <a:alpha val="50000"/>
                  </a:srgbClr>
                </a:solidFill>
                <a:latin typeface="Courier New" pitchFamily="34" charset="0"/>
                <a:ea typeface="Courier New" pitchFamily="34" charset="-122"/>
                <a:cs typeface="Courier New" pitchFamily="34" charset="-120"/>
              </a:rPr>
              <a:t>THE PRODUCT BEHIND THE FILM</a:t>
            </a:r>
            <a:endParaRPr lang="en-US" sz="1800" dirty="0"/>
          </a:p>
        </p:txBody>
      </p:sp>
      <p:sp>
        <p:nvSpPr>
          <p:cNvPr id="3" name="Shape 1"/>
          <p:cNvSpPr/>
          <p:nvPr/>
        </p:nvSpPr>
        <p:spPr>
          <a:xfrm>
            <a:off x="762000" y="1181075"/>
            <a:ext cx="16764000" cy="19038"/>
          </a:xfrm>
          <a:prstGeom prst="rect">
            <a:avLst/>
          </a:prstGeom>
          <a:solidFill>
            <a:srgbClr val="17201F">
              <a:alpha val="14000"/>
            </a:srgbClr>
          </a:solidFill>
          <a:ln/>
        </p:spPr>
      </p:sp>
      <p:sp>
        <p:nvSpPr>
          <p:cNvPr id="4" name="Shape 2"/>
          <p:cNvSpPr/>
          <p:nvPr/>
        </p:nvSpPr>
        <p:spPr>
          <a:xfrm>
            <a:off x="762000" y="1619250"/>
            <a:ext cx="2476500" cy="9525"/>
          </a:xfrm>
          <a:prstGeom prst="rect">
            <a:avLst/>
          </a:prstGeom>
          <a:solidFill>
            <a:srgbClr val="17201F">
              <a:alpha val="14000"/>
            </a:srgbClr>
          </a:solidFill>
          <a:ln/>
        </p:spPr>
      </p:sp>
      <p:sp>
        <p:nvSpPr>
          <p:cNvPr id="5" name="Text 3"/>
          <p:cNvSpPr/>
          <p:nvPr/>
        </p:nvSpPr>
        <p:spPr>
          <a:xfrm>
            <a:off x="762000" y="1893887"/>
            <a:ext cx="2552700" cy="872430"/>
          </a:xfrm>
          <a:prstGeom prst="rect">
            <a:avLst/>
          </a:prstGeom>
          <a:noFill/>
          <a:ln/>
        </p:spPr>
        <p:txBody>
          <a:bodyPr wrap="square" lIns="25400" tIns="25400" rIns="25400" bIns="25400" rtlCol="0" anchor="t">
            <a:normAutofit/>
          </a:bodyPr>
          <a:lstStyle/>
          <a:p>
            <a:pPr algn="l" indent="0" marL="0">
              <a:lnSpc>
                <a:spcPct val="87568"/>
              </a:lnSpc>
              <a:buNone/>
            </a:pPr>
            <a:r>
              <a:rPr lang="en-US" sz="4050" spc="-122" kern="0" dirty="0">
                <a:solidFill>
                  <a:srgbClr val="17201F"/>
                </a:solidFill>
                <a:latin typeface="Arial" pitchFamily="34" charset="0"/>
                <a:ea typeface="Arial" pitchFamily="34" charset="-122"/>
                <a:cs typeface="Arial" pitchFamily="34" charset="-120"/>
              </a:rPr>
              <a:t>Reach</a:t>
            </a:r>
            <a:endParaRPr lang="en-US" sz="4050" dirty="0"/>
          </a:p>
        </p:txBody>
      </p:sp>
      <p:sp>
        <p:nvSpPr>
          <p:cNvPr id="6" name="Shape 4"/>
          <p:cNvSpPr/>
          <p:nvPr/>
        </p:nvSpPr>
        <p:spPr>
          <a:xfrm>
            <a:off x="3714750" y="1619250"/>
            <a:ext cx="9334500" cy="9525"/>
          </a:xfrm>
          <a:prstGeom prst="rect">
            <a:avLst/>
          </a:prstGeom>
          <a:solidFill>
            <a:srgbClr val="17201F">
              <a:alpha val="14000"/>
            </a:srgbClr>
          </a:solidFill>
          <a:ln/>
        </p:spPr>
      </p:sp>
      <p:sp>
        <p:nvSpPr>
          <p:cNvPr id="7" name="Text 5"/>
          <p:cNvSpPr/>
          <p:nvPr/>
        </p:nvSpPr>
        <p:spPr>
          <a:xfrm>
            <a:off x="3714750" y="1951037"/>
            <a:ext cx="9614535" cy="758130"/>
          </a:xfrm>
          <a:prstGeom prst="rect">
            <a:avLst/>
          </a:prstGeom>
          <a:noFill/>
          <a:ln/>
        </p:spPr>
        <p:txBody>
          <a:bodyPr wrap="square" lIns="25400" tIns="25400" rIns="25400" bIns="25400" rtlCol="0" anchor="t">
            <a:normAutofit/>
          </a:bodyPr>
          <a:lstStyle/>
          <a:p>
            <a:pPr algn="l" indent="0" marL="0">
              <a:lnSpc>
                <a:spcPct val="117818"/>
              </a:lnSpc>
              <a:buNone/>
            </a:pPr>
            <a:r>
              <a:rPr lang="en-US" sz="2100" dirty="0">
                <a:solidFill>
                  <a:srgbClr val="17201F"/>
                </a:solidFill>
                <a:latin typeface="Arial" pitchFamily="34" charset="0"/>
                <a:ea typeface="Arial" pitchFamily="34" charset="-122"/>
                <a:cs typeface="Arial" pitchFamily="34" charset="-120"/>
              </a:rPr>
              <a:t>Nearby Uptick screens where they exist, plus direct relationships the business already has, plus its own location.</a:t>
            </a:r>
            <a:endParaRPr lang="en-US" sz="2100" dirty="0"/>
          </a:p>
        </p:txBody>
      </p:sp>
      <p:sp>
        <p:nvSpPr>
          <p:cNvPr id="8" name="Shape 6"/>
          <p:cNvSpPr/>
          <p:nvPr/>
        </p:nvSpPr>
        <p:spPr>
          <a:xfrm>
            <a:off x="13525500" y="1619250"/>
            <a:ext cx="4000500" cy="9525"/>
          </a:xfrm>
          <a:prstGeom prst="rect">
            <a:avLst/>
          </a:prstGeom>
          <a:solidFill>
            <a:srgbClr val="17201F">
              <a:alpha val="14000"/>
            </a:srgbClr>
          </a:solidFill>
          <a:ln/>
        </p:spPr>
      </p:sp>
      <p:sp>
        <p:nvSpPr>
          <p:cNvPr id="9" name="Text 7"/>
          <p:cNvSpPr/>
          <p:nvPr/>
        </p:nvSpPr>
        <p:spPr>
          <a:xfrm>
            <a:off x="13525500" y="1951037"/>
            <a:ext cx="4120515" cy="758130"/>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17201F">
                    <a:alpha val="50000"/>
                  </a:srgbClr>
                </a:solidFill>
                <a:latin typeface="Courier New" pitchFamily="34" charset="0"/>
                <a:ea typeface="Courier New" pitchFamily="34" charset="-122"/>
                <a:cs typeface="Courier New" pitchFamily="34" charset="-120"/>
              </a:rPr>
              <a:t>SCENES 08 · 09A · 09B</a:t>
            </a:r>
            <a:endParaRPr lang="en-US" sz="1650" dirty="0"/>
          </a:p>
        </p:txBody>
      </p:sp>
      <p:sp>
        <p:nvSpPr>
          <p:cNvPr id="10" name="Shape 8"/>
          <p:cNvSpPr/>
          <p:nvPr/>
        </p:nvSpPr>
        <p:spPr>
          <a:xfrm>
            <a:off x="762000" y="2994918"/>
            <a:ext cx="2476500" cy="9525"/>
          </a:xfrm>
          <a:prstGeom prst="rect">
            <a:avLst/>
          </a:prstGeom>
          <a:solidFill>
            <a:srgbClr val="17201F">
              <a:alpha val="14000"/>
            </a:srgbClr>
          </a:solidFill>
          <a:ln/>
        </p:spPr>
      </p:sp>
      <p:sp>
        <p:nvSpPr>
          <p:cNvPr id="11" name="Text 9"/>
          <p:cNvSpPr/>
          <p:nvPr/>
        </p:nvSpPr>
        <p:spPr>
          <a:xfrm>
            <a:off x="762000" y="3269555"/>
            <a:ext cx="2552700" cy="872430"/>
          </a:xfrm>
          <a:prstGeom prst="rect">
            <a:avLst/>
          </a:prstGeom>
          <a:noFill/>
          <a:ln/>
        </p:spPr>
        <p:txBody>
          <a:bodyPr wrap="square" lIns="25400" tIns="25400" rIns="25400" bIns="25400" rtlCol="0" anchor="t">
            <a:normAutofit/>
          </a:bodyPr>
          <a:lstStyle/>
          <a:p>
            <a:pPr algn="l" indent="0" marL="0">
              <a:lnSpc>
                <a:spcPct val="87568"/>
              </a:lnSpc>
              <a:buNone/>
            </a:pPr>
            <a:r>
              <a:rPr lang="en-US" sz="4050" spc="-122" kern="0" dirty="0">
                <a:solidFill>
                  <a:srgbClr val="17201F"/>
                </a:solidFill>
                <a:latin typeface="Arial" pitchFamily="34" charset="0"/>
                <a:ea typeface="Arial" pitchFamily="34" charset="-122"/>
                <a:cs typeface="Arial" pitchFamily="34" charset="-120"/>
              </a:rPr>
              <a:t>Connect</a:t>
            </a:r>
            <a:endParaRPr lang="en-US" sz="4050" dirty="0"/>
          </a:p>
        </p:txBody>
      </p:sp>
      <p:sp>
        <p:nvSpPr>
          <p:cNvPr id="12" name="Shape 10"/>
          <p:cNvSpPr/>
          <p:nvPr/>
        </p:nvSpPr>
        <p:spPr>
          <a:xfrm>
            <a:off x="3714750" y="2994918"/>
            <a:ext cx="9334500" cy="9525"/>
          </a:xfrm>
          <a:prstGeom prst="rect">
            <a:avLst/>
          </a:prstGeom>
          <a:solidFill>
            <a:srgbClr val="17201F">
              <a:alpha val="14000"/>
            </a:srgbClr>
          </a:solidFill>
          <a:ln/>
        </p:spPr>
      </p:sp>
      <p:sp>
        <p:nvSpPr>
          <p:cNvPr id="13" name="Text 11"/>
          <p:cNvSpPr/>
          <p:nvPr/>
        </p:nvSpPr>
        <p:spPr>
          <a:xfrm>
            <a:off x="3714750" y="3326705"/>
            <a:ext cx="9614535" cy="758130"/>
          </a:xfrm>
          <a:prstGeom prst="rect">
            <a:avLst/>
          </a:prstGeom>
          <a:noFill/>
          <a:ln/>
        </p:spPr>
        <p:txBody>
          <a:bodyPr wrap="square" lIns="25400" tIns="25400" rIns="25400" bIns="25400" rtlCol="0" anchor="t">
            <a:normAutofit/>
          </a:bodyPr>
          <a:lstStyle/>
          <a:p>
            <a:pPr algn="l" indent="0" marL="0">
              <a:lnSpc>
                <a:spcPct val="117818"/>
              </a:lnSpc>
              <a:buNone/>
            </a:pPr>
            <a:r>
              <a:rPr lang="en-US" sz="2100" dirty="0">
                <a:solidFill>
                  <a:srgbClr val="17201F"/>
                </a:solidFill>
                <a:latin typeface="Arial" pitchFamily="34" charset="0"/>
                <a:ea typeface="Arial" pitchFamily="34" charset="-122"/>
                <a:cs typeface="Arial" pitchFamily="34" charset="-120"/>
              </a:rPr>
              <a:t>Claim + permission. Anonymous local attention becomes a customer relationship the business may keep.</a:t>
            </a:r>
            <a:endParaRPr lang="en-US" sz="2100" dirty="0"/>
          </a:p>
        </p:txBody>
      </p:sp>
      <p:sp>
        <p:nvSpPr>
          <p:cNvPr id="14" name="Shape 12"/>
          <p:cNvSpPr/>
          <p:nvPr/>
        </p:nvSpPr>
        <p:spPr>
          <a:xfrm>
            <a:off x="13525500" y="2994918"/>
            <a:ext cx="4000500" cy="9525"/>
          </a:xfrm>
          <a:prstGeom prst="rect">
            <a:avLst/>
          </a:prstGeom>
          <a:solidFill>
            <a:srgbClr val="17201F">
              <a:alpha val="14000"/>
            </a:srgbClr>
          </a:solidFill>
          <a:ln/>
        </p:spPr>
      </p:sp>
      <p:sp>
        <p:nvSpPr>
          <p:cNvPr id="15" name="Text 13"/>
          <p:cNvSpPr/>
          <p:nvPr/>
        </p:nvSpPr>
        <p:spPr>
          <a:xfrm>
            <a:off x="13525500" y="3326705"/>
            <a:ext cx="4120515" cy="758130"/>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17201F">
                    <a:alpha val="50000"/>
                  </a:srgbClr>
                </a:solidFill>
                <a:latin typeface="Courier New" pitchFamily="34" charset="0"/>
                <a:ea typeface="Courier New" pitchFamily="34" charset="-122"/>
                <a:cs typeface="Courier New" pitchFamily="34" charset="-120"/>
              </a:rPr>
              <a:t>SCENE 10</a:t>
            </a:r>
            <a:endParaRPr lang="en-US" sz="1650" dirty="0"/>
          </a:p>
        </p:txBody>
      </p:sp>
      <p:sp>
        <p:nvSpPr>
          <p:cNvPr id="16" name="Shape 14"/>
          <p:cNvSpPr/>
          <p:nvPr/>
        </p:nvSpPr>
        <p:spPr>
          <a:xfrm>
            <a:off x="762000" y="4370586"/>
            <a:ext cx="2476500" cy="9525"/>
          </a:xfrm>
          <a:prstGeom prst="rect">
            <a:avLst/>
          </a:prstGeom>
          <a:solidFill>
            <a:srgbClr val="17201F">
              <a:alpha val="14000"/>
            </a:srgbClr>
          </a:solidFill>
          <a:ln/>
        </p:spPr>
      </p:sp>
      <p:sp>
        <p:nvSpPr>
          <p:cNvPr id="17" name="Text 15"/>
          <p:cNvSpPr/>
          <p:nvPr/>
        </p:nvSpPr>
        <p:spPr>
          <a:xfrm>
            <a:off x="762000" y="4645223"/>
            <a:ext cx="2552700" cy="872430"/>
          </a:xfrm>
          <a:prstGeom prst="rect">
            <a:avLst/>
          </a:prstGeom>
          <a:noFill/>
          <a:ln/>
        </p:spPr>
        <p:txBody>
          <a:bodyPr wrap="square" lIns="25400" tIns="25400" rIns="25400" bIns="25400" rtlCol="0" anchor="t">
            <a:normAutofit/>
          </a:bodyPr>
          <a:lstStyle/>
          <a:p>
            <a:pPr algn="l" indent="0" marL="0">
              <a:lnSpc>
                <a:spcPct val="87568"/>
              </a:lnSpc>
              <a:buNone/>
            </a:pPr>
            <a:r>
              <a:rPr lang="en-US" sz="4050" spc="-122" kern="0" dirty="0">
                <a:solidFill>
                  <a:srgbClr val="17201F"/>
                </a:solidFill>
                <a:latin typeface="Arial" pitchFamily="34" charset="0"/>
                <a:ea typeface="Arial" pitchFamily="34" charset="-122"/>
                <a:cs typeface="Arial" pitchFamily="34" charset="-120"/>
              </a:rPr>
              <a:t>Activate</a:t>
            </a:r>
            <a:endParaRPr lang="en-US" sz="4050" dirty="0"/>
          </a:p>
        </p:txBody>
      </p:sp>
      <p:sp>
        <p:nvSpPr>
          <p:cNvPr id="18" name="Shape 16"/>
          <p:cNvSpPr/>
          <p:nvPr/>
        </p:nvSpPr>
        <p:spPr>
          <a:xfrm>
            <a:off x="3714750" y="4370586"/>
            <a:ext cx="9334500" cy="9525"/>
          </a:xfrm>
          <a:prstGeom prst="rect">
            <a:avLst/>
          </a:prstGeom>
          <a:solidFill>
            <a:srgbClr val="17201F">
              <a:alpha val="14000"/>
            </a:srgbClr>
          </a:solidFill>
          <a:ln/>
        </p:spPr>
      </p:sp>
      <p:sp>
        <p:nvSpPr>
          <p:cNvPr id="19" name="Text 17"/>
          <p:cNvSpPr/>
          <p:nvPr/>
        </p:nvSpPr>
        <p:spPr>
          <a:xfrm>
            <a:off x="3714750" y="4702373"/>
            <a:ext cx="9614535" cy="758130"/>
          </a:xfrm>
          <a:prstGeom prst="rect">
            <a:avLst/>
          </a:prstGeom>
          <a:noFill/>
          <a:ln/>
        </p:spPr>
        <p:txBody>
          <a:bodyPr wrap="square" lIns="25400" tIns="25400" rIns="25400" bIns="25400" rtlCol="0" anchor="t">
            <a:normAutofit/>
          </a:bodyPr>
          <a:lstStyle/>
          <a:p>
            <a:pPr algn="l" indent="0" marL="0">
              <a:lnSpc>
                <a:spcPct val="117818"/>
              </a:lnSpc>
              <a:buNone/>
            </a:pPr>
            <a:r>
              <a:rPr lang="en-US" sz="2100" dirty="0">
                <a:solidFill>
                  <a:srgbClr val="17201F"/>
                </a:solidFill>
                <a:latin typeface="Arial" pitchFamily="34" charset="0"/>
                <a:ea typeface="Arial" pitchFamily="34" charset="-122"/>
                <a:cs typeface="Arial" pitchFamily="34" charset="-120"/>
              </a:rPr>
              <a:t>One Growth Plan: objective, relationships, reach, offer or action, timing, limits, economics, messaging, redemption, measurement.</a:t>
            </a:r>
            <a:endParaRPr lang="en-US" sz="2100" dirty="0"/>
          </a:p>
        </p:txBody>
      </p:sp>
      <p:sp>
        <p:nvSpPr>
          <p:cNvPr id="20" name="Shape 18"/>
          <p:cNvSpPr/>
          <p:nvPr/>
        </p:nvSpPr>
        <p:spPr>
          <a:xfrm>
            <a:off x="13525500" y="4370586"/>
            <a:ext cx="4000500" cy="9525"/>
          </a:xfrm>
          <a:prstGeom prst="rect">
            <a:avLst/>
          </a:prstGeom>
          <a:solidFill>
            <a:srgbClr val="17201F">
              <a:alpha val="14000"/>
            </a:srgbClr>
          </a:solidFill>
          <a:ln/>
        </p:spPr>
      </p:sp>
      <p:sp>
        <p:nvSpPr>
          <p:cNvPr id="21" name="Text 19"/>
          <p:cNvSpPr/>
          <p:nvPr/>
        </p:nvSpPr>
        <p:spPr>
          <a:xfrm>
            <a:off x="13525500" y="4702373"/>
            <a:ext cx="4120515" cy="758130"/>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17201F">
                    <a:alpha val="50000"/>
                  </a:srgbClr>
                </a:solidFill>
                <a:latin typeface="Courier New" pitchFamily="34" charset="0"/>
                <a:ea typeface="Courier New" pitchFamily="34" charset="-122"/>
                <a:cs typeface="Courier New" pitchFamily="34" charset="-120"/>
              </a:rPr>
              <a:t>SCENES 03–07</a:t>
            </a:r>
            <a:endParaRPr lang="en-US" sz="1650" dirty="0"/>
          </a:p>
        </p:txBody>
      </p:sp>
      <p:sp>
        <p:nvSpPr>
          <p:cNvPr id="22" name="Shape 20"/>
          <p:cNvSpPr/>
          <p:nvPr/>
        </p:nvSpPr>
        <p:spPr>
          <a:xfrm>
            <a:off x="762000" y="5746254"/>
            <a:ext cx="2476500" cy="9525"/>
          </a:xfrm>
          <a:prstGeom prst="rect">
            <a:avLst/>
          </a:prstGeom>
          <a:solidFill>
            <a:srgbClr val="17201F">
              <a:alpha val="14000"/>
            </a:srgbClr>
          </a:solidFill>
          <a:ln/>
        </p:spPr>
      </p:sp>
      <p:sp>
        <p:nvSpPr>
          <p:cNvPr id="23" name="Text 21"/>
          <p:cNvSpPr/>
          <p:nvPr/>
        </p:nvSpPr>
        <p:spPr>
          <a:xfrm>
            <a:off x="762000" y="6020891"/>
            <a:ext cx="2552700" cy="872430"/>
          </a:xfrm>
          <a:prstGeom prst="rect">
            <a:avLst/>
          </a:prstGeom>
          <a:noFill/>
          <a:ln/>
        </p:spPr>
        <p:txBody>
          <a:bodyPr wrap="square" lIns="25400" tIns="25400" rIns="25400" bIns="25400" rtlCol="0" anchor="t">
            <a:normAutofit/>
          </a:bodyPr>
          <a:lstStyle/>
          <a:p>
            <a:pPr algn="l" indent="0" marL="0">
              <a:lnSpc>
                <a:spcPct val="87568"/>
              </a:lnSpc>
              <a:buNone/>
            </a:pPr>
            <a:r>
              <a:rPr lang="en-US" sz="4050" spc="-122" kern="0" dirty="0">
                <a:solidFill>
                  <a:srgbClr val="17201F"/>
                </a:solidFill>
                <a:latin typeface="Arial" pitchFamily="34" charset="0"/>
                <a:ea typeface="Arial" pitchFamily="34" charset="-122"/>
                <a:cs typeface="Arial" pitchFamily="34" charset="-120"/>
              </a:rPr>
              <a:t>Converse</a:t>
            </a:r>
            <a:endParaRPr lang="en-US" sz="4050" dirty="0"/>
          </a:p>
        </p:txBody>
      </p:sp>
      <p:sp>
        <p:nvSpPr>
          <p:cNvPr id="24" name="Shape 22"/>
          <p:cNvSpPr/>
          <p:nvPr/>
        </p:nvSpPr>
        <p:spPr>
          <a:xfrm>
            <a:off x="3714750" y="5746254"/>
            <a:ext cx="9334500" cy="9525"/>
          </a:xfrm>
          <a:prstGeom prst="rect">
            <a:avLst/>
          </a:prstGeom>
          <a:solidFill>
            <a:srgbClr val="17201F">
              <a:alpha val="14000"/>
            </a:srgbClr>
          </a:solidFill>
          <a:ln/>
        </p:spPr>
      </p:sp>
      <p:sp>
        <p:nvSpPr>
          <p:cNvPr id="25" name="Text 23"/>
          <p:cNvSpPr/>
          <p:nvPr/>
        </p:nvSpPr>
        <p:spPr>
          <a:xfrm>
            <a:off x="3714750" y="6078041"/>
            <a:ext cx="9614535" cy="758130"/>
          </a:xfrm>
          <a:prstGeom prst="rect">
            <a:avLst/>
          </a:prstGeom>
          <a:noFill/>
          <a:ln/>
        </p:spPr>
        <p:txBody>
          <a:bodyPr wrap="square" lIns="25400" tIns="25400" rIns="25400" bIns="25400" rtlCol="0" anchor="t">
            <a:normAutofit/>
          </a:bodyPr>
          <a:lstStyle/>
          <a:p>
            <a:pPr algn="l" indent="0" marL="0">
              <a:lnSpc>
                <a:spcPct val="117818"/>
              </a:lnSpc>
              <a:buNone/>
            </a:pPr>
            <a:r>
              <a:rPr lang="en-US" sz="2100" dirty="0">
                <a:solidFill>
                  <a:srgbClr val="17201F"/>
                </a:solidFill>
                <a:latin typeface="Arial" pitchFamily="34" charset="0"/>
                <a:ea typeface="Arial" pitchFamily="34" charset="-122"/>
                <a:cs typeface="Arial" pitchFamily="34" charset="-120"/>
              </a:rPr>
              <a:t>Two-way customer relationship. Automatic when grounded in approved details; human when uncertain.</a:t>
            </a:r>
            <a:endParaRPr lang="en-US" sz="2100" dirty="0"/>
          </a:p>
        </p:txBody>
      </p:sp>
      <p:sp>
        <p:nvSpPr>
          <p:cNvPr id="26" name="Shape 24"/>
          <p:cNvSpPr/>
          <p:nvPr/>
        </p:nvSpPr>
        <p:spPr>
          <a:xfrm>
            <a:off x="13525500" y="5746254"/>
            <a:ext cx="4000500" cy="9525"/>
          </a:xfrm>
          <a:prstGeom prst="rect">
            <a:avLst/>
          </a:prstGeom>
          <a:solidFill>
            <a:srgbClr val="17201F">
              <a:alpha val="14000"/>
            </a:srgbClr>
          </a:solidFill>
          <a:ln/>
        </p:spPr>
      </p:sp>
      <p:sp>
        <p:nvSpPr>
          <p:cNvPr id="27" name="Text 25"/>
          <p:cNvSpPr/>
          <p:nvPr/>
        </p:nvSpPr>
        <p:spPr>
          <a:xfrm>
            <a:off x="13525500" y="6078041"/>
            <a:ext cx="4120515" cy="758130"/>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17201F">
                    <a:alpha val="50000"/>
                  </a:srgbClr>
                </a:solidFill>
                <a:latin typeface="Courier New" pitchFamily="34" charset="0"/>
                <a:ea typeface="Courier New" pitchFamily="34" charset="-122"/>
                <a:cs typeface="Courier New" pitchFamily="34" charset="-120"/>
              </a:rPr>
              <a:t>SCENES 11 · 12 · 16</a:t>
            </a:r>
            <a:endParaRPr lang="en-US" sz="1650" dirty="0"/>
          </a:p>
        </p:txBody>
      </p:sp>
      <p:sp>
        <p:nvSpPr>
          <p:cNvPr id="28" name="Shape 26"/>
          <p:cNvSpPr/>
          <p:nvPr/>
        </p:nvSpPr>
        <p:spPr>
          <a:xfrm>
            <a:off x="762000" y="7121922"/>
            <a:ext cx="2476500" cy="9525"/>
          </a:xfrm>
          <a:prstGeom prst="rect">
            <a:avLst/>
          </a:prstGeom>
          <a:solidFill>
            <a:srgbClr val="17201F">
              <a:alpha val="14000"/>
            </a:srgbClr>
          </a:solidFill>
          <a:ln/>
        </p:spPr>
      </p:sp>
      <p:sp>
        <p:nvSpPr>
          <p:cNvPr id="29" name="Text 27"/>
          <p:cNvSpPr/>
          <p:nvPr/>
        </p:nvSpPr>
        <p:spPr>
          <a:xfrm>
            <a:off x="762000" y="7396559"/>
            <a:ext cx="2552700" cy="552326"/>
          </a:xfrm>
          <a:prstGeom prst="rect">
            <a:avLst/>
          </a:prstGeom>
          <a:noFill/>
          <a:ln/>
        </p:spPr>
        <p:txBody>
          <a:bodyPr wrap="square" lIns="25400" tIns="25400" rIns="25400" bIns="25400" rtlCol="0" anchor="t">
            <a:normAutofit/>
          </a:bodyPr>
          <a:lstStyle/>
          <a:p>
            <a:pPr algn="l" indent="0" marL="0">
              <a:lnSpc>
                <a:spcPct val="87568"/>
              </a:lnSpc>
              <a:buNone/>
            </a:pPr>
            <a:r>
              <a:rPr lang="en-US" sz="4050" spc="-122" kern="0" dirty="0">
                <a:solidFill>
                  <a:srgbClr val="17201F"/>
                </a:solidFill>
                <a:latin typeface="Arial" pitchFamily="34" charset="0"/>
                <a:ea typeface="Arial" pitchFamily="34" charset="-122"/>
                <a:cs typeface="Arial" pitchFamily="34" charset="-120"/>
              </a:rPr>
              <a:t>Prove</a:t>
            </a:r>
            <a:endParaRPr lang="en-US" sz="4050" dirty="0"/>
          </a:p>
        </p:txBody>
      </p:sp>
      <p:sp>
        <p:nvSpPr>
          <p:cNvPr id="30" name="Shape 28"/>
          <p:cNvSpPr/>
          <p:nvPr/>
        </p:nvSpPr>
        <p:spPr>
          <a:xfrm>
            <a:off x="3714750" y="7121922"/>
            <a:ext cx="9334500" cy="9525"/>
          </a:xfrm>
          <a:prstGeom prst="rect">
            <a:avLst/>
          </a:prstGeom>
          <a:solidFill>
            <a:srgbClr val="17201F">
              <a:alpha val="14000"/>
            </a:srgbClr>
          </a:solidFill>
          <a:ln/>
        </p:spPr>
      </p:sp>
      <p:sp>
        <p:nvSpPr>
          <p:cNvPr id="31" name="Text 29"/>
          <p:cNvSpPr/>
          <p:nvPr/>
        </p:nvSpPr>
        <p:spPr>
          <a:xfrm>
            <a:off x="3714750" y="7453709"/>
            <a:ext cx="9614535" cy="438026"/>
          </a:xfrm>
          <a:prstGeom prst="rect">
            <a:avLst/>
          </a:prstGeom>
          <a:noFill/>
          <a:ln/>
        </p:spPr>
        <p:txBody>
          <a:bodyPr wrap="square" lIns="25400" tIns="25400" rIns="25400" bIns="25400" rtlCol="0" anchor="t">
            <a:normAutofit/>
          </a:bodyPr>
          <a:lstStyle/>
          <a:p>
            <a:pPr algn="l" indent="0" marL="0">
              <a:lnSpc>
                <a:spcPct val="117818"/>
              </a:lnSpc>
              <a:buNone/>
            </a:pPr>
            <a:r>
              <a:rPr lang="en-US" sz="2100" dirty="0">
                <a:solidFill>
                  <a:srgbClr val="17201F"/>
                </a:solidFill>
                <a:latin typeface="Arial" pitchFamily="34" charset="0"/>
                <a:ea typeface="Arial" pitchFamily="34" charset="-122"/>
                <a:cs typeface="Arial" pitchFamily="34" charset="-120"/>
              </a:rPr>
              <a:t>Visit, redemption, return. One question answered: did it work?</a:t>
            </a:r>
            <a:endParaRPr lang="en-US" sz="2100" dirty="0"/>
          </a:p>
        </p:txBody>
      </p:sp>
      <p:sp>
        <p:nvSpPr>
          <p:cNvPr id="32" name="Shape 30"/>
          <p:cNvSpPr/>
          <p:nvPr/>
        </p:nvSpPr>
        <p:spPr>
          <a:xfrm>
            <a:off x="13525500" y="7121922"/>
            <a:ext cx="4000500" cy="9525"/>
          </a:xfrm>
          <a:prstGeom prst="rect">
            <a:avLst/>
          </a:prstGeom>
          <a:solidFill>
            <a:srgbClr val="17201F">
              <a:alpha val="14000"/>
            </a:srgbClr>
          </a:solidFill>
          <a:ln/>
        </p:spPr>
      </p:sp>
      <p:sp>
        <p:nvSpPr>
          <p:cNvPr id="33" name="Text 31"/>
          <p:cNvSpPr/>
          <p:nvPr/>
        </p:nvSpPr>
        <p:spPr>
          <a:xfrm>
            <a:off x="13525500" y="7453709"/>
            <a:ext cx="4120515" cy="438026"/>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17201F">
                    <a:alpha val="50000"/>
                  </a:srgbClr>
                </a:solidFill>
                <a:latin typeface="Courier New" pitchFamily="34" charset="0"/>
                <a:ea typeface="Courier New" pitchFamily="34" charset="-122"/>
                <a:cs typeface="Courier New" pitchFamily="34" charset="-120"/>
              </a:rPr>
              <a:t>SCENES 13 · 14 · 15</a:t>
            </a:r>
            <a:endParaRPr lang="en-US" sz="1650" dirty="0"/>
          </a:p>
        </p:txBody>
      </p:sp>
      <p:sp>
        <p:nvSpPr>
          <p:cNvPr id="34" name="Shape 32"/>
          <p:cNvSpPr/>
          <p:nvPr/>
        </p:nvSpPr>
        <p:spPr>
          <a:xfrm>
            <a:off x="762000" y="8177485"/>
            <a:ext cx="16764000" cy="15875"/>
          </a:xfrm>
          <a:prstGeom prst="rect">
            <a:avLst/>
          </a:prstGeom>
          <a:solidFill>
            <a:srgbClr val="5FD6BB"/>
          </a:solidFill>
          <a:ln/>
        </p:spPr>
      </p:sp>
      <p:sp>
        <p:nvSpPr>
          <p:cNvPr id="35" name="Text 33"/>
          <p:cNvSpPr/>
          <p:nvPr/>
        </p:nvSpPr>
        <p:spPr>
          <a:xfrm>
            <a:off x="762000" y="8479110"/>
            <a:ext cx="5671009" cy="781000"/>
          </a:xfrm>
          <a:prstGeom prst="rect">
            <a:avLst/>
          </a:prstGeom>
          <a:noFill/>
          <a:ln/>
        </p:spPr>
        <p:txBody>
          <a:bodyPr wrap="square" lIns="25400" tIns="25400" rIns="25400" bIns="25400" rtlCol="0" anchor="t">
            <a:normAutofit/>
          </a:bodyPr>
          <a:lstStyle/>
          <a:p>
            <a:pPr algn="l" indent="0" marL="0">
              <a:lnSpc>
                <a:spcPct val="114146"/>
              </a:lnSpc>
              <a:buNone/>
            </a:pPr>
            <a:r>
              <a:rPr lang="en-US" sz="2250" dirty="0">
                <a:solidFill>
                  <a:srgbClr val="0F6F5C"/>
                </a:solidFill>
                <a:latin typeface="Arial" pitchFamily="34" charset="0"/>
                <a:ea typeface="Arial" pitchFamily="34" charset="-122"/>
                <a:cs typeface="Arial" pitchFamily="34" charset="-120"/>
              </a:rPr>
              <a:t>Intelligence helps orchestrate the system. It is not the product.</a:t>
            </a:r>
            <a:endParaRPr lang="en-US" sz="2250" dirty="0"/>
          </a:p>
        </p:txBody>
      </p:sp>
      <p:sp>
        <p:nvSpPr>
          <p:cNvPr id="36" name="Text 34"/>
          <p:cNvSpPr/>
          <p:nvPr/>
        </p:nvSpPr>
        <p:spPr>
          <a:xfrm>
            <a:off x="6648834" y="8554516"/>
            <a:ext cx="11203480" cy="585788"/>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17201F">
                    <a:alpha val="50000"/>
                  </a:srgbClr>
                </a:solidFill>
                <a:latin typeface="Courier New" pitchFamily="34" charset="0"/>
                <a:ea typeface="Courier New" pitchFamily="34" charset="-122"/>
                <a:cs typeface="Courier New" pitchFamily="34" charset="-120"/>
              </a:rPr>
              <a:t>PRIMITIVES · OBJECTIVE · CONTEXT · GROWTH PLAN · REACH · RELATIONSHIP · MESSAGE · OFFER · PASS · REDEMPTION · RESULT</a:t>
            </a:r>
            <a:endParaRPr lang="en-US" sz="16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762000" y="571500"/>
            <a:ext cx="9294006" cy="335756"/>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17201F">
                    <a:alpha val="50000"/>
                  </a:srgbClr>
                </a:solidFill>
                <a:latin typeface="Courier New" pitchFamily="34" charset="0"/>
                <a:ea typeface="Courier New" pitchFamily="34" charset="-122"/>
                <a:cs typeface="Courier New" pitchFamily="34" charset="-120"/>
              </a:rPr>
              <a:t>BUILD · WHAT IS SCRIPTED, WHAT IS REAL, WHAT COMES FIRST</a:t>
            </a:r>
            <a:endParaRPr lang="en-US" sz="1800" dirty="0"/>
          </a:p>
        </p:txBody>
      </p:sp>
      <p:sp>
        <p:nvSpPr>
          <p:cNvPr id="3" name="Shape 1"/>
          <p:cNvSpPr/>
          <p:nvPr/>
        </p:nvSpPr>
        <p:spPr>
          <a:xfrm>
            <a:off x="762000" y="1181075"/>
            <a:ext cx="16764000" cy="19038"/>
          </a:xfrm>
          <a:prstGeom prst="rect">
            <a:avLst/>
          </a:prstGeom>
          <a:solidFill>
            <a:srgbClr val="17201F">
              <a:alpha val="14000"/>
            </a:srgbClr>
          </a:solidFill>
          <a:ln/>
        </p:spPr>
      </p:sp>
      <p:sp>
        <p:nvSpPr>
          <p:cNvPr id="4" name="Text 2"/>
          <p:cNvSpPr/>
          <p:nvPr/>
        </p:nvSpPr>
        <p:spPr>
          <a:xfrm>
            <a:off x="762000" y="1714500"/>
            <a:ext cx="5727700"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17201F">
                    <a:alpha val="50000"/>
                  </a:srgbClr>
                </a:solidFill>
                <a:latin typeface="Courier New" pitchFamily="34" charset="0"/>
                <a:ea typeface="Courier New" pitchFamily="34" charset="-122"/>
                <a:cs typeface="Courier New" pitchFamily="34" charset="-120"/>
              </a:rPr>
              <a:t>SCRIPTED NOW</a:t>
            </a:r>
            <a:endParaRPr lang="en-US" sz="1650" dirty="0"/>
          </a:p>
        </p:txBody>
      </p:sp>
      <p:sp>
        <p:nvSpPr>
          <p:cNvPr id="5" name="Shape 3"/>
          <p:cNvSpPr/>
          <p:nvPr/>
        </p:nvSpPr>
        <p:spPr>
          <a:xfrm>
            <a:off x="762000" y="2178844"/>
            <a:ext cx="5207000" cy="19038"/>
          </a:xfrm>
          <a:prstGeom prst="rect">
            <a:avLst/>
          </a:prstGeom>
          <a:solidFill>
            <a:srgbClr val="17201F">
              <a:alpha val="14000"/>
            </a:srgbClr>
          </a:solidFill>
          <a:ln/>
        </p:spPr>
      </p:sp>
      <p:sp>
        <p:nvSpPr>
          <p:cNvPr id="6" name="Text 4"/>
          <p:cNvSpPr/>
          <p:nvPr/>
        </p:nvSpPr>
        <p:spPr>
          <a:xfrm>
            <a:off x="762000" y="2388381"/>
            <a:ext cx="5727700" cy="409612"/>
          </a:xfrm>
          <a:prstGeom prst="rect">
            <a:avLst/>
          </a:prstGeom>
          <a:noFill/>
          <a:ln/>
        </p:spPr>
        <p:txBody>
          <a:bodyPr wrap="square" lIns="25400" tIns="25400" rIns="25400" bIns="25400" rtlCol="0" anchor="t">
            <a:normAutofit/>
          </a:bodyPr>
          <a:lstStyle/>
          <a:p>
            <a:pPr algn="l" indent="0" marL="0">
              <a:lnSpc>
                <a:spcPct val="131831"/>
              </a:lnSpc>
              <a:buNone/>
            </a:pPr>
            <a:r>
              <a:rPr lang="en-US" sz="1950" dirty="0">
                <a:solidFill>
                  <a:srgbClr val="17201F"/>
                </a:solidFill>
                <a:latin typeface="Arial" pitchFamily="34" charset="0"/>
                <a:ea typeface="Arial" pitchFamily="34" charset="-122"/>
                <a:cs typeface="Arial" pitchFamily="34" charset="-120"/>
              </a:rPr>
              <a:t>Joe's data</a:t>
            </a:r>
            <a:endParaRPr lang="en-US" sz="1950" dirty="0"/>
          </a:p>
        </p:txBody>
      </p:sp>
      <p:sp>
        <p:nvSpPr>
          <p:cNvPr id="7" name="Text 5"/>
          <p:cNvSpPr/>
          <p:nvPr/>
        </p:nvSpPr>
        <p:spPr>
          <a:xfrm>
            <a:off x="762000" y="2950393"/>
            <a:ext cx="5727700" cy="409612"/>
          </a:xfrm>
          <a:prstGeom prst="rect">
            <a:avLst/>
          </a:prstGeom>
          <a:noFill/>
          <a:ln/>
        </p:spPr>
        <p:txBody>
          <a:bodyPr wrap="square" lIns="25400" tIns="25400" rIns="25400" bIns="25400" rtlCol="0" anchor="t">
            <a:normAutofit/>
          </a:bodyPr>
          <a:lstStyle/>
          <a:p>
            <a:pPr algn="l" indent="0" marL="0">
              <a:lnSpc>
                <a:spcPct val="131831"/>
              </a:lnSpc>
              <a:buNone/>
            </a:pPr>
            <a:r>
              <a:rPr lang="en-US" sz="1950" dirty="0">
                <a:solidFill>
                  <a:srgbClr val="17201F"/>
                </a:solidFill>
                <a:latin typeface="Arial" pitchFamily="34" charset="0"/>
                <a:ea typeface="Arial" pitchFamily="34" charset="-122"/>
                <a:cs typeface="Arial" pitchFamily="34" charset="-120"/>
              </a:rPr>
              <a:t>The recommendation</a:t>
            </a:r>
            <a:endParaRPr lang="en-US" sz="1950" dirty="0"/>
          </a:p>
        </p:txBody>
      </p:sp>
      <p:sp>
        <p:nvSpPr>
          <p:cNvPr id="8" name="Text 6"/>
          <p:cNvSpPr/>
          <p:nvPr/>
        </p:nvSpPr>
        <p:spPr>
          <a:xfrm>
            <a:off x="762000" y="3512406"/>
            <a:ext cx="5727700" cy="409612"/>
          </a:xfrm>
          <a:prstGeom prst="rect">
            <a:avLst/>
          </a:prstGeom>
          <a:noFill/>
          <a:ln/>
        </p:spPr>
        <p:txBody>
          <a:bodyPr wrap="square" lIns="25400" tIns="25400" rIns="25400" bIns="25400" rtlCol="0" anchor="t">
            <a:normAutofit/>
          </a:bodyPr>
          <a:lstStyle/>
          <a:p>
            <a:pPr algn="l" indent="0" marL="0">
              <a:lnSpc>
                <a:spcPct val="131831"/>
              </a:lnSpc>
              <a:buNone/>
            </a:pPr>
            <a:r>
              <a:rPr lang="en-US" sz="1950" dirty="0">
                <a:solidFill>
                  <a:srgbClr val="17201F"/>
                </a:solidFill>
                <a:latin typeface="Arial" pitchFamily="34" charset="0"/>
                <a:ea typeface="Arial" pitchFamily="34" charset="-122"/>
                <a:cs typeface="Arial" pitchFamily="34" charset="-120"/>
              </a:rPr>
              <a:t>Results</a:t>
            </a:r>
            <a:endParaRPr lang="en-US" sz="1950" dirty="0"/>
          </a:p>
        </p:txBody>
      </p:sp>
      <p:sp>
        <p:nvSpPr>
          <p:cNvPr id="9" name="Text 7"/>
          <p:cNvSpPr/>
          <p:nvPr/>
        </p:nvSpPr>
        <p:spPr>
          <a:xfrm>
            <a:off x="762000" y="4074418"/>
            <a:ext cx="5727700" cy="409612"/>
          </a:xfrm>
          <a:prstGeom prst="rect">
            <a:avLst/>
          </a:prstGeom>
          <a:noFill/>
          <a:ln/>
        </p:spPr>
        <p:txBody>
          <a:bodyPr wrap="square" lIns="25400" tIns="25400" rIns="25400" bIns="25400" rtlCol="0" anchor="t">
            <a:normAutofit/>
          </a:bodyPr>
          <a:lstStyle/>
          <a:p>
            <a:pPr algn="l" indent="0" marL="0">
              <a:lnSpc>
                <a:spcPct val="131831"/>
              </a:lnSpc>
              <a:buNone/>
            </a:pPr>
            <a:r>
              <a:rPr lang="en-US" sz="1950" dirty="0">
                <a:solidFill>
                  <a:srgbClr val="17201F"/>
                </a:solidFill>
                <a:latin typeface="Arial" pitchFamily="34" charset="0"/>
                <a:ea typeface="Arial" pitchFamily="34" charset="-122"/>
                <a:cs typeface="Arial" pitchFamily="34" charset="-120"/>
              </a:rPr>
              <a:t>Screen network scenario</a:t>
            </a:r>
            <a:endParaRPr lang="en-US" sz="1950" dirty="0"/>
          </a:p>
        </p:txBody>
      </p:sp>
      <p:sp>
        <p:nvSpPr>
          <p:cNvPr id="10" name="Text 8"/>
          <p:cNvSpPr/>
          <p:nvPr/>
        </p:nvSpPr>
        <p:spPr>
          <a:xfrm>
            <a:off x="762000" y="4636430"/>
            <a:ext cx="5727700" cy="409612"/>
          </a:xfrm>
          <a:prstGeom prst="rect">
            <a:avLst/>
          </a:prstGeom>
          <a:noFill/>
          <a:ln/>
        </p:spPr>
        <p:txBody>
          <a:bodyPr wrap="square" lIns="25400" tIns="25400" rIns="25400" bIns="25400" rtlCol="0" anchor="t">
            <a:normAutofit/>
          </a:bodyPr>
          <a:lstStyle/>
          <a:p>
            <a:pPr algn="l" indent="0" marL="0">
              <a:lnSpc>
                <a:spcPct val="131831"/>
              </a:lnSpc>
              <a:buNone/>
            </a:pPr>
            <a:r>
              <a:rPr lang="en-US" sz="1950" dirty="0">
                <a:solidFill>
                  <a:srgbClr val="17201F"/>
                </a:solidFill>
                <a:latin typeface="Arial" pitchFamily="34" charset="0"/>
                <a:ea typeface="Arial" pitchFamily="34" charset="-122"/>
                <a:cs typeface="Arial" pitchFamily="34" charset="-120"/>
              </a:rPr>
              <a:t>Customer history</a:t>
            </a:r>
            <a:endParaRPr lang="en-US" sz="1950" dirty="0"/>
          </a:p>
        </p:txBody>
      </p:sp>
      <p:sp>
        <p:nvSpPr>
          <p:cNvPr id="11" name="Text 9"/>
          <p:cNvSpPr/>
          <p:nvPr/>
        </p:nvSpPr>
        <p:spPr>
          <a:xfrm>
            <a:off x="762000" y="5198442"/>
            <a:ext cx="5727700" cy="409612"/>
          </a:xfrm>
          <a:prstGeom prst="rect">
            <a:avLst/>
          </a:prstGeom>
          <a:noFill/>
          <a:ln/>
        </p:spPr>
        <p:txBody>
          <a:bodyPr wrap="square" lIns="25400" tIns="25400" rIns="25400" bIns="25400" rtlCol="0" anchor="t">
            <a:normAutofit/>
          </a:bodyPr>
          <a:lstStyle/>
          <a:p>
            <a:pPr algn="l" indent="0" marL="0">
              <a:lnSpc>
                <a:spcPct val="131831"/>
              </a:lnSpc>
              <a:buNone/>
            </a:pPr>
            <a:r>
              <a:rPr lang="en-US" sz="1950" dirty="0">
                <a:solidFill>
                  <a:srgbClr val="17201F"/>
                </a:solidFill>
                <a:latin typeface="Arial" pitchFamily="34" charset="0"/>
                <a:ea typeface="Arial" pitchFamily="34" charset="-122"/>
                <a:cs typeface="Arial" pitchFamily="34" charset="-120"/>
              </a:rPr>
              <a:t>Automated replies</a:t>
            </a:r>
            <a:endParaRPr lang="en-US" sz="1950" dirty="0"/>
          </a:p>
        </p:txBody>
      </p:sp>
      <p:sp>
        <p:nvSpPr>
          <p:cNvPr id="12" name="Text 10"/>
          <p:cNvSpPr/>
          <p:nvPr/>
        </p:nvSpPr>
        <p:spPr>
          <a:xfrm>
            <a:off x="6540500" y="1714500"/>
            <a:ext cx="5727700"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0F6F5C"/>
                </a:solidFill>
                <a:latin typeface="Courier New" pitchFamily="34" charset="0"/>
                <a:ea typeface="Courier New" pitchFamily="34" charset="-122"/>
                <a:cs typeface="Courier New" pitchFamily="34" charset="-120"/>
              </a:rPr>
              <a:t>REAL UI IN THE FILM</a:t>
            </a:r>
            <a:endParaRPr lang="en-US" sz="1650" dirty="0"/>
          </a:p>
        </p:txBody>
      </p:sp>
      <p:sp>
        <p:nvSpPr>
          <p:cNvPr id="13" name="Shape 11"/>
          <p:cNvSpPr/>
          <p:nvPr/>
        </p:nvSpPr>
        <p:spPr>
          <a:xfrm>
            <a:off x="6540500" y="2178844"/>
            <a:ext cx="5207000" cy="19038"/>
          </a:xfrm>
          <a:prstGeom prst="rect">
            <a:avLst/>
          </a:prstGeom>
          <a:solidFill>
            <a:srgbClr val="5FD6BB"/>
          </a:solidFill>
          <a:ln/>
        </p:spPr>
      </p:sp>
      <p:sp>
        <p:nvSpPr>
          <p:cNvPr id="14" name="Text 12"/>
          <p:cNvSpPr/>
          <p:nvPr/>
        </p:nvSpPr>
        <p:spPr>
          <a:xfrm>
            <a:off x="6540500" y="2388381"/>
            <a:ext cx="5727700" cy="409612"/>
          </a:xfrm>
          <a:prstGeom prst="rect">
            <a:avLst/>
          </a:prstGeom>
          <a:noFill/>
          <a:ln/>
        </p:spPr>
        <p:txBody>
          <a:bodyPr wrap="square" lIns="25400" tIns="25400" rIns="25400" bIns="25400" rtlCol="0" anchor="t">
            <a:normAutofit/>
          </a:bodyPr>
          <a:lstStyle/>
          <a:p>
            <a:pPr algn="l" indent="0" marL="0">
              <a:lnSpc>
                <a:spcPct val="131831"/>
              </a:lnSpc>
              <a:buNone/>
            </a:pPr>
            <a:r>
              <a:rPr lang="en-US" sz="1950" dirty="0">
                <a:solidFill>
                  <a:srgbClr val="17201F"/>
                </a:solidFill>
                <a:latin typeface="Arial" pitchFamily="34" charset="0"/>
                <a:ea typeface="Arial" pitchFamily="34" charset="-122"/>
                <a:cs typeface="Arial" pitchFamily="34" charset="-120"/>
              </a:rPr>
              <a:t>Objective</a:t>
            </a:r>
            <a:endParaRPr lang="en-US" sz="1950" dirty="0"/>
          </a:p>
        </p:txBody>
      </p:sp>
      <p:sp>
        <p:nvSpPr>
          <p:cNvPr id="15" name="Text 13"/>
          <p:cNvSpPr/>
          <p:nvPr/>
        </p:nvSpPr>
        <p:spPr>
          <a:xfrm>
            <a:off x="6540500" y="2950393"/>
            <a:ext cx="5727700" cy="409612"/>
          </a:xfrm>
          <a:prstGeom prst="rect">
            <a:avLst/>
          </a:prstGeom>
          <a:noFill/>
          <a:ln/>
        </p:spPr>
        <p:txBody>
          <a:bodyPr wrap="square" lIns="25400" tIns="25400" rIns="25400" bIns="25400" rtlCol="0" anchor="t">
            <a:normAutofit/>
          </a:bodyPr>
          <a:lstStyle/>
          <a:p>
            <a:pPr algn="l" indent="0" marL="0">
              <a:lnSpc>
                <a:spcPct val="131831"/>
              </a:lnSpc>
              <a:buNone/>
            </a:pPr>
            <a:r>
              <a:rPr lang="en-US" sz="1950" dirty="0">
                <a:solidFill>
                  <a:srgbClr val="17201F"/>
                </a:solidFill>
                <a:latin typeface="Arial" pitchFamily="34" charset="0"/>
                <a:ea typeface="Arial" pitchFamily="34" charset="-122"/>
                <a:cs typeface="Arial" pitchFamily="34" charset="-120"/>
              </a:rPr>
              <a:t>Growth Plan</a:t>
            </a:r>
            <a:endParaRPr lang="en-US" sz="1950" dirty="0"/>
          </a:p>
        </p:txBody>
      </p:sp>
      <p:sp>
        <p:nvSpPr>
          <p:cNvPr id="16" name="Text 14"/>
          <p:cNvSpPr/>
          <p:nvPr/>
        </p:nvSpPr>
        <p:spPr>
          <a:xfrm>
            <a:off x="6540500" y="3512406"/>
            <a:ext cx="5727700" cy="409612"/>
          </a:xfrm>
          <a:prstGeom prst="rect">
            <a:avLst/>
          </a:prstGeom>
          <a:noFill/>
          <a:ln/>
        </p:spPr>
        <p:txBody>
          <a:bodyPr wrap="square" lIns="25400" tIns="25400" rIns="25400" bIns="25400" rtlCol="0" anchor="t">
            <a:normAutofit/>
          </a:bodyPr>
          <a:lstStyle/>
          <a:p>
            <a:pPr algn="l" indent="0" marL="0">
              <a:lnSpc>
                <a:spcPct val="131831"/>
              </a:lnSpc>
              <a:buNone/>
            </a:pPr>
            <a:r>
              <a:rPr lang="en-US" sz="1950" dirty="0">
                <a:solidFill>
                  <a:srgbClr val="17201F"/>
                </a:solidFill>
                <a:latin typeface="Arial" pitchFamily="34" charset="0"/>
                <a:ea typeface="Arial" pitchFamily="34" charset="-122"/>
                <a:cs typeface="Arial" pitchFamily="34" charset="-120"/>
              </a:rPr>
              <a:t>Offer</a:t>
            </a:r>
            <a:endParaRPr lang="en-US" sz="1950" dirty="0"/>
          </a:p>
        </p:txBody>
      </p:sp>
      <p:sp>
        <p:nvSpPr>
          <p:cNvPr id="17" name="Text 15"/>
          <p:cNvSpPr/>
          <p:nvPr/>
        </p:nvSpPr>
        <p:spPr>
          <a:xfrm>
            <a:off x="6540500" y="4074418"/>
            <a:ext cx="5727700" cy="409612"/>
          </a:xfrm>
          <a:prstGeom prst="rect">
            <a:avLst/>
          </a:prstGeom>
          <a:noFill/>
          <a:ln/>
        </p:spPr>
        <p:txBody>
          <a:bodyPr wrap="square" lIns="25400" tIns="25400" rIns="25400" bIns="25400" rtlCol="0" anchor="t">
            <a:normAutofit/>
          </a:bodyPr>
          <a:lstStyle/>
          <a:p>
            <a:pPr algn="l" indent="0" marL="0">
              <a:lnSpc>
                <a:spcPct val="131831"/>
              </a:lnSpc>
              <a:buNone/>
            </a:pPr>
            <a:r>
              <a:rPr lang="en-US" sz="1950" dirty="0">
                <a:solidFill>
                  <a:srgbClr val="17201F"/>
                </a:solidFill>
                <a:latin typeface="Arial" pitchFamily="34" charset="0"/>
                <a:ea typeface="Arial" pitchFamily="34" charset="-122"/>
                <a:cs typeface="Arial" pitchFamily="34" charset="-120"/>
              </a:rPr>
              <a:t>Claim + permission</a:t>
            </a:r>
            <a:endParaRPr lang="en-US" sz="1950" dirty="0"/>
          </a:p>
        </p:txBody>
      </p:sp>
      <p:sp>
        <p:nvSpPr>
          <p:cNvPr id="18" name="Text 16"/>
          <p:cNvSpPr/>
          <p:nvPr/>
        </p:nvSpPr>
        <p:spPr>
          <a:xfrm>
            <a:off x="6540500" y="4636430"/>
            <a:ext cx="5727700" cy="409612"/>
          </a:xfrm>
          <a:prstGeom prst="rect">
            <a:avLst/>
          </a:prstGeom>
          <a:noFill/>
          <a:ln/>
        </p:spPr>
        <p:txBody>
          <a:bodyPr wrap="square" lIns="25400" tIns="25400" rIns="25400" bIns="25400" rtlCol="0" anchor="t">
            <a:normAutofit/>
          </a:bodyPr>
          <a:lstStyle/>
          <a:p>
            <a:pPr algn="l" indent="0" marL="0">
              <a:lnSpc>
                <a:spcPct val="131831"/>
              </a:lnSpc>
              <a:buNone/>
            </a:pPr>
            <a:r>
              <a:rPr lang="en-US" sz="1950" dirty="0">
                <a:solidFill>
                  <a:srgbClr val="17201F"/>
                </a:solidFill>
                <a:latin typeface="Arial" pitchFamily="34" charset="0"/>
                <a:ea typeface="Arial" pitchFamily="34" charset="-122"/>
                <a:cs typeface="Arial" pitchFamily="34" charset="-120"/>
              </a:rPr>
              <a:t>Message</a:t>
            </a:r>
            <a:endParaRPr lang="en-US" sz="1950" dirty="0"/>
          </a:p>
        </p:txBody>
      </p:sp>
      <p:sp>
        <p:nvSpPr>
          <p:cNvPr id="19" name="Text 17"/>
          <p:cNvSpPr/>
          <p:nvPr/>
        </p:nvSpPr>
        <p:spPr>
          <a:xfrm>
            <a:off x="6540500" y="5198442"/>
            <a:ext cx="5727700" cy="409612"/>
          </a:xfrm>
          <a:prstGeom prst="rect">
            <a:avLst/>
          </a:prstGeom>
          <a:noFill/>
          <a:ln/>
        </p:spPr>
        <p:txBody>
          <a:bodyPr wrap="square" lIns="25400" tIns="25400" rIns="25400" bIns="25400" rtlCol="0" anchor="t">
            <a:normAutofit/>
          </a:bodyPr>
          <a:lstStyle/>
          <a:p>
            <a:pPr algn="l" indent="0" marL="0">
              <a:lnSpc>
                <a:spcPct val="131831"/>
              </a:lnSpc>
              <a:buNone/>
            </a:pPr>
            <a:r>
              <a:rPr lang="en-US" sz="1950" dirty="0">
                <a:solidFill>
                  <a:srgbClr val="17201F"/>
                </a:solidFill>
                <a:latin typeface="Arial" pitchFamily="34" charset="0"/>
                <a:ea typeface="Arial" pitchFamily="34" charset="-122"/>
                <a:cs typeface="Arial" pitchFamily="34" charset="-120"/>
              </a:rPr>
              <a:t>Pass</a:t>
            </a:r>
            <a:endParaRPr lang="en-US" sz="1950" dirty="0"/>
          </a:p>
        </p:txBody>
      </p:sp>
      <p:sp>
        <p:nvSpPr>
          <p:cNvPr id="20" name="Text 18"/>
          <p:cNvSpPr/>
          <p:nvPr/>
        </p:nvSpPr>
        <p:spPr>
          <a:xfrm>
            <a:off x="6540500" y="5760454"/>
            <a:ext cx="5727700" cy="409612"/>
          </a:xfrm>
          <a:prstGeom prst="rect">
            <a:avLst/>
          </a:prstGeom>
          <a:noFill/>
          <a:ln/>
        </p:spPr>
        <p:txBody>
          <a:bodyPr wrap="square" lIns="25400" tIns="25400" rIns="25400" bIns="25400" rtlCol="0" anchor="t">
            <a:normAutofit/>
          </a:bodyPr>
          <a:lstStyle/>
          <a:p>
            <a:pPr algn="l" indent="0" marL="0">
              <a:lnSpc>
                <a:spcPct val="131831"/>
              </a:lnSpc>
              <a:buNone/>
            </a:pPr>
            <a:r>
              <a:rPr lang="en-US" sz="1950" dirty="0">
                <a:solidFill>
                  <a:srgbClr val="17201F"/>
                </a:solidFill>
                <a:latin typeface="Arial" pitchFamily="34" charset="0"/>
                <a:ea typeface="Arial" pitchFamily="34" charset="-122"/>
                <a:cs typeface="Arial" pitchFamily="34" charset="-120"/>
              </a:rPr>
              <a:t>Redemption</a:t>
            </a:r>
            <a:endParaRPr lang="en-US" sz="1950" dirty="0"/>
          </a:p>
        </p:txBody>
      </p:sp>
      <p:sp>
        <p:nvSpPr>
          <p:cNvPr id="21" name="Text 19"/>
          <p:cNvSpPr/>
          <p:nvPr/>
        </p:nvSpPr>
        <p:spPr>
          <a:xfrm>
            <a:off x="6540500" y="6322466"/>
            <a:ext cx="5727700" cy="409612"/>
          </a:xfrm>
          <a:prstGeom prst="rect">
            <a:avLst/>
          </a:prstGeom>
          <a:noFill/>
          <a:ln/>
        </p:spPr>
        <p:txBody>
          <a:bodyPr wrap="square" lIns="25400" tIns="25400" rIns="25400" bIns="25400" rtlCol="0" anchor="t">
            <a:normAutofit/>
          </a:bodyPr>
          <a:lstStyle/>
          <a:p>
            <a:pPr algn="l" indent="0" marL="0">
              <a:lnSpc>
                <a:spcPct val="131831"/>
              </a:lnSpc>
              <a:buNone/>
            </a:pPr>
            <a:r>
              <a:rPr lang="en-US" sz="1950" dirty="0">
                <a:solidFill>
                  <a:srgbClr val="17201F"/>
                </a:solidFill>
                <a:latin typeface="Arial" pitchFamily="34" charset="0"/>
                <a:ea typeface="Arial" pitchFamily="34" charset="-122"/>
                <a:cs typeface="Arial" pitchFamily="34" charset="-120"/>
              </a:rPr>
              <a:t>Result</a:t>
            </a:r>
            <a:endParaRPr lang="en-US" sz="1950" dirty="0"/>
          </a:p>
        </p:txBody>
      </p:sp>
      <p:sp>
        <p:nvSpPr>
          <p:cNvPr id="22" name="Text 20"/>
          <p:cNvSpPr/>
          <p:nvPr/>
        </p:nvSpPr>
        <p:spPr>
          <a:xfrm>
            <a:off x="12318999" y="1714500"/>
            <a:ext cx="5727700"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17201F">
                    <a:alpha val="50000"/>
                  </a:srgbClr>
                </a:solidFill>
                <a:latin typeface="Courier New" pitchFamily="34" charset="0"/>
                <a:ea typeface="Courier New" pitchFamily="34" charset="-122"/>
                <a:cs typeface="Courier New" pitchFamily="34" charset="-120"/>
              </a:rPr>
              <a:t>BECOMES REAL FIRST</a:t>
            </a:r>
            <a:endParaRPr lang="en-US" sz="1650" dirty="0"/>
          </a:p>
        </p:txBody>
      </p:sp>
      <p:sp>
        <p:nvSpPr>
          <p:cNvPr id="23" name="Shape 21"/>
          <p:cNvSpPr/>
          <p:nvPr/>
        </p:nvSpPr>
        <p:spPr>
          <a:xfrm>
            <a:off x="12318999" y="2178844"/>
            <a:ext cx="5207000" cy="19038"/>
          </a:xfrm>
          <a:prstGeom prst="rect">
            <a:avLst/>
          </a:prstGeom>
          <a:solidFill>
            <a:srgbClr val="17201F">
              <a:alpha val="14000"/>
            </a:srgbClr>
          </a:solidFill>
          <a:ln/>
        </p:spPr>
      </p:sp>
      <p:sp>
        <p:nvSpPr>
          <p:cNvPr id="24" name="Text 22"/>
          <p:cNvSpPr/>
          <p:nvPr/>
        </p:nvSpPr>
        <p:spPr>
          <a:xfrm>
            <a:off x="12318999" y="2388381"/>
            <a:ext cx="5727700" cy="409612"/>
          </a:xfrm>
          <a:prstGeom prst="rect">
            <a:avLst/>
          </a:prstGeom>
          <a:noFill/>
          <a:ln/>
        </p:spPr>
        <p:txBody>
          <a:bodyPr wrap="square" lIns="25400" tIns="25400" rIns="25400" bIns="25400" rtlCol="0" anchor="t">
            <a:normAutofit/>
          </a:bodyPr>
          <a:lstStyle/>
          <a:p>
            <a:pPr algn="l" indent="0" marL="0">
              <a:lnSpc>
                <a:spcPct val="131831"/>
              </a:lnSpc>
              <a:buNone/>
            </a:pPr>
            <a:r>
              <a:rPr lang="en-US" sz="1950" dirty="0">
                <a:solidFill>
                  <a:srgbClr val="17201F"/>
                </a:solidFill>
                <a:latin typeface="Arial" pitchFamily="34" charset="0"/>
                <a:ea typeface="Arial" pitchFamily="34" charset="-122"/>
                <a:cs typeface="Arial" pitchFamily="34" charset="-120"/>
              </a:rPr>
              <a:t>1 Customer signup and consent</a:t>
            </a:r>
            <a:endParaRPr lang="en-US" sz="1950" dirty="0"/>
          </a:p>
        </p:txBody>
      </p:sp>
      <p:sp>
        <p:nvSpPr>
          <p:cNvPr id="25" name="Text 23"/>
          <p:cNvSpPr/>
          <p:nvPr/>
        </p:nvSpPr>
        <p:spPr>
          <a:xfrm>
            <a:off x="12318999" y="2950393"/>
            <a:ext cx="5727700" cy="409612"/>
          </a:xfrm>
          <a:prstGeom prst="rect">
            <a:avLst/>
          </a:prstGeom>
          <a:noFill/>
          <a:ln/>
        </p:spPr>
        <p:txBody>
          <a:bodyPr wrap="square" lIns="25400" tIns="25400" rIns="25400" bIns="25400" rtlCol="0" anchor="t">
            <a:normAutofit/>
          </a:bodyPr>
          <a:lstStyle/>
          <a:p>
            <a:pPr algn="l" indent="0" marL="0">
              <a:lnSpc>
                <a:spcPct val="131831"/>
              </a:lnSpc>
              <a:buNone/>
            </a:pPr>
            <a:r>
              <a:rPr lang="en-US" sz="1950" dirty="0">
                <a:solidFill>
                  <a:srgbClr val="17201F"/>
                </a:solidFill>
                <a:latin typeface="Arial" pitchFamily="34" charset="0"/>
                <a:ea typeface="Arial" pitchFamily="34" charset="-122"/>
                <a:cs typeface="Arial" pitchFamily="34" charset="-120"/>
              </a:rPr>
              <a:t>2 Texting</a:t>
            </a:r>
            <a:endParaRPr lang="en-US" sz="1950" dirty="0"/>
          </a:p>
        </p:txBody>
      </p:sp>
      <p:sp>
        <p:nvSpPr>
          <p:cNvPr id="26" name="Text 24"/>
          <p:cNvSpPr/>
          <p:nvPr/>
        </p:nvSpPr>
        <p:spPr>
          <a:xfrm>
            <a:off x="12318999" y="3512406"/>
            <a:ext cx="5727700" cy="409612"/>
          </a:xfrm>
          <a:prstGeom prst="rect">
            <a:avLst/>
          </a:prstGeom>
          <a:noFill/>
          <a:ln/>
        </p:spPr>
        <p:txBody>
          <a:bodyPr wrap="square" lIns="25400" tIns="25400" rIns="25400" bIns="25400" rtlCol="0" anchor="t">
            <a:normAutofit/>
          </a:bodyPr>
          <a:lstStyle/>
          <a:p>
            <a:pPr algn="l" indent="0" marL="0">
              <a:lnSpc>
                <a:spcPct val="131831"/>
              </a:lnSpc>
              <a:buNone/>
            </a:pPr>
            <a:r>
              <a:rPr lang="en-US" sz="1950" dirty="0">
                <a:solidFill>
                  <a:srgbClr val="17201F"/>
                </a:solidFill>
                <a:latin typeface="Arial" pitchFamily="34" charset="0"/>
                <a:ea typeface="Arial" pitchFamily="34" charset="-122"/>
                <a:cs typeface="Arial" pitchFamily="34" charset="-120"/>
              </a:rPr>
              <a:t>3 Redemption</a:t>
            </a:r>
            <a:endParaRPr lang="en-US" sz="1950" dirty="0"/>
          </a:p>
        </p:txBody>
      </p:sp>
      <p:sp>
        <p:nvSpPr>
          <p:cNvPr id="27" name="Text 25"/>
          <p:cNvSpPr/>
          <p:nvPr/>
        </p:nvSpPr>
        <p:spPr>
          <a:xfrm>
            <a:off x="12318999" y="4074418"/>
            <a:ext cx="5727700" cy="409612"/>
          </a:xfrm>
          <a:prstGeom prst="rect">
            <a:avLst/>
          </a:prstGeom>
          <a:noFill/>
          <a:ln/>
        </p:spPr>
        <p:txBody>
          <a:bodyPr wrap="square" lIns="25400" tIns="25400" rIns="25400" bIns="25400" rtlCol="0" anchor="t">
            <a:normAutofit/>
          </a:bodyPr>
          <a:lstStyle/>
          <a:p>
            <a:pPr algn="l" indent="0" marL="0">
              <a:lnSpc>
                <a:spcPct val="131831"/>
              </a:lnSpc>
              <a:buNone/>
            </a:pPr>
            <a:r>
              <a:rPr lang="en-US" sz="1950" dirty="0">
                <a:solidFill>
                  <a:srgbClr val="17201F"/>
                </a:solidFill>
                <a:latin typeface="Arial" pitchFamily="34" charset="0"/>
                <a:ea typeface="Arial" pitchFamily="34" charset="-122"/>
                <a:cs typeface="Arial" pitchFamily="34" charset="-120"/>
              </a:rPr>
              <a:t>4 Merchant Drops</a:t>
            </a:r>
            <a:endParaRPr lang="en-US" sz="1950" dirty="0"/>
          </a:p>
        </p:txBody>
      </p:sp>
      <p:sp>
        <p:nvSpPr>
          <p:cNvPr id="28" name="Text 26"/>
          <p:cNvSpPr/>
          <p:nvPr/>
        </p:nvSpPr>
        <p:spPr>
          <a:xfrm>
            <a:off x="12318999" y="4636430"/>
            <a:ext cx="5727700" cy="409612"/>
          </a:xfrm>
          <a:prstGeom prst="rect">
            <a:avLst/>
          </a:prstGeom>
          <a:noFill/>
          <a:ln/>
        </p:spPr>
        <p:txBody>
          <a:bodyPr wrap="square" lIns="25400" tIns="25400" rIns="25400" bIns="25400" rtlCol="0" anchor="t">
            <a:normAutofit/>
          </a:bodyPr>
          <a:lstStyle/>
          <a:p>
            <a:pPr algn="l" indent="0" marL="0">
              <a:lnSpc>
                <a:spcPct val="131831"/>
              </a:lnSpc>
              <a:buNone/>
            </a:pPr>
            <a:r>
              <a:rPr lang="en-US" sz="1950" dirty="0">
                <a:solidFill>
                  <a:srgbClr val="17201F"/>
                </a:solidFill>
                <a:latin typeface="Arial" pitchFamily="34" charset="0"/>
                <a:ea typeface="Arial" pitchFamily="34" charset="-122"/>
                <a:cs typeface="Arial" pitchFamily="34" charset="-120"/>
              </a:rPr>
              <a:t>5 Two-way inbox</a:t>
            </a:r>
            <a:endParaRPr lang="en-US" sz="1950" dirty="0"/>
          </a:p>
        </p:txBody>
      </p:sp>
      <p:sp>
        <p:nvSpPr>
          <p:cNvPr id="29" name="Text 27"/>
          <p:cNvSpPr/>
          <p:nvPr/>
        </p:nvSpPr>
        <p:spPr>
          <a:xfrm>
            <a:off x="12318999" y="5198442"/>
            <a:ext cx="5727700" cy="409612"/>
          </a:xfrm>
          <a:prstGeom prst="rect">
            <a:avLst/>
          </a:prstGeom>
          <a:noFill/>
          <a:ln/>
        </p:spPr>
        <p:txBody>
          <a:bodyPr wrap="square" lIns="25400" tIns="25400" rIns="25400" bIns="25400" rtlCol="0" anchor="t">
            <a:normAutofit/>
          </a:bodyPr>
          <a:lstStyle/>
          <a:p>
            <a:pPr algn="l" indent="0" marL="0">
              <a:lnSpc>
                <a:spcPct val="131831"/>
              </a:lnSpc>
              <a:buNone/>
            </a:pPr>
            <a:r>
              <a:rPr lang="en-US" sz="1950" dirty="0">
                <a:solidFill>
                  <a:srgbClr val="17201F"/>
                </a:solidFill>
                <a:latin typeface="Arial" pitchFamily="34" charset="0"/>
                <a:ea typeface="Arial" pitchFamily="34" charset="-122"/>
                <a:cs typeface="Arial" pitchFamily="34" charset="-120"/>
              </a:rPr>
              <a:t>6 Intelligence and planning</a:t>
            </a:r>
            <a:endParaRPr lang="en-US" sz="1950" dirty="0"/>
          </a:p>
        </p:txBody>
      </p:sp>
      <p:sp>
        <p:nvSpPr>
          <p:cNvPr id="30" name="Text 28"/>
          <p:cNvSpPr/>
          <p:nvPr/>
        </p:nvSpPr>
        <p:spPr>
          <a:xfrm>
            <a:off x="12318999" y="5760454"/>
            <a:ext cx="5727700" cy="409612"/>
          </a:xfrm>
          <a:prstGeom prst="rect">
            <a:avLst/>
          </a:prstGeom>
          <a:noFill/>
          <a:ln/>
        </p:spPr>
        <p:txBody>
          <a:bodyPr wrap="square" lIns="25400" tIns="25400" rIns="25400" bIns="25400" rtlCol="0" anchor="t">
            <a:normAutofit/>
          </a:bodyPr>
          <a:lstStyle/>
          <a:p>
            <a:pPr algn="l" indent="0" marL="0">
              <a:lnSpc>
                <a:spcPct val="131831"/>
              </a:lnSpc>
              <a:buNone/>
            </a:pPr>
            <a:r>
              <a:rPr lang="en-US" sz="1950" dirty="0">
                <a:solidFill>
                  <a:srgbClr val="17201F"/>
                </a:solidFill>
                <a:latin typeface="Arial" pitchFamily="34" charset="0"/>
                <a:ea typeface="Arial" pitchFamily="34" charset="-122"/>
                <a:cs typeface="Arial" pitchFamily="34" charset="-120"/>
              </a:rPr>
              <a:t>7 Deeper network orchestration</a:t>
            </a:r>
            <a:endParaRPr lang="en-US" sz="1950" dirty="0"/>
          </a:p>
        </p:txBody>
      </p:sp>
      <p:sp>
        <p:nvSpPr>
          <p:cNvPr id="31" name="Text 29"/>
          <p:cNvSpPr/>
          <p:nvPr/>
        </p:nvSpPr>
        <p:spPr>
          <a:xfrm>
            <a:off x="762000" y="9289293"/>
            <a:ext cx="14756972" cy="31194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17201F">
                    <a:alpha val="45000"/>
                  </a:srgbClr>
                </a:solidFill>
                <a:latin typeface="Courier New" pitchFamily="34" charset="0"/>
                <a:ea typeface="Courier New" pitchFamily="34" charset="-122"/>
                <a:cs typeface="Courier New" pitchFamily="34" charset="-120"/>
              </a:rPr>
              <a:t>ONE FIXTURE FILE (joes.ts) FEEDS FILM, SCRIPTED DEMO AND APP. ONLY THE DATA SOURCE CHANGES LATER.</a:t>
            </a:r>
            <a:endParaRPr lang="en-US" sz="16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762000" y="571500"/>
            <a:ext cx="4647003" cy="335756"/>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17201F">
                    <a:alpha val="50000"/>
                  </a:srgbClr>
                </a:solidFill>
                <a:latin typeface="Courier New" pitchFamily="34" charset="0"/>
                <a:ea typeface="Courier New" pitchFamily="34" charset="-122"/>
                <a:cs typeface="Courier New" pitchFamily="34" charset="-120"/>
              </a:rPr>
              <a:t>REMOTION BUILD · FEASIBILITY</a:t>
            </a:r>
            <a:endParaRPr lang="en-US" sz="1800" dirty="0"/>
          </a:p>
        </p:txBody>
      </p:sp>
      <p:sp>
        <p:nvSpPr>
          <p:cNvPr id="3" name="Text 1"/>
          <p:cNvSpPr/>
          <p:nvPr/>
        </p:nvSpPr>
        <p:spPr>
          <a:xfrm>
            <a:off x="16620690" y="571500"/>
            <a:ext cx="981509" cy="335756"/>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0F6F5C"/>
                </a:solidFill>
                <a:latin typeface="Courier New" pitchFamily="34" charset="0"/>
                <a:ea typeface="Courier New" pitchFamily="34" charset="-122"/>
                <a:cs typeface="Courier New" pitchFamily="34" charset="-120"/>
              </a:rPr>
              <a:t>NO RED</a:t>
            </a:r>
            <a:endParaRPr lang="en-US" sz="1800" dirty="0"/>
          </a:p>
        </p:txBody>
      </p:sp>
      <p:sp>
        <p:nvSpPr>
          <p:cNvPr id="4" name="Shape 2"/>
          <p:cNvSpPr/>
          <p:nvPr/>
        </p:nvSpPr>
        <p:spPr>
          <a:xfrm>
            <a:off x="762000" y="1181075"/>
            <a:ext cx="16764000" cy="19038"/>
          </a:xfrm>
          <a:prstGeom prst="rect">
            <a:avLst/>
          </a:prstGeom>
          <a:solidFill>
            <a:srgbClr val="17201F">
              <a:alpha val="14000"/>
            </a:srgbClr>
          </a:solidFill>
          <a:ln/>
        </p:spPr>
      </p:sp>
      <p:sp>
        <p:nvSpPr>
          <p:cNvPr id="5" name="Text 3"/>
          <p:cNvSpPr/>
          <p:nvPr/>
        </p:nvSpPr>
        <p:spPr>
          <a:xfrm>
            <a:off x="762000" y="1619250"/>
            <a:ext cx="8241030" cy="311907"/>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0F6F5C"/>
                </a:solidFill>
                <a:latin typeface="Courier New" pitchFamily="34" charset="0"/>
                <a:ea typeface="Courier New" pitchFamily="34" charset="-122"/>
                <a:cs typeface="Courier New" pitchFamily="34" charset="-120"/>
              </a:rPr>
              <a:t>GREEN · STRAIGHTFORWARD</a:t>
            </a:r>
            <a:endParaRPr lang="en-US" sz="1650" dirty="0"/>
          </a:p>
        </p:txBody>
      </p:sp>
      <p:sp>
        <p:nvSpPr>
          <p:cNvPr id="6" name="Shape 4"/>
          <p:cNvSpPr/>
          <p:nvPr/>
        </p:nvSpPr>
        <p:spPr>
          <a:xfrm>
            <a:off x="762000" y="2045457"/>
            <a:ext cx="8001000" cy="9525"/>
          </a:xfrm>
          <a:prstGeom prst="rect">
            <a:avLst/>
          </a:prstGeom>
          <a:solidFill>
            <a:srgbClr val="17201F">
              <a:alpha val="14000"/>
            </a:srgbClr>
          </a:solidFill>
          <a:ln/>
        </p:spPr>
      </p:sp>
      <p:sp>
        <p:nvSpPr>
          <p:cNvPr id="7" name="Text 5"/>
          <p:cNvSpPr/>
          <p:nvPr/>
        </p:nvSpPr>
        <p:spPr>
          <a:xfrm>
            <a:off x="762000" y="2186744"/>
            <a:ext cx="8241030" cy="358031"/>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17201F"/>
                </a:solidFill>
                <a:latin typeface="Arial" pitchFamily="34" charset="0"/>
                <a:ea typeface="Arial" pitchFamily="34" charset="-122"/>
                <a:cs typeface="Arial" pitchFamily="34" charset="-120"/>
              </a:rPr>
              <a:t>01 · 15 Typeset numeral, word-by-word sentence</a:t>
            </a:r>
            <a:endParaRPr lang="en-US" sz="1800" dirty="0"/>
          </a:p>
        </p:txBody>
      </p:sp>
      <p:sp>
        <p:nvSpPr>
          <p:cNvPr id="8" name="Shape 6"/>
          <p:cNvSpPr/>
          <p:nvPr/>
        </p:nvSpPr>
        <p:spPr>
          <a:xfrm>
            <a:off x="762000" y="2640025"/>
            <a:ext cx="8001000" cy="9525"/>
          </a:xfrm>
          <a:prstGeom prst="rect">
            <a:avLst/>
          </a:prstGeom>
          <a:solidFill>
            <a:srgbClr val="17201F">
              <a:alpha val="14000"/>
            </a:srgbClr>
          </a:solidFill>
          <a:ln/>
        </p:spPr>
      </p:sp>
      <p:sp>
        <p:nvSpPr>
          <p:cNvPr id="9" name="Text 7"/>
          <p:cNvSpPr/>
          <p:nvPr/>
        </p:nvSpPr>
        <p:spPr>
          <a:xfrm>
            <a:off x="762000" y="2781312"/>
            <a:ext cx="8241030" cy="358031"/>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17201F"/>
                </a:solidFill>
                <a:latin typeface="Arial" pitchFamily="34" charset="0"/>
                <a:ea typeface="Arial" pitchFamily="34" charset="-122"/>
                <a:cs typeface="Arial" pitchFamily="34" charset="-120"/>
              </a:rPr>
              <a:t>03 · 17 Typewriter with caret, caret → dot</a:t>
            </a:r>
            <a:endParaRPr lang="en-US" sz="1800" dirty="0"/>
          </a:p>
        </p:txBody>
      </p:sp>
      <p:sp>
        <p:nvSpPr>
          <p:cNvPr id="10" name="Shape 8"/>
          <p:cNvSpPr/>
          <p:nvPr/>
        </p:nvSpPr>
        <p:spPr>
          <a:xfrm>
            <a:off x="762000" y="3234593"/>
            <a:ext cx="8001000" cy="9525"/>
          </a:xfrm>
          <a:prstGeom prst="rect">
            <a:avLst/>
          </a:prstGeom>
          <a:solidFill>
            <a:srgbClr val="17201F">
              <a:alpha val="14000"/>
            </a:srgbClr>
          </a:solidFill>
          <a:ln/>
        </p:spPr>
      </p:sp>
      <p:sp>
        <p:nvSpPr>
          <p:cNvPr id="11" name="Text 9"/>
          <p:cNvSpPr/>
          <p:nvPr/>
        </p:nvSpPr>
        <p:spPr>
          <a:xfrm>
            <a:off x="762000" y="3375881"/>
            <a:ext cx="8241030" cy="358031"/>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17201F"/>
                </a:solidFill>
                <a:latin typeface="Arial" pitchFamily="34" charset="0"/>
                <a:ea typeface="Arial" pitchFamily="34" charset="-122"/>
                <a:cs typeface="Arial" pitchFamily="34" charset="-120"/>
              </a:rPr>
              <a:t>04 Word layout springs, week grid, ruler draw, tick drop</a:t>
            </a:r>
            <a:endParaRPr lang="en-US" sz="1800" dirty="0"/>
          </a:p>
        </p:txBody>
      </p:sp>
      <p:sp>
        <p:nvSpPr>
          <p:cNvPr id="12" name="Shape 10"/>
          <p:cNvSpPr/>
          <p:nvPr/>
        </p:nvSpPr>
        <p:spPr>
          <a:xfrm>
            <a:off x="762000" y="3829162"/>
            <a:ext cx="8001000" cy="9525"/>
          </a:xfrm>
          <a:prstGeom prst="rect">
            <a:avLst/>
          </a:prstGeom>
          <a:solidFill>
            <a:srgbClr val="17201F">
              <a:alpha val="14000"/>
            </a:srgbClr>
          </a:solidFill>
          <a:ln/>
        </p:spPr>
      </p:sp>
      <p:sp>
        <p:nvSpPr>
          <p:cNvPr id="13" name="Text 11"/>
          <p:cNvSpPr/>
          <p:nvPr/>
        </p:nvSpPr>
        <p:spPr>
          <a:xfrm>
            <a:off x="762000" y="3970449"/>
            <a:ext cx="8241030" cy="358031"/>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17201F"/>
                </a:solidFill>
                <a:latin typeface="Arial" pitchFamily="34" charset="0"/>
                <a:ea typeface="Arial" pitchFamily="34" charset="-122"/>
                <a:cs typeface="Arial" pitchFamily="34" charset="-120"/>
              </a:rPr>
              <a:t>05 · 06 Integer counters, shared-element rows into sheet</a:t>
            </a:r>
            <a:endParaRPr lang="en-US" sz="1800" dirty="0"/>
          </a:p>
        </p:txBody>
      </p:sp>
      <p:sp>
        <p:nvSpPr>
          <p:cNvPr id="14" name="Shape 12"/>
          <p:cNvSpPr/>
          <p:nvPr/>
        </p:nvSpPr>
        <p:spPr>
          <a:xfrm>
            <a:off x="762000" y="4423730"/>
            <a:ext cx="8001000" cy="9525"/>
          </a:xfrm>
          <a:prstGeom prst="rect">
            <a:avLst/>
          </a:prstGeom>
          <a:solidFill>
            <a:srgbClr val="17201F">
              <a:alpha val="14000"/>
            </a:srgbClr>
          </a:solidFill>
          <a:ln/>
        </p:spPr>
      </p:sp>
      <p:sp>
        <p:nvSpPr>
          <p:cNvPr id="15" name="Text 13"/>
          <p:cNvSpPr/>
          <p:nvPr/>
        </p:nvSpPr>
        <p:spPr>
          <a:xfrm>
            <a:off x="762000" y="4565017"/>
            <a:ext cx="8241030" cy="358031"/>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17201F"/>
                </a:solidFill>
                <a:latin typeface="Arial" pitchFamily="34" charset="0"/>
                <a:ea typeface="Arial" pitchFamily="34" charset="-122"/>
                <a:cs typeface="Arial" pitchFamily="34" charset="-120"/>
              </a:rPr>
              <a:t>07 Push, mint fill, scaleY collapse</a:t>
            </a:r>
            <a:endParaRPr lang="en-US" sz="1800" dirty="0"/>
          </a:p>
        </p:txBody>
      </p:sp>
      <p:sp>
        <p:nvSpPr>
          <p:cNvPr id="16" name="Shape 14"/>
          <p:cNvSpPr/>
          <p:nvPr/>
        </p:nvSpPr>
        <p:spPr>
          <a:xfrm>
            <a:off x="762000" y="5018298"/>
            <a:ext cx="8001000" cy="9525"/>
          </a:xfrm>
          <a:prstGeom prst="rect">
            <a:avLst/>
          </a:prstGeom>
          <a:solidFill>
            <a:srgbClr val="17201F">
              <a:alpha val="14000"/>
            </a:srgbClr>
          </a:solidFill>
          <a:ln/>
        </p:spPr>
      </p:sp>
      <p:sp>
        <p:nvSpPr>
          <p:cNvPr id="17" name="Text 15"/>
          <p:cNvSpPr/>
          <p:nvPr/>
        </p:nvSpPr>
        <p:spPr>
          <a:xfrm>
            <a:off x="762000" y="5159586"/>
            <a:ext cx="8241030" cy="358031"/>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17201F"/>
                </a:solidFill>
                <a:latin typeface="Arial" pitchFamily="34" charset="0"/>
                <a:ea typeface="Arial" pitchFamily="34" charset="-122"/>
                <a:cs typeface="Arial" pitchFamily="34" charset="-120"/>
              </a:rPr>
              <a:t>09A · 10 · 11 Bubble springs, slab interpolation, thread</a:t>
            </a:r>
            <a:endParaRPr lang="en-US" sz="1800" dirty="0"/>
          </a:p>
        </p:txBody>
      </p:sp>
      <p:sp>
        <p:nvSpPr>
          <p:cNvPr id="18" name="Shape 16"/>
          <p:cNvSpPr/>
          <p:nvPr/>
        </p:nvSpPr>
        <p:spPr>
          <a:xfrm>
            <a:off x="762000" y="5612867"/>
            <a:ext cx="8001000" cy="9525"/>
          </a:xfrm>
          <a:prstGeom prst="rect">
            <a:avLst/>
          </a:prstGeom>
          <a:solidFill>
            <a:srgbClr val="17201F">
              <a:alpha val="14000"/>
            </a:srgbClr>
          </a:solidFill>
          <a:ln/>
        </p:spPr>
      </p:sp>
      <p:sp>
        <p:nvSpPr>
          <p:cNvPr id="19" name="Text 17"/>
          <p:cNvSpPr/>
          <p:nvPr/>
        </p:nvSpPr>
        <p:spPr>
          <a:xfrm>
            <a:off x="762000" y="5754154"/>
            <a:ext cx="8241030" cy="358031"/>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17201F"/>
                </a:solidFill>
                <a:latin typeface="Arial" pitchFamily="34" charset="0"/>
                <a:ea typeface="Arial" pitchFamily="34" charset="-122"/>
                <a:cs typeface="Arial" pitchFamily="34" charset="-120"/>
              </a:rPr>
              <a:t>13 Clip-path sweep, elevation fade</a:t>
            </a:r>
            <a:endParaRPr lang="en-US" sz="1800" dirty="0"/>
          </a:p>
        </p:txBody>
      </p:sp>
      <p:sp>
        <p:nvSpPr>
          <p:cNvPr id="20" name="Shape 18"/>
          <p:cNvSpPr/>
          <p:nvPr/>
        </p:nvSpPr>
        <p:spPr>
          <a:xfrm>
            <a:off x="762000" y="6802003"/>
            <a:ext cx="8001000" cy="9525"/>
          </a:xfrm>
          <a:prstGeom prst="rect">
            <a:avLst/>
          </a:prstGeom>
          <a:solidFill>
            <a:srgbClr val="17201F">
              <a:alpha val="14000"/>
            </a:srgbClr>
          </a:solidFill>
          <a:ln/>
        </p:spPr>
      </p:sp>
      <p:sp>
        <p:nvSpPr>
          <p:cNvPr id="21" name="Shape 19"/>
          <p:cNvSpPr/>
          <p:nvPr/>
        </p:nvSpPr>
        <p:spPr>
          <a:xfrm>
            <a:off x="762000" y="6207435"/>
            <a:ext cx="8001000" cy="9525"/>
          </a:xfrm>
          <a:prstGeom prst="rect">
            <a:avLst/>
          </a:prstGeom>
          <a:solidFill>
            <a:srgbClr val="17201F">
              <a:alpha val="14000"/>
            </a:srgbClr>
          </a:solidFill>
          <a:ln/>
        </p:spPr>
      </p:sp>
      <p:sp>
        <p:nvSpPr>
          <p:cNvPr id="22" name="Text 20"/>
          <p:cNvSpPr/>
          <p:nvPr/>
        </p:nvSpPr>
        <p:spPr>
          <a:xfrm>
            <a:off x="762000" y="6348723"/>
            <a:ext cx="8241030" cy="358031"/>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17201F"/>
                </a:solidFill>
                <a:latin typeface="Arial" pitchFamily="34" charset="0"/>
                <a:ea typeface="Arial" pitchFamily="34" charset="-122"/>
                <a:cs typeface="Arial" pitchFamily="34" charset="-120"/>
              </a:rPr>
              <a:t>16 Drum numeral on a vertical rail</a:t>
            </a:r>
            <a:endParaRPr lang="en-US" sz="1800" dirty="0"/>
          </a:p>
        </p:txBody>
      </p:sp>
      <p:sp>
        <p:nvSpPr>
          <p:cNvPr id="23" name="Text 21"/>
          <p:cNvSpPr/>
          <p:nvPr/>
        </p:nvSpPr>
        <p:spPr>
          <a:xfrm>
            <a:off x="9525000" y="1619250"/>
            <a:ext cx="8241030" cy="311907"/>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B5851F"/>
                </a:solidFill>
                <a:latin typeface="Courier New" pitchFamily="34" charset="0"/>
                <a:ea typeface="Courier New" pitchFamily="34" charset="-122"/>
                <a:cs typeface="Courier New" pitchFamily="34" charset="-120"/>
              </a:rPr>
              <a:t>YELLOW · CUSTOM, WORTH IT</a:t>
            </a:r>
            <a:endParaRPr lang="en-US" sz="1650" dirty="0"/>
          </a:p>
        </p:txBody>
      </p:sp>
      <p:sp>
        <p:nvSpPr>
          <p:cNvPr id="24" name="Shape 22"/>
          <p:cNvSpPr/>
          <p:nvPr/>
        </p:nvSpPr>
        <p:spPr>
          <a:xfrm>
            <a:off x="9525000" y="2045457"/>
            <a:ext cx="8001000" cy="9525"/>
          </a:xfrm>
          <a:prstGeom prst="rect">
            <a:avLst/>
          </a:prstGeom>
          <a:solidFill>
            <a:srgbClr val="17201F">
              <a:alpha val="14000"/>
            </a:srgbClr>
          </a:solidFill>
          <a:ln/>
        </p:spPr>
      </p:sp>
      <p:sp>
        <p:nvSpPr>
          <p:cNvPr id="25" name="Text 23"/>
          <p:cNvSpPr/>
          <p:nvPr/>
        </p:nvSpPr>
        <p:spPr>
          <a:xfrm>
            <a:off x="9525000" y="2186744"/>
            <a:ext cx="8241030" cy="678011"/>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17201F"/>
                </a:solidFill>
                <a:latin typeface="Arial" pitchFamily="34" charset="0"/>
                <a:ea typeface="Arial" pitchFamily="34" charset="-122"/>
                <a:cs typeface="Arial" pitchFamily="34" charset="-120"/>
              </a:rPr>
              <a:t>02 · 08 · 14 Block: 2.5D plane, frontages, doors, interior light, people on SVG paths, projected labels</a:t>
            </a:r>
            <a:endParaRPr lang="en-US" sz="1800" dirty="0"/>
          </a:p>
        </p:txBody>
      </p:sp>
      <p:sp>
        <p:nvSpPr>
          <p:cNvPr id="26" name="Shape 24"/>
          <p:cNvSpPr/>
          <p:nvPr/>
        </p:nvSpPr>
        <p:spPr>
          <a:xfrm>
            <a:off x="9525000" y="2960005"/>
            <a:ext cx="8001000" cy="9525"/>
          </a:xfrm>
          <a:prstGeom prst="rect">
            <a:avLst/>
          </a:prstGeom>
          <a:solidFill>
            <a:srgbClr val="17201F">
              <a:alpha val="14000"/>
            </a:srgbClr>
          </a:solidFill>
          <a:ln/>
        </p:spPr>
      </p:sp>
      <p:sp>
        <p:nvSpPr>
          <p:cNvPr id="27" name="Text 25"/>
          <p:cNvSpPr/>
          <p:nvPr/>
        </p:nvSpPr>
        <p:spPr>
          <a:xfrm>
            <a:off x="9525000" y="3101293"/>
            <a:ext cx="8241030" cy="358031"/>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17201F"/>
                </a:solidFill>
                <a:latin typeface="Arial" pitchFamily="34" charset="0"/>
                <a:ea typeface="Arial" pitchFamily="34" charset="-122"/>
                <a:cs typeface="Arial" pitchFamily="34" charset="-120"/>
              </a:rPr>
              <a:t>06→08 Collapse to line, tilt, path travel, conditional branches</a:t>
            </a:r>
            <a:endParaRPr lang="en-US" sz="1800" dirty="0"/>
          </a:p>
        </p:txBody>
      </p:sp>
      <p:sp>
        <p:nvSpPr>
          <p:cNvPr id="28" name="Shape 26"/>
          <p:cNvSpPr/>
          <p:nvPr/>
        </p:nvSpPr>
        <p:spPr>
          <a:xfrm>
            <a:off x="9525000" y="3554574"/>
            <a:ext cx="8001000" cy="9525"/>
          </a:xfrm>
          <a:prstGeom prst="rect">
            <a:avLst/>
          </a:prstGeom>
          <a:solidFill>
            <a:srgbClr val="17201F">
              <a:alpha val="14000"/>
            </a:srgbClr>
          </a:solidFill>
          <a:ln/>
        </p:spPr>
      </p:sp>
      <p:sp>
        <p:nvSpPr>
          <p:cNvPr id="29" name="Text 27"/>
          <p:cNvSpPr/>
          <p:nvPr/>
        </p:nvSpPr>
        <p:spPr>
          <a:xfrm>
            <a:off x="9525000" y="3695861"/>
            <a:ext cx="8241030" cy="358031"/>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17201F"/>
                </a:solidFill>
                <a:latin typeface="Arial" pitchFamily="34" charset="0"/>
                <a:ea typeface="Arial" pitchFamily="34" charset="-122"/>
                <a:cs typeface="Arial" pitchFamily="34" charset="-120"/>
              </a:rPr>
              <a:t>09B Plan-to-elevation rotate; screen grows from a frontage mark; scan line</a:t>
            </a:r>
            <a:endParaRPr lang="en-US" sz="1800" dirty="0"/>
          </a:p>
        </p:txBody>
      </p:sp>
      <p:sp>
        <p:nvSpPr>
          <p:cNvPr id="30" name="Shape 28"/>
          <p:cNvSpPr/>
          <p:nvPr/>
        </p:nvSpPr>
        <p:spPr>
          <a:xfrm>
            <a:off x="9525000" y="4149142"/>
            <a:ext cx="8001000" cy="9525"/>
          </a:xfrm>
          <a:prstGeom prst="rect">
            <a:avLst/>
          </a:prstGeom>
          <a:solidFill>
            <a:srgbClr val="17201F">
              <a:alpha val="14000"/>
            </a:srgbClr>
          </a:solidFill>
          <a:ln/>
        </p:spPr>
      </p:sp>
      <p:sp>
        <p:nvSpPr>
          <p:cNvPr id="31" name="Text 29"/>
          <p:cNvSpPr/>
          <p:nvPr/>
        </p:nvSpPr>
        <p:spPr>
          <a:xfrm>
            <a:off x="9525000" y="4290430"/>
            <a:ext cx="8241030" cy="678011"/>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17201F"/>
                </a:solidFill>
                <a:latin typeface="Arial" pitchFamily="34" charset="0"/>
                <a:ea typeface="Arial" pitchFamily="34" charset="-122"/>
                <a:cs typeface="Arial" pitchFamily="34" charset="-120"/>
              </a:rPr>
              <a:t>12 Provenance: receded sheet in perspective, row lift, glyph re-set into the answer</a:t>
            </a:r>
            <a:endParaRPr lang="en-US" sz="1800" dirty="0"/>
          </a:p>
        </p:txBody>
      </p:sp>
      <p:sp>
        <p:nvSpPr>
          <p:cNvPr id="32" name="Shape 30"/>
          <p:cNvSpPr/>
          <p:nvPr/>
        </p:nvSpPr>
        <p:spPr>
          <a:xfrm>
            <a:off x="9525000" y="5658259"/>
            <a:ext cx="8001000" cy="9525"/>
          </a:xfrm>
          <a:prstGeom prst="rect">
            <a:avLst/>
          </a:prstGeom>
          <a:solidFill>
            <a:srgbClr val="17201F">
              <a:alpha val="14000"/>
            </a:srgbClr>
          </a:solidFill>
          <a:ln/>
        </p:spPr>
      </p:sp>
      <p:sp>
        <p:nvSpPr>
          <p:cNvPr id="33" name="Shape 31"/>
          <p:cNvSpPr/>
          <p:nvPr/>
        </p:nvSpPr>
        <p:spPr>
          <a:xfrm>
            <a:off x="9525000" y="5063691"/>
            <a:ext cx="8001000" cy="9525"/>
          </a:xfrm>
          <a:prstGeom prst="rect">
            <a:avLst/>
          </a:prstGeom>
          <a:solidFill>
            <a:srgbClr val="17201F">
              <a:alpha val="14000"/>
            </a:srgbClr>
          </a:solidFill>
          <a:ln/>
        </p:spPr>
      </p:sp>
      <p:sp>
        <p:nvSpPr>
          <p:cNvPr id="34" name="Text 32"/>
          <p:cNvSpPr/>
          <p:nvPr/>
        </p:nvSpPr>
        <p:spPr>
          <a:xfrm>
            <a:off x="9525000" y="5204978"/>
            <a:ext cx="8241030" cy="358031"/>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17201F"/>
                </a:solidFill>
                <a:latin typeface="Arial" pitchFamily="34" charset="0"/>
                <a:ea typeface="Arial" pitchFamily="34" charset="-122"/>
                <a:cs typeface="Arial" pitchFamily="34" charset="-120"/>
              </a:rPr>
              <a:t>13→14 Point drop through the door, pull-back, stepping count</a:t>
            </a:r>
            <a:endParaRPr lang="en-US" sz="1800" dirty="0"/>
          </a:p>
        </p:txBody>
      </p:sp>
      <p:sp>
        <p:nvSpPr>
          <p:cNvPr id="35" name="Text 33"/>
          <p:cNvSpPr/>
          <p:nvPr/>
        </p:nvSpPr>
        <p:spPr>
          <a:xfrm>
            <a:off x="9525000" y="5990047"/>
            <a:ext cx="8241030" cy="2438115"/>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17201F">
                    <a:alpha val="70000"/>
                  </a:srgbClr>
                </a:solidFill>
                <a:latin typeface="Arial" pitchFamily="34" charset="0"/>
                <a:ea typeface="Arial" pitchFamily="34" charset="-122"/>
                <a:cs typeface="Arial" pitchFamily="34" charset="-120"/>
              </a:rPr>
              <a:t>Two custom systems carry every YELLOW. The Block is one component with five prop states (opening, dusk, street-level café, street-level Joe's, morning return): a transformed div plane, lots as outlines with frontage edges, people as points driven by interpolate along path lengths, labels projected via a lookup table. Provenance is the plan sheet reused as a shared component, drawn in CSS perspective. Blur is CSS filter; camera is a transform on the plane's parent.</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762000" y="571500"/>
            <a:ext cx="7800348" cy="335756"/>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17201F">
                    <a:alpha val="50000"/>
                  </a:srgbClr>
                </a:solidFill>
                <a:latin typeface="Courier New" pitchFamily="34" charset="0"/>
                <a:ea typeface="Courier New" pitchFamily="34" charset="-122"/>
                <a:cs typeface="Courier New" pitchFamily="34" charset="-120"/>
              </a:rPr>
              <a:t>FINAL LINE · 20 CANDIDATES · TOP 5 · ONE CHOSEN</a:t>
            </a:r>
            <a:endParaRPr lang="en-US" sz="1800" dirty="0"/>
          </a:p>
        </p:txBody>
      </p:sp>
      <p:sp>
        <p:nvSpPr>
          <p:cNvPr id="3" name="Shape 1"/>
          <p:cNvSpPr/>
          <p:nvPr/>
        </p:nvSpPr>
        <p:spPr>
          <a:xfrm>
            <a:off x="762000" y="1181075"/>
            <a:ext cx="16764000" cy="19038"/>
          </a:xfrm>
          <a:prstGeom prst="rect">
            <a:avLst/>
          </a:prstGeom>
          <a:solidFill>
            <a:srgbClr val="17201F">
              <a:alpha val="14000"/>
            </a:srgbClr>
          </a:solidFill>
          <a:ln/>
        </p:spPr>
      </p:sp>
      <p:sp>
        <p:nvSpPr>
          <p:cNvPr id="4" name="Text 2"/>
          <p:cNvSpPr/>
          <p:nvPr/>
        </p:nvSpPr>
        <p:spPr>
          <a:xfrm>
            <a:off x="762000" y="1714500"/>
            <a:ext cx="5238750" cy="346670"/>
          </a:xfrm>
          <a:prstGeom prst="rect">
            <a:avLst/>
          </a:prstGeom>
          <a:noFill/>
          <a:ln/>
        </p:spPr>
        <p:txBody>
          <a:bodyPr wrap="square" lIns="25400" tIns="25400" rIns="25400" bIns="25400" rtlCol="0" anchor="t">
            <a:normAutofit/>
          </a:bodyPr>
          <a:lstStyle/>
          <a:p>
            <a:pPr algn="l" indent="0" marL="0">
              <a:lnSpc>
                <a:spcPct val="117818"/>
              </a:lnSpc>
              <a:buNone/>
            </a:pPr>
            <a:r>
              <a:rPr lang="en-US" sz="1800" dirty="0">
                <a:solidFill>
                  <a:srgbClr val="17201F">
                    <a:alpha val="70000"/>
                  </a:srgbClr>
                </a:solidFill>
                <a:latin typeface="Arial" pitchFamily="34" charset="0"/>
                <a:ea typeface="Arial" pitchFamily="34" charset="-122"/>
                <a:cs typeface="Arial" pitchFamily="34" charset="-120"/>
              </a:rPr>
              <a:t>Say what you want more of.</a:t>
            </a:r>
            <a:endParaRPr lang="en-US" sz="1800" dirty="0"/>
          </a:p>
        </p:txBody>
      </p:sp>
      <p:sp>
        <p:nvSpPr>
          <p:cNvPr id="5" name="Text 3"/>
          <p:cNvSpPr/>
          <p:nvPr/>
        </p:nvSpPr>
        <p:spPr>
          <a:xfrm>
            <a:off x="762000" y="2137358"/>
            <a:ext cx="5238750" cy="346670"/>
          </a:xfrm>
          <a:prstGeom prst="rect">
            <a:avLst/>
          </a:prstGeom>
          <a:noFill/>
          <a:ln/>
        </p:spPr>
        <p:txBody>
          <a:bodyPr wrap="square" lIns="25400" tIns="25400" rIns="25400" bIns="25400" rtlCol="0" anchor="t">
            <a:normAutofit/>
          </a:bodyPr>
          <a:lstStyle/>
          <a:p>
            <a:pPr algn="l" indent="0" marL="0">
              <a:lnSpc>
                <a:spcPct val="117818"/>
              </a:lnSpc>
              <a:buNone/>
            </a:pPr>
            <a:r>
              <a:rPr lang="en-US" sz="1800" dirty="0">
                <a:solidFill>
                  <a:srgbClr val="17201F">
                    <a:alpha val="70000"/>
                  </a:srgbClr>
                </a:solidFill>
                <a:latin typeface="Arial" pitchFamily="34" charset="0"/>
                <a:ea typeface="Arial" pitchFamily="34" charset="-122"/>
                <a:cs typeface="Arial" pitchFamily="34" charset="-120"/>
              </a:rPr>
              <a:t>Tell Uptick. Then watch the door.</a:t>
            </a:r>
            <a:endParaRPr lang="en-US" sz="1800" dirty="0"/>
          </a:p>
        </p:txBody>
      </p:sp>
      <p:sp>
        <p:nvSpPr>
          <p:cNvPr id="6" name="Text 4"/>
          <p:cNvSpPr/>
          <p:nvPr/>
        </p:nvSpPr>
        <p:spPr>
          <a:xfrm>
            <a:off x="762000" y="2560216"/>
            <a:ext cx="5238750" cy="346670"/>
          </a:xfrm>
          <a:prstGeom prst="rect">
            <a:avLst/>
          </a:prstGeom>
          <a:noFill/>
          <a:ln/>
        </p:spPr>
        <p:txBody>
          <a:bodyPr wrap="square" lIns="25400" tIns="25400" rIns="25400" bIns="25400" rtlCol="0" anchor="t">
            <a:normAutofit/>
          </a:bodyPr>
          <a:lstStyle/>
          <a:p>
            <a:pPr algn="l" indent="0" marL="0">
              <a:lnSpc>
                <a:spcPct val="117818"/>
              </a:lnSpc>
              <a:buNone/>
            </a:pPr>
            <a:r>
              <a:rPr lang="en-US" sz="1800" dirty="0">
                <a:solidFill>
                  <a:srgbClr val="17201F">
                    <a:alpha val="70000"/>
                  </a:srgbClr>
                </a:solidFill>
                <a:latin typeface="Arial" pitchFamily="34" charset="0"/>
                <a:ea typeface="Arial" pitchFamily="34" charset="-122"/>
                <a:cs typeface="Arial" pitchFamily="34" charset="-120"/>
              </a:rPr>
              <a:t>One sentence. People through the door.</a:t>
            </a:r>
            <a:endParaRPr lang="en-US" sz="1800" dirty="0"/>
          </a:p>
        </p:txBody>
      </p:sp>
      <p:sp>
        <p:nvSpPr>
          <p:cNvPr id="7" name="Text 5"/>
          <p:cNvSpPr/>
          <p:nvPr/>
        </p:nvSpPr>
        <p:spPr>
          <a:xfrm>
            <a:off x="762000" y="2983074"/>
            <a:ext cx="5238750" cy="346670"/>
          </a:xfrm>
          <a:prstGeom prst="rect">
            <a:avLst/>
          </a:prstGeom>
          <a:noFill/>
          <a:ln/>
        </p:spPr>
        <p:txBody>
          <a:bodyPr wrap="square" lIns="25400" tIns="25400" rIns="25400" bIns="25400" rtlCol="0" anchor="t">
            <a:normAutofit/>
          </a:bodyPr>
          <a:lstStyle/>
          <a:p>
            <a:pPr algn="l" indent="0" marL="0">
              <a:lnSpc>
                <a:spcPct val="117818"/>
              </a:lnSpc>
              <a:buNone/>
            </a:pPr>
            <a:r>
              <a:rPr lang="en-US" sz="1800" dirty="0">
                <a:solidFill>
                  <a:srgbClr val="17201F">
                    <a:alpha val="70000"/>
                  </a:srgbClr>
                </a:solidFill>
                <a:latin typeface="Arial" pitchFamily="34" charset="0"/>
                <a:ea typeface="Arial" pitchFamily="34" charset="-122"/>
                <a:cs typeface="Arial" pitchFamily="34" charset="-120"/>
              </a:rPr>
              <a:t>Say it once. Uptick does the rest.</a:t>
            </a:r>
            <a:endParaRPr lang="en-US" sz="1800" dirty="0"/>
          </a:p>
        </p:txBody>
      </p:sp>
      <p:sp>
        <p:nvSpPr>
          <p:cNvPr id="8" name="Text 6"/>
          <p:cNvSpPr/>
          <p:nvPr/>
        </p:nvSpPr>
        <p:spPr>
          <a:xfrm>
            <a:off x="762000" y="3405932"/>
            <a:ext cx="5238750" cy="346670"/>
          </a:xfrm>
          <a:prstGeom prst="rect">
            <a:avLst/>
          </a:prstGeom>
          <a:noFill/>
          <a:ln/>
        </p:spPr>
        <p:txBody>
          <a:bodyPr wrap="square" lIns="25400" tIns="25400" rIns="25400" bIns="25400" rtlCol="0" anchor="t">
            <a:normAutofit/>
          </a:bodyPr>
          <a:lstStyle/>
          <a:p>
            <a:pPr algn="l" indent="0" marL="0">
              <a:lnSpc>
                <a:spcPct val="117818"/>
              </a:lnSpc>
              <a:buNone/>
            </a:pPr>
            <a:r>
              <a:rPr lang="en-US" sz="1800" dirty="0">
                <a:solidFill>
                  <a:srgbClr val="17201F">
                    <a:alpha val="70000"/>
                  </a:srgbClr>
                </a:solidFill>
                <a:latin typeface="Arial" pitchFamily="34" charset="0"/>
                <a:ea typeface="Arial" pitchFamily="34" charset="-122"/>
                <a:cs typeface="Arial" pitchFamily="34" charset="-120"/>
              </a:rPr>
              <a:t>Grow the part of your business you point at.</a:t>
            </a:r>
            <a:endParaRPr lang="en-US" sz="1800" dirty="0"/>
          </a:p>
        </p:txBody>
      </p:sp>
      <p:sp>
        <p:nvSpPr>
          <p:cNvPr id="9" name="Text 7"/>
          <p:cNvSpPr/>
          <p:nvPr/>
        </p:nvSpPr>
        <p:spPr>
          <a:xfrm>
            <a:off x="762000" y="3828790"/>
            <a:ext cx="5238750" cy="346670"/>
          </a:xfrm>
          <a:prstGeom prst="rect">
            <a:avLst/>
          </a:prstGeom>
          <a:noFill/>
          <a:ln/>
        </p:spPr>
        <p:txBody>
          <a:bodyPr wrap="square" lIns="25400" tIns="25400" rIns="25400" bIns="25400" rtlCol="0" anchor="t">
            <a:normAutofit/>
          </a:bodyPr>
          <a:lstStyle/>
          <a:p>
            <a:pPr algn="l" indent="0" marL="0">
              <a:lnSpc>
                <a:spcPct val="117818"/>
              </a:lnSpc>
              <a:buNone/>
            </a:pPr>
            <a:r>
              <a:rPr lang="en-US" sz="1800" dirty="0">
                <a:solidFill>
                  <a:srgbClr val="17201F">
                    <a:alpha val="70000"/>
                  </a:srgbClr>
                </a:solidFill>
                <a:latin typeface="Arial" pitchFamily="34" charset="0"/>
                <a:ea typeface="Arial" pitchFamily="34" charset="-122"/>
                <a:cs typeface="Arial" pitchFamily="34" charset="-120"/>
              </a:rPr>
              <a:t>You say what should be busier.</a:t>
            </a:r>
            <a:endParaRPr lang="en-US" sz="1800" dirty="0"/>
          </a:p>
        </p:txBody>
      </p:sp>
      <p:sp>
        <p:nvSpPr>
          <p:cNvPr id="10" name="Text 8"/>
          <p:cNvSpPr/>
          <p:nvPr/>
        </p:nvSpPr>
        <p:spPr>
          <a:xfrm>
            <a:off x="762000" y="4251647"/>
            <a:ext cx="5238750" cy="346670"/>
          </a:xfrm>
          <a:prstGeom prst="rect">
            <a:avLst/>
          </a:prstGeom>
          <a:noFill/>
          <a:ln/>
        </p:spPr>
        <p:txBody>
          <a:bodyPr wrap="square" lIns="25400" tIns="25400" rIns="25400" bIns="25400" rtlCol="0" anchor="t">
            <a:normAutofit/>
          </a:bodyPr>
          <a:lstStyle/>
          <a:p>
            <a:pPr algn="l" indent="0" marL="0">
              <a:lnSpc>
                <a:spcPct val="117818"/>
              </a:lnSpc>
              <a:buNone/>
            </a:pPr>
            <a:r>
              <a:rPr lang="en-US" sz="1800" dirty="0">
                <a:solidFill>
                  <a:srgbClr val="17201F">
                    <a:alpha val="70000"/>
                  </a:srgbClr>
                </a:solidFill>
                <a:latin typeface="Arial" pitchFamily="34" charset="0"/>
                <a:ea typeface="Arial" pitchFamily="34" charset="-122"/>
                <a:cs typeface="Arial" pitchFamily="34" charset="-120"/>
              </a:rPr>
              <a:t>Point at the gap. Uptick fills it.</a:t>
            </a:r>
            <a:endParaRPr lang="en-US" sz="1800" dirty="0"/>
          </a:p>
        </p:txBody>
      </p:sp>
      <p:sp>
        <p:nvSpPr>
          <p:cNvPr id="11" name="Text 9"/>
          <p:cNvSpPr/>
          <p:nvPr/>
        </p:nvSpPr>
        <p:spPr>
          <a:xfrm>
            <a:off x="762000" y="4674505"/>
            <a:ext cx="5238750" cy="346670"/>
          </a:xfrm>
          <a:prstGeom prst="rect">
            <a:avLst/>
          </a:prstGeom>
          <a:noFill/>
          <a:ln/>
        </p:spPr>
        <p:txBody>
          <a:bodyPr wrap="square" lIns="25400" tIns="25400" rIns="25400" bIns="25400" rtlCol="0" anchor="t">
            <a:normAutofit/>
          </a:bodyPr>
          <a:lstStyle/>
          <a:p>
            <a:pPr algn="l" indent="0" marL="0">
              <a:lnSpc>
                <a:spcPct val="117818"/>
              </a:lnSpc>
              <a:buNone/>
            </a:pPr>
            <a:r>
              <a:rPr lang="en-US" sz="1800" dirty="0">
                <a:solidFill>
                  <a:srgbClr val="17201F">
                    <a:alpha val="70000"/>
                  </a:srgbClr>
                </a:solidFill>
                <a:latin typeface="Arial" pitchFamily="34" charset="0"/>
                <a:ea typeface="Arial" pitchFamily="34" charset="-122"/>
                <a:cs typeface="Arial" pitchFamily="34" charset="-120"/>
              </a:rPr>
              <a:t>More of the mornings you want.</a:t>
            </a:r>
            <a:endParaRPr lang="en-US" sz="1800" dirty="0"/>
          </a:p>
        </p:txBody>
      </p:sp>
      <p:sp>
        <p:nvSpPr>
          <p:cNvPr id="12" name="Text 10"/>
          <p:cNvSpPr/>
          <p:nvPr/>
        </p:nvSpPr>
        <p:spPr>
          <a:xfrm>
            <a:off x="762000" y="5097363"/>
            <a:ext cx="5238750" cy="346670"/>
          </a:xfrm>
          <a:prstGeom prst="rect">
            <a:avLst/>
          </a:prstGeom>
          <a:noFill/>
          <a:ln/>
        </p:spPr>
        <p:txBody>
          <a:bodyPr wrap="square" lIns="25400" tIns="25400" rIns="25400" bIns="25400" rtlCol="0" anchor="t">
            <a:normAutofit/>
          </a:bodyPr>
          <a:lstStyle/>
          <a:p>
            <a:pPr algn="l" indent="0" marL="0">
              <a:lnSpc>
                <a:spcPct val="117818"/>
              </a:lnSpc>
              <a:buNone/>
            </a:pPr>
            <a:r>
              <a:rPr lang="en-US" sz="1800" dirty="0">
                <a:solidFill>
                  <a:srgbClr val="17201F">
                    <a:alpha val="70000"/>
                  </a:srgbClr>
                </a:solidFill>
                <a:latin typeface="Arial" pitchFamily="34" charset="0"/>
                <a:ea typeface="Arial" pitchFamily="34" charset="-122"/>
                <a:cs typeface="Arial" pitchFamily="34" charset="-120"/>
              </a:rPr>
              <a:t>Say it like you'd say it to a friend.</a:t>
            </a:r>
            <a:endParaRPr lang="en-US" sz="1800" dirty="0"/>
          </a:p>
        </p:txBody>
      </p:sp>
      <p:sp>
        <p:nvSpPr>
          <p:cNvPr id="13" name="Text 11"/>
          <p:cNvSpPr/>
          <p:nvPr/>
        </p:nvSpPr>
        <p:spPr>
          <a:xfrm>
            <a:off x="762000" y="5520221"/>
            <a:ext cx="5238750" cy="346670"/>
          </a:xfrm>
          <a:prstGeom prst="rect">
            <a:avLst/>
          </a:prstGeom>
          <a:noFill/>
          <a:ln/>
        </p:spPr>
        <p:txBody>
          <a:bodyPr wrap="square" lIns="25400" tIns="25400" rIns="25400" bIns="25400" rtlCol="0" anchor="t">
            <a:normAutofit/>
          </a:bodyPr>
          <a:lstStyle/>
          <a:p>
            <a:pPr algn="l" indent="0" marL="0">
              <a:lnSpc>
                <a:spcPct val="117818"/>
              </a:lnSpc>
              <a:buNone/>
            </a:pPr>
            <a:r>
              <a:rPr lang="en-US" sz="1800" dirty="0">
                <a:solidFill>
                  <a:srgbClr val="17201F">
                    <a:alpha val="70000"/>
                  </a:srgbClr>
                </a:solidFill>
                <a:latin typeface="Arial" pitchFamily="34" charset="0"/>
                <a:ea typeface="Arial" pitchFamily="34" charset="-122"/>
                <a:cs typeface="Arial" pitchFamily="34" charset="-120"/>
              </a:rPr>
              <a:t>Growth you can count at the counter.</a:t>
            </a:r>
            <a:endParaRPr lang="en-US" sz="1800" dirty="0"/>
          </a:p>
        </p:txBody>
      </p:sp>
      <p:sp>
        <p:nvSpPr>
          <p:cNvPr id="14" name="Text 12"/>
          <p:cNvSpPr/>
          <p:nvPr/>
        </p:nvSpPr>
        <p:spPr>
          <a:xfrm>
            <a:off x="6096000" y="1714500"/>
            <a:ext cx="5238750" cy="346670"/>
          </a:xfrm>
          <a:prstGeom prst="rect">
            <a:avLst/>
          </a:prstGeom>
          <a:noFill/>
          <a:ln/>
        </p:spPr>
        <p:txBody>
          <a:bodyPr wrap="square" lIns="25400" tIns="25400" rIns="25400" bIns="25400" rtlCol="0" anchor="t">
            <a:normAutofit/>
          </a:bodyPr>
          <a:lstStyle/>
          <a:p>
            <a:pPr algn="l" indent="0" marL="0">
              <a:lnSpc>
                <a:spcPct val="117818"/>
              </a:lnSpc>
              <a:buNone/>
            </a:pPr>
            <a:r>
              <a:rPr lang="en-US" sz="1800" dirty="0">
                <a:solidFill>
                  <a:srgbClr val="17201F">
                    <a:alpha val="70000"/>
                  </a:srgbClr>
                </a:solidFill>
                <a:latin typeface="Arial" pitchFamily="34" charset="0"/>
                <a:ea typeface="Arial" pitchFamily="34" charset="-122"/>
                <a:cs typeface="Arial" pitchFamily="34" charset="-120"/>
              </a:rPr>
              <a:t>Name it. Approve it. Count them in.</a:t>
            </a:r>
            <a:endParaRPr lang="en-US" sz="1800" dirty="0"/>
          </a:p>
        </p:txBody>
      </p:sp>
      <p:sp>
        <p:nvSpPr>
          <p:cNvPr id="15" name="Text 13"/>
          <p:cNvSpPr/>
          <p:nvPr/>
        </p:nvSpPr>
        <p:spPr>
          <a:xfrm>
            <a:off x="6096000" y="2137358"/>
            <a:ext cx="5238750" cy="346670"/>
          </a:xfrm>
          <a:prstGeom prst="rect">
            <a:avLst/>
          </a:prstGeom>
          <a:noFill/>
          <a:ln/>
        </p:spPr>
        <p:txBody>
          <a:bodyPr wrap="square" lIns="25400" tIns="25400" rIns="25400" bIns="25400" rtlCol="0" anchor="t">
            <a:normAutofit/>
          </a:bodyPr>
          <a:lstStyle/>
          <a:p>
            <a:pPr algn="l" indent="0" marL="0">
              <a:lnSpc>
                <a:spcPct val="117818"/>
              </a:lnSpc>
              <a:buNone/>
            </a:pPr>
            <a:r>
              <a:rPr lang="en-US" sz="1800" dirty="0">
                <a:solidFill>
                  <a:srgbClr val="17201F">
                    <a:alpha val="70000"/>
                  </a:srgbClr>
                </a:solidFill>
                <a:latin typeface="Arial" pitchFamily="34" charset="0"/>
                <a:ea typeface="Arial" pitchFamily="34" charset="-122"/>
                <a:cs typeface="Arial" pitchFamily="34" charset="-120"/>
              </a:rPr>
              <a:t>Your customers, your block, one plan.</a:t>
            </a:r>
            <a:endParaRPr lang="en-US" sz="1800" dirty="0"/>
          </a:p>
        </p:txBody>
      </p:sp>
      <p:sp>
        <p:nvSpPr>
          <p:cNvPr id="16" name="Text 14"/>
          <p:cNvSpPr/>
          <p:nvPr/>
        </p:nvSpPr>
        <p:spPr>
          <a:xfrm>
            <a:off x="6096000" y="2560216"/>
            <a:ext cx="5238750" cy="346670"/>
          </a:xfrm>
          <a:prstGeom prst="rect">
            <a:avLst/>
          </a:prstGeom>
          <a:noFill/>
          <a:ln/>
        </p:spPr>
        <p:txBody>
          <a:bodyPr wrap="square" lIns="25400" tIns="25400" rIns="25400" bIns="25400" rtlCol="0" anchor="t">
            <a:normAutofit/>
          </a:bodyPr>
          <a:lstStyle/>
          <a:p>
            <a:pPr algn="l" indent="0" marL="0">
              <a:lnSpc>
                <a:spcPct val="117818"/>
              </a:lnSpc>
              <a:buNone/>
            </a:pPr>
            <a:r>
              <a:rPr lang="en-US" sz="1800" dirty="0">
                <a:solidFill>
                  <a:srgbClr val="17201F">
                    <a:alpha val="70000"/>
                  </a:srgbClr>
                </a:solidFill>
                <a:latin typeface="Arial" pitchFamily="34" charset="0"/>
                <a:ea typeface="Arial" pitchFamily="34" charset="-122"/>
                <a:cs typeface="Arial" pitchFamily="34" charset="-120"/>
              </a:rPr>
              <a:t>Tell Uptick what you'd like to see more of.</a:t>
            </a:r>
            <a:endParaRPr lang="en-US" sz="1800" dirty="0"/>
          </a:p>
        </p:txBody>
      </p:sp>
      <p:sp>
        <p:nvSpPr>
          <p:cNvPr id="17" name="Text 15"/>
          <p:cNvSpPr/>
          <p:nvPr/>
        </p:nvSpPr>
        <p:spPr>
          <a:xfrm>
            <a:off x="6096000" y="2983074"/>
            <a:ext cx="5238750" cy="346670"/>
          </a:xfrm>
          <a:prstGeom prst="rect">
            <a:avLst/>
          </a:prstGeom>
          <a:noFill/>
          <a:ln/>
        </p:spPr>
        <p:txBody>
          <a:bodyPr wrap="square" lIns="25400" tIns="25400" rIns="25400" bIns="25400" rtlCol="0" anchor="t">
            <a:normAutofit/>
          </a:bodyPr>
          <a:lstStyle/>
          <a:p>
            <a:pPr algn="l" indent="0" marL="0">
              <a:lnSpc>
                <a:spcPct val="117818"/>
              </a:lnSpc>
              <a:buNone/>
            </a:pPr>
            <a:r>
              <a:rPr lang="en-US" sz="1800" dirty="0">
                <a:solidFill>
                  <a:srgbClr val="17201F">
                    <a:alpha val="70000"/>
                  </a:srgbClr>
                </a:solidFill>
                <a:latin typeface="Arial" pitchFamily="34" charset="0"/>
                <a:ea typeface="Arial" pitchFamily="34" charset="-122"/>
                <a:cs typeface="Arial" pitchFamily="34" charset="-120"/>
              </a:rPr>
              <a:t>Local growth you can count.</a:t>
            </a:r>
            <a:endParaRPr lang="en-US" sz="1800" dirty="0"/>
          </a:p>
        </p:txBody>
      </p:sp>
      <p:sp>
        <p:nvSpPr>
          <p:cNvPr id="18" name="Text 16"/>
          <p:cNvSpPr/>
          <p:nvPr/>
        </p:nvSpPr>
        <p:spPr>
          <a:xfrm>
            <a:off x="6096000" y="3405932"/>
            <a:ext cx="5238750" cy="346670"/>
          </a:xfrm>
          <a:prstGeom prst="rect">
            <a:avLst/>
          </a:prstGeom>
          <a:noFill/>
          <a:ln/>
        </p:spPr>
        <p:txBody>
          <a:bodyPr wrap="square" lIns="25400" tIns="25400" rIns="25400" bIns="25400" rtlCol="0" anchor="t">
            <a:normAutofit/>
          </a:bodyPr>
          <a:lstStyle/>
          <a:p>
            <a:pPr algn="l" indent="0" marL="0">
              <a:lnSpc>
                <a:spcPct val="117818"/>
              </a:lnSpc>
              <a:buNone/>
            </a:pPr>
            <a:r>
              <a:rPr lang="en-US" sz="1800" dirty="0">
                <a:solidFill>
                  <a:srgbClr val="17201F">
                    <a:alpha val="70000"/>
                  </a:srgbClr>
                </a:solidFill>
                <a:latin typeface="Arial" pitchFamily="34" charset="0"/>
                <a:ea typeface="Arial" pitchFamily="34" charset="-122"/>
                <a:cs typeface="Arial" pitchFamily="34" charset="-120"/>
              </a:rPr>
              <a:t>One plan. Every way in.</a:t>
            </a:r>
            <a:endParaRPr lang="en-US" sz="1800" dirty="0"/>
          </a:p>
        </p:txBody>
      </p:sp>
      <p:sp>
        <p:nvSpPr>
          <p:cNvPr id="19" name="Text 17"/>
          <p:cNvSpPr/>
          <p:nvPr/>
        </p:nvSpPr>
        <p:spPr>
          <a:xfrm>
            <a:off x="6096000" y="3828790"/>
            <a:ext cx="5238750" cy="346670"/>
          </a:xfrm>
          <a:prstGeom prst="rect">
            <a:avLst/>
          </a:prstGeom>
          <a:noFill/>
          <a:ln/>
        </p:spPr>
        <p:txBody>
          <a:bodyPr wrap="square" lIns="25400" tIns="25400" rIns="25400" bIns="25400" rtlCol="0" anchor="t">
            <a:normAutofit/>
          </a:bodyPr>
          <a:lstStyle/>
          <a:p>
            <a:pPr algn="l" indent="0" marL="0">
              <a:lnSpc>
                <a:spcPct val="117818"/>
              </a:lnSpc>
              <a:buNone/>
            </a:pPr>
            <a:r>
              <a:rPr lang="en-US" sz="1800" dirty="0">
                <a:solidFill>
                  <a:srgbClr val="17201F">
                    <a:alpha val="70000"/>
                  </a:srgbClr>
                </a:solidFill>
                <a:latin typeface="Arial" pitchFamily="34" charset="0"/>
                <a:ea typeface="Arial" pitchFamily="34" charset="-122"/>
                <a:cs typeface="Arial" pitchFamily="34" charset="-120"/>
              </a:rPr>
              <a:t>Say the problem. Count the people.</a:t>
            </a:r>
            <a:endParaRPr lang="en-US" sz="1800" dirty="0"/>
          </a:p>
        </p:txBody>
      </p:sp>
      <p:sp>
        <p:nvSpPr>
          <p:cNvPr id="20" name="Text 18"/>
          <p:cNvSpPr/>
          <p:nvPr/>
        </p:nvSpPr>
        <p:spPr>
          <a:xfrm>
            <a:off x="6096000" y="4251647"/>
            <a:ext cx="5238750" cy="346670"/>
          </a:xfrm>
          <a:prstGeom prst="rect">
            <a:avLst/>
          </a:prstGeom>
          <a:noFill/>
          <a:ln/>
        </p:spPr>
        <p:txBody>
          <a:bodyPr wrap="square" lIns="25400" tIns="25400" rIns="25400" bIns="25400" rtlCol="0" anchor="t">
            <a:normAutofit/>
          </a:bodyPr>
          <a:lstStyle/>
          <a:p>
            <a:pPr algn="l" indent="0" marL="0">
              <a:lnSpc>
                <a:spcPct val="117818"/>
              </a:lnSpc>
              <a:buNone/>
            </a:pPr>
            <a:r>
              <a:rPr lang="en-US" sz="1800" dirty="0">
                <a:solidFill>
                  <a:srgbClr val="17201F">
                    <a:alpha val="70000"/>
                  </a:srgbClr>
                </a:solidFill>
                <a:latin typeface="Arial" pitchFamily="34" charset="0"/>
                <a:ea typeface="Arial" pitchFamily="34" charset="-122"/>
                <a:cs typeface="Arial" pitchFamily="34" charset="-120"/>
              </a:rPr>
              <a:t>Growth, in the owner's words.</a:t>
            </a:r>
            <a:endParaRPr lang="en-US" sz="1800" dirty="0"/>
          </a:p>
        </p:txBody>
      </p:sp>
      <p:sp>
        <p:nvSpPr>
          <p:cNvPr id="21" name="Text 19"/>
          <p:cNvSpPr/>
          <p:nvPr/>
        </p:nvSpPr>
        <p:spPr>
          <a:xfrm>
            <a:off x="6096000" y="4674505"/>
            <a:ext cx="5238750" cy="346670"/>
          </a:xfrm>
          <a:prstGeom prst="rect">
            <a:avLst/>
          </a:prstGeom>
          <a:noFill/>
          <a:ln/>
        </p:spPr>
        <p:txBody>
          <a:bodyPr wrap="square" lIns="25400" tIns="25400" rIns="25400" bIns="25400" rtlCol="0" anchor="t">
            <a:normAutofit/>
          </a:bodyPr>
          <a:lstStyle/>
          <a:p>
            <a:pPr algn="l" indent="0" marL="0">
              <a:lnSpc>
                <a:spcPct val="117818"/>
              </a:lnSpc>
              <a:buNone/>
            </a:pPr>
            <a:r>
              <a:rPr lang="en-US" sz="1800" dirty="0">
                <a:solidFill>
                  <a:srgbClr val="17201F">
                    <a:alpha val="70000"/>
                  </a:srgbClr>
                </a:solidFill>
                <a:latin typeface="Arial" pitchFamily="34" charset="0"/>
                <a:ea typeface="Arial" pitchFamily="34" charset="-122"/>
                <a:cs typeface="Arial" pitchFamily="34" charset="-120"/>
              </a:rPr>
              <a:t>Tell Uptick where you want to grow.</a:t>
            </a:r>
            <a:endParaRPr lang="en-US" sz="1800" dirty="0"/>
          </a:p>
        </p:txBody>
      </p:sp>
      <p:sp>
        <p:nvSpPr>
          <p:cNvPr id="22" name="Text 20"/>
          <p:cNvSpPr/>
          <p:nvPr/>
        </p:nvSpPr>
        <p:spPr>
          <a:xfrm>
            <a:off x="6096000" y="5097363"/>
            <a:ext cx="5238750" cy="346670"/>
          </a:xfrm>
          <a:prstGeom prst="rect">
            <a:avLst/>
          </a:prstGeom>
          <a:noFill/>
          <a:ln/>
        </p:spPr>
        <p:txBody>
          <a:bodyPr wrap="square" lIns="25400" tIns="25400" rIns="25400" bIns="25400" rtlCol="0" anchor="t">
            <a:normAutofit/>
          </a:bodyPr>
          <a:lstStyle/>
          <a:p>
            <a:pPr algn="l" indent="0" marL="0">
              <a:lnSpc>
                <a:spcPct val="117818"/>
              </a:lnSpc>
              <a:buNone/>
            </a:pPr>
            <a:r>
              <a:rPr lang="en-US" sz="1800" dirty="0">
                <a:solidFill>
                  <a:srgbClr val="17201F">
                    <a:alpha val="70000"/>
                  </a:srgbClr>
                </a:solidFill>
                <a:latin typeface="Arial" pitchFamily="34" charset="0"/>
                <a:ea typeface="Arial" pitchFamily="34" charset="-122"/>
                <a:cs typeface="Arial" pitchFamily="34" charset="-120"/>
              </a:rPr>
              <a:t>Growth that walks through the door.</a:t>
            </a:r>
            <a:endParaRPr lang="en-US" sz="1800" dirty="0"/>
          </a:p>
        </p:txBody>
      </p:sp>
      <p:sp>
        <p:nvSpPr>
          <p:cNvPr id="23" name="Text 21"/>
          <p:cNvSpPr/>
          <p:nvPr/>
        </p:nvSpPr>
        <p:spPr>
          <a:xfrm>
            <a:off x="6096000" y="5520221"/>
            <a:ext cx="5238750" cy="346670"/>
          </a:xfrm>
          <a:prstGeom prst="rect">
            <a:avLst/>
          </a:prstGeom>
          <a:noFill/>
          <a:ln/>
        </p:spPr>
        <p:txBody>
          <a:bodyPr wrap="square" lIns="25400" tIns="25400" rIns="25400" bIns="25400" rtlCol="0" anchor="t">
            <a:normAutofit/>
          </a:bodyPr>
          <a:lstStyle/>
          <a:p>
            <a:pPr algn="l" indent="0" marL="0">
              <a:lnSpc>
                <a:spcPct val="117818"/>
              </a:lnSpc>
              <a:buNone/>
            </a:pPr>
            <a:r>
              <a:rPr lang="en-US" sz="1800" dirty="0">
                <a:solidFill>
                  <a:srgbClr val="17201F">
                    <a:alpha val="70000"/>
                  </a:srgbClr>
                </a:solidFill>
                <a:latin typeface="Arial" pitchFamily="34" charset="0"/>
                <a:ea typeface="Arial" pitchFamily="34" charset="-122"/>
                <a:cs typeface="Arial" pitchFamily="34" charset="-120"/>
              </a:rPr>
              <a:t>What do you want to improve?</a:t>
            </a:r>
            <a:endParaRPr lang="en-US" sz="1800" dirty="0"/>
          </a:p>
        </p:txBody>
      </p:sp>
      <p:sp>
        <p:nvSpPr>
          <p:cNvPr id="24" name="Shape 22"/>
          <p:cNvSpPr/>
          <p:nvPr/>
        </p:nvSpPr>
        <p:spPr>
          <a:xfrm>
            <a:off x="11430000" y="1524000"/>
            <a:ext cx="15875" cy="6435824"/>
          </a:xfrm>
          <a:prstGeom prst="rect">
            <a:avLst/>
          </a:prstGeom>
          <a:solidFill>
            <a:srgbClr val="17201F">
              <a:alpha val="14000"/>
            </a:srgbClr>
          </a:solidFill>
          <a:ln/>
        </p:spPr>
      </p:sp>
      <p:sp>
        <p:nvSpPr>
          <p:cNvPr id="25" name="Text 23"/>
          <p:cNvSpPr/>
          <p:nvPr/>
        </p:nvSpPr>
        <p:spPr>
          <a:xfrm>
            <a:off x="11922125" y="1524000"/>
            <a:ext cx="5771991" cy="311894"/>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17201F">
                    <a:alpha val="50000"/>
                  </a:srgbClr>
                </a:solidFill>
                <a:latin typeface="Courier New" pitchFamily="34" charset="0"/>
                <a:ea typeface="Courier New" pitchFamily="34" charset="-122"/>
                <a:cs typeface="Courier New" pitchFamily="34" charset="-120"/>
              </a:rPr>
              <a:t>RANKED</a:t>
            </a:r>
            <a:endParaRPr lang="en-US" sz="1650" dirty="0"/>
          </a:p>
        </p:txBody>
      </p:sp>
      <p:sp>
        <p:nvSpPr>
          <p:cNvPr id="26" name="Shape 24"/>
          <p:cNvSpPr/>
          <p:nvPr/>
        </p:nvSpPr>
        <p:spPr>
          <a:xfrm>
            <a:off x="11922125" y="1969244"/>
            <a:ext cx="5603875" cy="9525"/>
          </a:xfrm>
          <a:prstGeom prst="rect">
            <a:avLst/>
          </a:prstGeom>
          <a:solidFill>
            <a:srgbClr val="17201F">
              <a:alpha val="14000"/>
            </a:srgbClr>
          </a:solidFill>
          <a:ln/>
        </p:spPr>
      </p:sp>
      <p:sp>
        <p:nvSpPr>
          <p:cNvPr id="27" name="Text 25"/>
          <p:cNvSpPr/>
          <p:nvPr/>
        </p:nvSpPr>
        <p:spPr>
          <a:xfrm>
            <a:off x="11922125" y="2186694"/>
            <a:ext cx="201960" cy="327658"/>
          </a:xfrm>
          <a:prstGeom prst="rect">
            <a:avLst/>
          </a:prstGeom>
          <a:noFill/>
          <a:ln/>
        </p:spPr>
        <p:txBody>
          <a:bodyPr wrap="square" lIns="25400" tIns="25400" rIns="25400" bIns="25400" rtlCol="0" anchor="t">
            <a:normAutofit/>
          </a:bodyPr>
          <a:lstStyle/>
          <a:p>
            <a:pPr algn="l" indent="0" marL="0">
              <a:buNone/>
            </a:pPr>
            <a:r>
              <a:rPr lang="en-US" sz="1650" dirty="0">
                <a:solidFill>
                  <a:srgbClr val="0F6F5C"/>
                </a:solidFill>
                <a:latin typeface="Courier New" pitchFamily="34" charset="0"/>
                <a:ea typeface="Courier New" pitchFamily="34" charset="-122"/>
                <a:cs typeface="Courier New" pitchFamily="34" charset="-120"/>
              </a:rPr>
              <a:t>1</a:t>
            </a:r>
            <a:endParaRPr lang="en-US" sz="1650" dirty="0"/>
          </a:p>
        </p:txBody>
      </p:sp>
      <p:sp>
        <p:nvSpPr>
          <p:cNvPr id="28" name="Text 26"/>
          <p:cNvSpPr/>
          <p:nvPr/>
        </p:nvSpPr>
        <p:spPr>
          <a:xfrm>
            <a:off x="12276460" y="2129544"/>
            <a:ext cx="4590659" cy="384808"/>
          </a:xfrm>
          <a:prstGeom prst="rect">
            <a:avLst/>
          </a:prstGeom>
          <a:noFill/>
          <a:ln/>
        </p:spPr>
        <p:txBody>
          <a:bodyPr wrap="square" lIns="25400" tIns="25400" rIns="25400" bIns="25400" rtlCol="0" anchor="t">
            <a:normAutofit/>
          </a:bodyPr>
          <a:lstStyle/>
          <a:p>
            <a:pPr algn="l" indent="0" marL="0">
              <a:lnSpc>
                <a:spcPct val="113455"/>
              </a:lnSpc>
              <a:buNone/>
            </a:pPr>
            <a:r>
              <a:rPr lang="en-US" sz="2100" dirty="0">
                <a:solidFill>
                  <a:srgbClr val="17201F"/>
                </a:solidFill>
                <a:latin typeface="Arial" pitchFamily="34" charset="0"/>
                <a:ea typeface="Arial" pitchFamily="34" charset="-122"/>
                <a:cs typeface="Arial" pitchFamily="34" charset="-120"/>
              </a:rPr>
              <a:t>Tell Uptick what you want more of.</a:t>
            </a:r>
            <a:endParaRPr lang="en-US" sz="2100" dirty="0"/>
          </a:p>
        </p:txBody>
      </p:sp>
      <p:sp>
        <p:nvSpPr>
          <p:cNvPr id="29" name="Shape 27"/>
          <p:cNvSpPr/>
          <p:nvPr/>
        </p:nvSpPr>
        <p:spPr>
          <a:xfrm>
            <a:off x="11922125" y="2628615"/>
            <a:ext cx="5603875" cy="9525"/>
          </a:xfrm>
          <a:prstGeom prst="rect">
            <a:avLst/>
          </a:prstGeom>
          <a:solidFill>
            <a:srgbClr val="17201F">
              <a:alpha val="14000"/>
            </a:srgbClr>
          </a:solidFill>
          <a:ln/>
        </p:spPr>
      </p:sp>
      <p:sp>
        <p:nvSpPr>
          <p:cNvPr id="30" name="Text 28"/>
          <p:cNvSpPr/>
          <p:nvPr/>
        </p:nvSpPr>
        <p:spPr>
          <a:xfrm>
            <a:off x="11922125" y="2846065"/>
            <a:ext cx="201960" cy="327658"/>
          </a:xfrm>
          <a:prstGeom prst="rect">
            <a:avLst/>
          </a:prstGeom>
          <a:noFill/>
          <a:ln/>
        </p:spPr>
        <p:txBody>
          <a:bodyPr wrap="square" lIns="25400" tIns="25400" rIns="25400" bIns="25400" rtlCol="0" anchor="t">
            <a:normAutofit/>
          </a:bodyPr>
          <a:lstStyle/>
          <a:p>
            <a:pPr algn="l" indent="0" marL="0">
              <a:buNone/>
            </a:pPr>
            <a:r>
              <a:rPr lang="en-US" sz="1650" dirty="0">
                <a:solidFill>
                  <a:srgbClr val="17201F">
                    <a:alpha val="70000"/>
                  </a:srgbClr>
                </a:solidFill>
                <a:latin typeface="Courier New" pitchFamily="34" charset="0"/>
                <a:ea typeface="Courier New" pitchFamily="34" charset="-122"/>
                <a:cs typeface="Courier New" pitchFamily="34" charset="-120"/>
              </a:rPr>
              <a:t>2</a:t>
            </a:r>
            <a:endParaRPr lang="en-US" sz="1650" dirty="0"/>
          </a:p>
        </p:txBody>
      </p:sp>
      <p:sp>
        <p:nvSpPr>
          <p:cNvPr id="31" name="Text 29"/>
          <p:cNvSpPr/>
          <p:nvPr/>
        </p:nvSpPr>
        <p:spPr>
          <a:xfrm>
            <a:off x="12276460" y="2788915"/>
            <a:ext cx="4748845" cy="384808"/>
          </a:xfrm>
          <a:prstGeom prst="rect">
            <a:avLst/>
          </a:prstGeom>
          <a:noFill/>
          <a:ln/>
        </p:spPr>
        <p:txBody>
          <a:bodyPr wrap="square" lIns="25400" tIns="25400" rIns="25400" bIns="25400" rtlCol="0" anchor="t">
            <a:normAutofit/>
          </a:bodyPr>
          <a:lstStyle/>
          <a:p>
            <a:pPr algn="l" indent="0" marL="0">
              <a:lnSpc>
                <a:spcPct val="113455"/>
              </a:lnSpc>
              <a:buNone/>
            </a:pPr>
            <a:r>
              <a:rPr lang="en-US" sz="2100" dirty="0">
                <a:solidFill>
                  <a:srgbClr val="17201F">
                    <a:alpha val="70000"/>
                  </a:srgbClr>
                </a:solidFill>
                <a:latin typeface="Arial" pitchFamily="34" charset="0"/>
                <a:ea typeface="Arial" pitchFamily="34" charset="-122"/>
                <a:cs typeface="Arial" pitchFamily="34" charset="-120"/>
              </a:rPr>
              <a:t>Tell Uptick where you want to grow.</a:t>
            </a:r>
            <a:endParaRPr lang="en-US" sz="2100" dirty="0"/>
          </a:p>
        </p:txBody>
      </p:sp>
      <p:sp>
        <p:nvSpPr>
          <p:cNvPr id="32" name="Shape 30"/>
          <p:cNvSpPr/>
          <p:nvPr/>
        </p:nvSpPr>
        <p:spPr>
          <a:xfrm>
            <a:off x="11922125" y="3287985"/>
            <a:ext cx="5603875" cy="9525"/>
          </a:xfrm>
          <a:prstGeom prst="rect">
            <a:avLst/>
          </a:prstGeom>
          <a:solidFill>
            <a:srgbClr val="17201F">
              <a:alpha val="14000"/>
            </a:srgbClr>
          </a:solidFill>
          <a:ln/>
        </p:spPr>
      </p:sp>
      <p:sp>
        <p:nvSpPr>
          <p:cNvPr id="33" name="Text 31"/>
          <p:cNvSpPr/>
          <p:nvPr/>
        </p:nvSpPr>
        <p:spPr>
          <a:xfrm>
            <a:off x="11922125" y="3505435"/>
            <a:ext cx="201960" cy="327658"/>
          </a:xfrm>
          <a:prstGeom prst="rect">
            <a:avLst/>
          </a:prstGeom>
          <a:noFill/>
          <a:ln/>
        </p:spPr>
        <p:txBody>
          <a:bodyPr wrap="square" lIns="25400" tIns="25400" rIns="25400" bIns="25400" rtlCol="0" anchor="t">
            <a:normAutofit/>
          </a:bodyPr>
          <a:lstStyle/>
          <a:p>
            <a:pPr algn="l" indent="0" marL="0">
              <a:buNone/>
            </a:pPr>
            <a:r>
              <a:rPr lang="en-US" sz="1650" dirty="0">
                <a:solidFill>
                  <a:srgbClr val="17201F">
                    <a:alpha val="70000"/>
                  </a:srgbClr>
                </a:solidFill>
                <a:latin typeface="Courier New" pitchFamily="34" charset="0"/>
                <a:ea typeface="Courier New" pitchFamily="34" charset="-122"/>
                <a:cs typeface="Courier New" pitchFamily="34" charset="-120"/>
              </a:rPr>
              <a:t>3</a:t>
            </a:r>
            <a:endParaRPr lang="en-US" sz="1650" dirty="0"/>
          </a:p>
        </p:txBody>
      </p:sp>
      <p:sp>
        <p:nvSpPr>
          <p:cNvPr id="34" name="Text 32"/>
          <p:cNvSpPr/>
          <p:nvPr/>
        </p:nvSpPr>
        <p:spPr>
          <a:xfrm>
            <a:off x="12276460" y="3448285"/>
            <a:ext cx="4807508" cy="384808"/>
          </a:xfrm>
          <a:prstGeom prst="rect">
            <a:avLst/>
          </a:prstGeom>
          <a:noFill/>
          <a:ln/>
        </p:spPr>
        <p:txBody>
          <a:bodyPr wrap="square" lIns="25400" tIns="25400" rIns="25400" bIns="25400" rtlCol="0" anchor="t">
            <a:normAutofit/>
          </a:bodyPr>
          <a:lstStyle/>
          <a:p>
            <a:pPr algn="l" indent="0" marL="0">
              <a:lnSpc>
                <a:spcPct val="113455"/>
              </a:lnSpc>
              <a:buNone/>
            </a:pPr>
            <a:r>
              <a:rPr lang="en-US" sz="2100" dirty="0">
                <a:solidFill>
                  <a:srgbClr val="17201F">
                    <a:alpha val="70000"/>
                  </a:srgbClr>
                </a:solidFill>
                <a:latin typeface="Arial" pitchFamily="34" charset="0"/>
                <a:ea typeface="Arial" pitchFamily="34" charset="-122"/>
                <a:cs typeface="Arial" pitchFamily="34" charset="-120"/>
              </a:rPr>
              <a:t>Growth that walks through the door.</a:t>
            </a:r>
            <a:endParaRPr lang="en-US" sz="2100" dirty="0"/>
          </a:p>
        </p:txBody>
      </p:sp>
      <p:sp>
        <p:nvSpPr>
          <p:cNvPr id="35" name="Shape 33"/>
          <p:cNvSpPr/>
          <p:nvPr/>
        </p:nvSpPr>
        <p:spPr>
          <a:xfrm>
            <a:off x="11922125" y="3947356"/>
            <a:ext cx="5603875" cy="9525"/>
          </a:xfrm>
          <a:prstGeom prst="rect">
            <a:avLst/>
          </a:prstGeom>
          <a:solidFill>
            <a:srgbClr val="17201F">
              <a:alpha val="14000"/>
            </a:srgbClr>
          </a:solidFill>
          <a:ln/>
        </p:spPr>
      </p:sp>
      <p:sp>
        <p:nvSpPr>
          <p:cNvPr id="36" name="Text 34"/>
          <p:cNvSpPr/>
          <p:nvPr/>
        </p:nvSpPr>
        <p:spPr>
          <a:xfrm>
            <a:off x="11922125" y="4164806"/>
            <a:ext cx="201960" cy="327658"/>
          </a:xfrm>
          <a:prstGeom prst="rect">
            <a:avLst/>
          </a:prstGeom>
          <a:noFill/>
          <a:ln/>
        </p:spPr>
        <p:txBody>
          <a:bodyPr wrap="square" lIns="25400" tIns="25400" rIns="25400" bIns="25400" rtlCol="0" anchor="t">
            <a:normAutofit/>
          </a:bodyPr>
          <a:lstStyle/>
          <a:p>
            <a:pPr algn="l" indent="0" marL="0">
              <a:buNone/>
            </a:pPr>
            <a:r>
              <a:rPr lang="en-US" sz="1650" dirty="0">
                <a:solidFill>
                  <a:srgbClr val="17201F">
                    <a:alpha val="70000"/>
                  </a:srgbClr>
                </a:solidFill>
                <a:latin typeface="Courier New" pitchFamily="34" charset="0"/>
                <a:ea typeface="Courier New" pitchFamily="34" charset="-122"/>
                <a:cs typeface="Courier New" pitchFamily="34" charset="-120"/>
              </a:rPr>
              <a:t>4</a:t>
            </a:r>
            <a:endParaRPr lang="en-US" sz="1650" dirty="0"/>
          </a:p>
        </p:txBody>
      </p:sp>
      <p:sp>
        <p:nvSpPr>
          <p:cNvPr id="37" name="Text 35"/>
          <p:cNvSpPr/>
          <p:nvPr/>
        </p:nvSpPr>
        <p:spPr>
          <a:xfrm>
            <a:off x="12276460" y="4107656"/>
            <a:ext cx="4700141" cy="384808"/>
          </a:xfrm>
          <a:prstGeom prst="rect">
            <a:avLst/>
          </a:prstGeom>
          <a:noFill/>
          <a:ln/>
        </p:spPr>
        <p:txBody>
          <a:bodyPr wrap="square" lIns="25400" tIns="25400" rIns="25400" bIns="25400" rtlCol="0" anchor="t">
            <a:normAutofit/>
          </a:bodyPr>
          <a:lstStyle/>
          <a:p>
            <a:pPr algn="l" indent="0" marL="0">
              <a:lnSpc>
                <a:spcPct val="113455"/>
              </a:lnSpc>
              <a:buNone/>
            </a:pPr>
            <a:r>
              <a:rPr lang="en-US" sz="2100" dirty="0">
                <a:solidFill>
                  <a:srgbClr val="17201F">
                    <a:alpha val="70000"/>
                  </a:srgbClr>
                </a:solidFill>
                <a:latin typeface="Arial" pitchFamily="34" charset="0"/>
                <a:ea typeface="Arial" pitchFamily="34" charset="-122"/>
                <a:cs typeface="Arial" pitchFamily="34" charset="-120"/>
              </a:rPr>
              <a:t>Say the problem. Count the people.</a:t>
            </a:r>
            <a:endParaRPr lang="en-US" sz="2100" dirty="0"/>
          </a:p>
        </p:txBody>
      </p:sp>
      <p:sp>
        <p:nvSpPr>
          <p:cNvPr id="38" name="Shape 36"/>
          <p:cNvSpPr/>
          <p:nvPr/>
        </p:nvSpPr>
        <p:spPr>
          <a:xfrm>
            <a:off x="11922125" y="5266097"/>
            <a:ext cx="5603875" cy="9525"/>
          </a:xfrm>
          <a:prstGeom prst="rect">
            <a:avLst/>
          </a:prstGeom>
          <a:solidFill>
            <a:srgbClr val="17201F">
              <a:alpha val="14000"/>
            </a:srgbClr>
          </a:solidFill>
          <a:ln/>
        </p:spPr>
      </p:sp>
      <p:sp>
        <p:nvSpPr>
          <p:cNvPr id="39" name="Shape 37"/>
          <p:cNvSpPr/>
          <p:nvPr/>
        </p:nvSpPr>
        <p:spPr>
          <a:xfrm>
            <a:off x="11922125" y="4606726"/>
            <a:ext cx="5603875" cy="9525"/>
          </a:xfrm>
          <a:prstGeom prst="rect">
            <a:avLst/>
          </a:prstGeom>
          <a:solidFill>
            <a:srgbClr val="17201F">
              <a:alpha val="14000"/>
            </a:srgbClr>
          </a:solidFill>
          <a:ln/>
        </p:spPr>
      </p:sp>
      <p:sp>
        <p:nvSpPr>
          <p:cNvPr id="40" name="Text 38"/>
          <p:cNvSpPr/>
          <p:nvPr/>
        </p:nvSpPr>
        <p:spPr>
          <a:xfrm>
            <a:off x="11922125" y="4824177"/>
            <a:ext cx="201960" cy="327658"/>
          </a:xfrm>
          <a:prstGeom prst="rect">
            <a:avLst/>
          </a:prstGeom>
          <a:noFill/>
          <a:ln/>
        </p:spPr>
        <p:txBody>
          <a:bodyPr wrap="square" lIns="25400" tIns="25400" rIns="25400" bIns="25400" rtlCol="0" anchor="t">
            <a:normAutofit/>
          </a:bodyPr>
          <a:lstStyle/>
          <a:p>
            <a:pPr algn="l" indent="0" marL="0">
              <a:buNone/>
            </a:pPr>
            <a:r>
              <a:rPr lang="en-US" sz="1650" dirty="0">
                <a:solidFill>
                  <a:srgbClr val="17201F">
                    <a:alpha val="70000"/>
                  </a:srgbClr>
                </a:solidFill>
                <a:latin typeface="Courier New" pitchFamily="34" charset="0"/>
                <a:ea typeface="Courier New" pitchFamily="34" charset="-122"/>
                <a:cs typeface="Courier New" pitchFamily="34" charset="-120"/>
              </a:rPr>
              <a:t>5</a:t>
            </a:r>
            <a:endParaRPr lang="en-US" sz="1650" dirty="0"/>
          </a:p>
        </p:txBody>
      </p:sp>
      <p:sp>
        <p:nvSpPr>
          <p:cNvPr id="41" name="Text 39"/>
          <p:cNvSpPr/>
          <p:nvPr/>
        </p:nvSpPr>
        <p:spPr>
          <a:xfrm>
            <a:off x="12276460" y="4767027"/>
            <a:ext cx="4059963" cy="384808"/>
          </a:xfrm>
          <a:prstGeom prst="rect">
            <a:avLst/>
          </a:prstGeom>
          <a:noFill/>
          <a:ln/>
        </p:spPr>
        <p:txBody>
          <a:bodyPr wrap="square" lIns="25400" tIns="25400" rIns="25400" bIns="25400" rtlCol="0" anchor="t">
            <a:normAutofit/>
          </a:bodyPr>
          <a:lstStyle/>
          <a:p>
            <a:pPr algn="l" indent="0" marL="0">
              <a:lnSpc>
                <a:spcPct val="113455"/>
              </a:lnSpc>
              <a:buNone/>
            </a:pPr>
            <a:r>
              <a:rPr lang="en-US" sz="2100" dirty="0">
                <a:solidFill>
                  <a:srgbClr val="17201F">
                    <a:alpha val="70000"/>
                  </a:srgbClr>
                </a:solidFill>
                <a:latin typeface="Arial" pitchFamily="34" charset="0"/>
                <a:ea typeface="Arial" pitchFamily="34" charset="-122"/>
                <a:cs typeface="Arial" pitchFamily="34" charset="-120"/>
              </a:rPr>
              <a:t>What do you want to improve?</a:t>
            </a:r>
            <a:endParaRPr lang="en-US" sz="2100" dirty="0"/>
          </a:p>
        </p:txBody>
      </p:sp>
      <p:sp>
        <p:nvSpPr>
          <p:cNvPr id="42" name="Text 40"/>
          <p:cNvSpPr/>
          <p:nvPr/>
        </p:nvSpPr>
        <p:spPr>
          <a:xfrm>
            <a:off x="11922125" y="5559784"/>
            <a:ext cx="5771991" cy="243814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17201F">
                    <a:alpha val="70000"/>
                  </a:srgbClr>
                </a:solidFill>
                <a:latin typeface="Arial" pitchFamily="34" charset="0"/>
                <a:ea typeface="Arial" pitchFamily="34" charset="-122"/>
                <a:cs typeface="Arial" pitchFamily="34" charset="-120"/>
              </a:rPr>
              <a:t>Chosen: 1. It is how an owner talks (more Friday mornings, more people trying the new sandwich, more booked Tuesdays). It rhymes with the prompt in scene 03, covers win-back, acquisition, events and appointments, and "more" is literally what the film showed: three became twenty-one. No AI, no jargon, no cleverness.</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762000" y="3810000"/>
            <a:ext cx="533363" cy="38075"/>
          </a:xfrm>
          <a:prstGeom prst="rect">
            <a:avLst/>
          </a:prstGeom>
          <a:solidFill>
            <a:srgbClr val="5FD6BB"/>
          </a:solidFill>
          <a:ln/>
        </p:spPr>
      </p:sp>
      <p:sp>
        <p:nvSpPr>
          <p:cNvPr id="3" name="Text 1"/>
          <p:cNvSpPr/>
          <p:nvPr/>
        </p:nvSpPr>
        <p:spPr>
          <a:xfrm>
            <a:off x="762000" y="4381438"/>
            <a:ext cx="16678275" cy="2952651"/>
          </a:xfrm>
          <a:prstGeom prst="rect">
            <a:avLst/>
          </a:prstGeom>
          <a:noFill/>
          <a:ln/>
        </p:spPr>
        <p:txBody>
          <a:bodyPr wrap="square" lIns="25400" tIns="25400" rIns="25400" bIns="25400" rtlCol="0" anchor="t">
            <a:normAutofit/>
          </a:bodyPr>
          <a:lstStyle/>
          <a:p>
            <a:pPr algn="l" indent="0" marL="0">
              <a:lnSpc>
                <a:spcPct val="88696"/>
              </a:lnSpc>
              <a:buNone/>
            </a:pPr>
            <a:r>
              <a:rPr lang="en-US" sz="11250" spc="-506" kern="0" dirty="0">
                <a:solidFill>
                  <a:srgbClr val="17201F"/>
                </a:solidFill>
                <a:latin typeface="Arial" pitchFamily="34" charset="0"/>
                <a:ea typeface="Arial" pitchFamily="34" charset="-122"/>
                <a:cs typeface="Arial" pitchFamily="34" charset="-120"/>
              </a:rPr>
              <a:t>Tell Uptick what you want more of.</a:t>
            </a:r>
            <a:endParaRPr lang="en-US" sz="11250" dirty="0"/>
          </a:p>
        </p:txBody>
      </p:sp>
      <p:sp>
        <p:nvSpPr>
          <p:cNvPr id="4" name="Text 2"/>
          <p:cNvSpPr/>
          <p:nvPr/>
        </p:nvSpPr>
        <p:spPr>
          <a:xfrm>
            <a:off x="762000" y="7829351"/>
            <a:ext cx="2715896" cy="419100"/>
          </a:xfrm>
          <a:prstGeom prst="rect">
            <a:avLst/>
          </a:prstGeom>
          <a:noFill/>
          <a:ln/>
        </p:spPr>
        <p:txBody>
          <a:bodyPr wrap="square" lIns="25400" tIns="25400" rIns="25400" bIns="25400" rtlCol="0" anchor="t">
            <a:normAutofit/>
          </a:bodyPr>
          <a:lstStyle/>
          <a:p>
            <a:pPr algn="l" indent="0" marL="0">
              <a:lnSpc>
                <a:spcPct val="87273"/>
              </a:lnSpc>
              <a:buNone/>
            </a:pPr>
            <a:r>
              <a:rPr lang="en-US" sz="3000" spc="-60" kern="0" dirty="0">
                <a:solidFill>
                  <a:srgbClr val="17201F"/>
                </a:solidFill>
                <a:latin typeface="Arial" pitchFamily="34" charset="0"/>
                <a:ea typeface="Arial" pitchFamily="34" charset="-122"/>
                <a:cs typeface="Arial" pitchFamily="34" charset="-120"/>
              </a:rPr>
              <a:t>Uptick Growth</a:t>
            </a:r>
            <a:endParaRPr lang="en-US" sz="3000" dirty="0"/>
          </a:p>
        </p:txBody>
      </p:sp>
      <p:sp>
        <p:nvSpPr>
          <p:cNvPr id="5" name="Text 3"/>
          <p:cNvSpPr/>
          <p:nvPr/>
        </p:nvSpPr>
        <p:spPr>
          <a:xfrm>
            <a:off x="3611996" y="7924601"/>
            <a:ext cx="3651231" cy="335756"/>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17201F">
                    <a:alpha val="50000"/>
                  </a:srgbClr>
                </a:solidFill>
                <a:latin typeface="Courier New" pitchFamily="34" charset="0"/>
                <a:ea typeface="Courier New" pitchFamily="34" charset="-122"/>
                <a:cs typeface="Courier New" pitchFamily="34" charset="-120"/>
              </a:rPr>
              <a:t>UPTICKLOCAL.COM/GROWTH</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2026-09-06T03:50:41Z</dcterms:created>
  <dcterms:modified xsi:type="dcterms:W3CDTF">2026-09-06T03:50:41Z</dcterms:modified>
</cp:coreProperties>
</file>